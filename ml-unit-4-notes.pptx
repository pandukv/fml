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07311" y="776731"/>
            <a:ext cx="773303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56221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50567" y="3924400"/>
            <a:ext cx="3204210" cy="1639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56221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56221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57199"/>
            <a:ext cx="9143999" cy="3428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57200" y="457199"/>
            <a:ext cx="830580" cy="830580"/>
          </a:xfrm>
          <a:custGeom>
            <a:avLst/>
            <a:gdLst/>
            <a:ahLst/>
            <a:cxnLst/>
            <a:rect l="l" t="t" r="r" b="b"/>
            <a:pathLst>
              <a:path w="830580" h="830580">
                <a:moveTo>
                  <a:pt x="830579" y="4571"/>
                </a:moveTo>
                <a:lnTo>
                  <a:pt x="830579" y="3047"/>
                </a:lnTo>
                <a:lnTo>
                  <a:pt x="827531" y="0"/>
                </a:lnTo>
                <a:lnTo>
                  <a:pt x="0" y="0"/>
                </a:lnTo>
                <a:lnTo>
                  <a:pt x="0" y="830579"/>
                </a:lnTo>
                <a:lnTo>
                  <a:pt x="3047" y="830579"/>
                </a:lnTo>
                <a:lnTo>
                  <a:pt x="3047" y="816863"/>
                </a:lnTo>
                <a:lnTo>
                  <a:pt x="4571" y="816863"/>
                </a:lnTo>
                <a:lnTo>
                  <a:pt x="4571" y="10667"/>
                </a:lnTo>
                <a:lnTo>
                  <a:pt x="10667" y="4571"/>
                </a:lnTo>
                <a:lnTo>
                  <a:pt x="10667" y="10667"/>
                </a:lnTo>
                <a:lnTo>
                  <a:pt x="816863" y="10667"/>
                </a:lnTo>
                <a:lnTo>
                  <a:pt x="816863" y="4571"/>
                </a:lnTo>
                <a:lnTo>
                  <a:pt x="822959" y="10667"/>
                </a:lnTo>
                <a:lnTo>
                  <a:pt x="822959" y="108965"/>
                </a:lnTo>
                <a:lnTo>
                  <a:pt x="826007" y="88391"/>
                </a:lnTo>
                <a:lnTo>
                  <a:pt x="829055" y="47243"/>
                </a:lnTo>
                <a:lnTo>
                  <a:pt x="830579" y="4571"/>
                </a:lnTo>
                <a:close/>
              </a:path>
              <a:path w="830580" h="830580">
                <a:moveTo>
                  <a:pt x="822959" y="108965"/>
                </a:moveTo>
                <a:lnTo>
                  <a:pt x="822959" y="10667"/>
                </a:lnTo>
                <a:lnTo>
                  <a:pt x="816863" y="10667"/>
                </a:lnTo>
                <a:lnTo>
                  <a:pt x="816863" y="45719"/>
                </a:lnTo>
                <a:lnTo>
                  <a:pt x="813815" y="86867"/>
                </a:lnTo>
                <a:lnTo>
                  <a:pt x="807719" y="128015"/>
                </a:lnTo>
                <a:lnTo>
                  <a:pt x="800099" y="167639"/>
                </a:lnTo>
                <a:lnTo>
                  <a:pt x="790955" y="207263"/>
                </a:lnTo>
                <a:lnTo>
                  <a:pt x="780287" y="246887"/>
                </a:lnTo>
                <a:lnTo>
                  <a:pt x="768095" y="283463"/>
                </a:lnTo>
                <a:lnTo>
                  <a:pt x="752855" y="321563"/>
                </a:lnTo>
                <a:lnTo>
                  <a:pt x="737615" y="356615"/>
                </a:lnTo>
                <a:lnTo>
                  <a:pt x="719327" y="391667"/>
                </a:lnTo>
                <a:lnTo>
                  <a:pt x="699515" y="426719"/>
                </a:lnTo>
                <a:lnTo>
                  <a:pt x="678179" y="458723"/>
                </a:lnTo>
                <a:lnTo>
                  <a:pt x="655319" y="490727"/>
                </a:lnTo>
                <a:lnTo>
                  <a:pt x="606551" y="551687"/>
                </a:lnTo>
                <a:lnTo>
                  <a:pt x="579119" y="579119"/>
                </a:lnTo>
                <a:lnTo>
                  <a:pt x="550163" y="606551"/>
                </a:lnTo>
                <a:lnTo>
                  <a:pt x="521207" y="632459"/>
                </a:lnTo>
                <a:lnTo>
                  <a:pt x="458723" y="678179"/>
                </a:lnTo>
                <a:lnTo>
                  <a:pt x="425195" y="699515"/>
                </a:lnTo>
                <a:lnTo>
                  <a:pt x="391667" y="719327"/>
                </a:lnTo>
                <a:lnTo>
                  <a:pt x="356615" y="737615"/>
                </a:lnTo>
                <a:lnTo>
                  <a:pt x="283463" y="768095"/>
                </a:lnTo>
                <a:lnTo>
                  <a:pt x="207263" y="792479"/>
                </a:lnTo>
                <a:lnTo>
                  <a:pt x="167639" y="801623"/>
                </a:lnTo>
                <a:lnTo>
                  <a:pt x="128015" y="807719"/>
                </a:lnTo>
                <a:lnTo>
                  <a:pt x="86867" y="813815"/>
                </a:lnTo>
                <a:lnTo>
                  <a:pt x="47243" y="816751"/>
                </a:lnTo>
                <a:lnTo>
                  <a:pt x="3047" y="816863"/>
                </a:lnTo>
                <a:lnTo>
                  <a:pt x="10667" y="824483"/>
                </a:lnTo>
                <a:lnTo>
                  <a:pt x="10667" y="830362"/>
                </a:lnTo>
                <a:lnTo>
                  <a:pt x="45719" y="829110"/>
                </a:lnTo>
                <a:lnTo>
                  <a:pt x="47243" y="829055"/>
                </a:lnTo>
                <a:lnTo>
                  <a:pt x="86867" y="826120"/>
                </a:lnTo>
                <a:lnTo>
                  <a:pt x="170687" y="813815"/>
                </a:lnTo>
                <a:lnTo>
                  <a:pt x="210311" y="804671"/>
                </a:lnTo>
                <a:lnTo>
                  <a:pt x="249935" y="792479"/>
                </a:lnTo>
                <a:lnTo>
                  <a:pt x="288035" y="780287"/>
                </a:lnTo>
                <a:lnTo>
                  <a:pt x="326135" y="765047"/>
                </a:lnTo>
                <a:lnTo>
                  <a:pt x="362711" y="748283"/>
                </a:lnTo>
                <a:lnTo>
                  <a:pt x="397763" y="729995"/>
                </a:lnTo>
                <a:lnTo>
                  <a:pt x="432815" y="710183"/>
                </a:lnTo>
                <a:lnTo>
                  <a:pt x="466343" y="688847"/>
                </a:lnTo>
                <a:lnTo>
                  <a:pt x="498347" y="665987"/>
                </a:lnTo>
                <a:lnTo>
                  <a:pt x="530351" y="641603"/>
                </a:lnTo>
                <a:lnTo>
                  <a:pt x="559307" y="615695"/>
                </a:lnTo>
                <a:lnTo>
                  <a:pt x="588263" y="588263"/>
                </a:lnTo>
                <a:lnTo>
                  <a:pt x="615695" y="559307"/>
                </a:lnTo>
                <a:lnTo>
                  <a:pt x="641603" y="528827"/>
                </a:lnTo>
                <a:lnTo>
                  <a:pt x="665987" y="498347"/>
                </a:lnTo>
                <a:lnTo>
                  <a:pt x="688847" y="466343"/>
                </a:lnTo>
                <a:lnTo>
                  <a:pt x="710183" y="432815"/>
                </a:lnTo>
                <a:lnTo>
                  <a:pt x="729995" y="397763"/>
                </a:lnTo>
                <a:lnTo>
                  <a:pt x="748283" y="362711"/>
                </a:lnTo>
                <a:lnTo>
                  <a:pt x="765047" y="326135"/>
                </a:lnTo>
                <a:lnTo>
                  <a:pt x="780287" y="288035"/>
                </a:lnTo>
                <a:lnTo>
                  <a:pt x="792479" y="249935"/>
                </a:lnTo>
                <a:lnTo>
                  <a:pt x="804671" y="210311"/>
                </a:lnTo>
                <a:lnTo>
                  <a:pt x="813815" y="170687"/>
                </a:lnTo>
                <a:lnTo>
                  <a:pt x="822959" y="108965"/>
                </a:lnTo>
                <a:close/>
              </a:path>
              <a:path w="830580" h="830580">
                <a:moveTo>
                  <a:pt x="10667" y="830362"/>
                </a:moveTo>
                <a:lnTo>
                  <a:pt x="10667" y="824483"/>
                </a:lnTo>
                <a:lnTo>
                  <a:pt x="3047" y="816863"/>
                </a:lnTo>
                <a:lnTo>
                  <a:pt x="3047" y="830579"/>
                </a:lnTo>
                <a:lnTo>
                  <a:pt x="4571" y="830579"/>
                </a:lnTo>
                <a:lnTo>
                  <a:pt x="10667" y="830362"/>
                </a:lnTo>
                <a:close/>
              </a:path>
              <a:path w="830580" h="830580">
                <a:moveTo>
                  <a:pt x="10667" y="10667"/>
                </a:moveTo>
                <a:lnTo>
                  <a:pt x="10667" y="4571"/>
                </a:lnTo>
                <a:lnTo>
                  <a:pt x="4571" y="10667"/>
                </a:lnTo>
                <a:lnTo>
                  <a:pt x="10667" y="10667"/>
                </a:lnTo>
                <a:close/>
              </a:path>
              <a:path w="830580" h="830580">
                <a:moveTo>
                  <a:pt x="10667" y="816863"/>
                </a:moveTo>
                <a:lnTo>
                  <a:pt x="10667" y="10667"/>
                </a:lnTo>
                <a:lnTo>
                  <a:pt x="4571" y="10667"/>
                </a:lnTo>
                <a:lnTo>
                  <a:pt x="4571" y="816863"/>
                </a:lnTo>
                <a:lnTo>
                  <a:pt x="10667" y="816863"/>
                </a:lnTo>
                <a:close/>
              </a:path>
              <a:path w="830580" h="830580">
                <a:moveTo>
                  <a:pt x="822959" y="10667"/>
                </a:moveTo>
                <a:lnTo>
                  <a:pt x="816863" y="4571"/>
                </a:lnTo>
                <a:lnTo>
                  <a:pt x="816863" y="10667"/>
                </a:lnTo>
                <a:lnTo>
                  <a:pt x="822959" y="10667"/>
                </a:lnTo>
                <a:close/>
              </a:path>
            </a:pathLst>
          </a:custGeom>
          <a:solidFill>
            <a:srgbClr val="D2C3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12648" y="464832"/>
            <a:ext cx="1729739" cy="1729739"/>
          </a:xfrm>
          <a:custGeom>
            <a:avLst/>
            <a:gdLst/>
            <a:ahLst/>
            <a:cxnLst/>
            <a:rect l="l" t="t" r="r" b="b"/>
            <a:pathLst>
              <a:path w="1729739" h="1729739">
                <a:moveTo>
                  <a:pt x="1729740" y="865632"/>
                </a:moveTo>
                <a:lnTo>
                  <a:pt x="1728216" y="819912"/>
                </a:lnTo>
                <a:lnTo>
                  <a:pt x="1725168" y="777240"/>
                </a:lnTo>
                <a:lnTo>
                  <a:pt x="1720596" y="733044"/>
                </a:lnTo>
                <a:lnTo>
                  <a:pt x="1712976" y="690372"/>
                </a:lnTo>
                <a:lnTo>
                  <a:pt x="1702308" y="649224"/>
                </a:lnTo>
                <a:lnTo>
                  <a:pt x="1702308" y="822960"/>
                </a:lnTo>
                <a:lnTo>
                  <a:pt x="1702308" y="908304"/>
                </a:lnTo>
                <a:lnTo>
                  <a:pt x="1693164" y="993648"/>
                </a:lnTo>
                <a:lnTo>
                  <a:pt x="1685544" y="1034796"/>
                </a:lnTo>
                <a:lnTo>
                  <a:pt x="1676400" y="1074420"/>
                </a:lnTo>
                <a:lnTo>
                  <a:pt x="1652016" y="1153668"/>
                </a:lnTo>
                <a:lnTo>
                  <a:pt x="1636776" y="1191768"/>
                </a:lnTo>
                <a:lnTo>
                  <a:pt x="1620012" y="1228344"/>
                </a:lnTo>
                <a:lnTo>
                  <a:pt x="1601724" y="1264920"/>
                </a:lnTo>
                <a:lnTo>
                  <a:pt x="1581912" y="1299972"/>
                </a:lnTo>
                <a:lnTo>
                  <a:pt x="1536192" y="1367028"/>
                </a:lnTo>
                <a:lnTo>
                  <a:pt x="1511808" y="1397508"/>
                </a:lnTo>
                <a:lnTo>
                  <a:pt x="1456944" y="1458468"/>
                </a:lnTo>
                <a:lnTo>
                  <a:pt x="1427988" y="1485900"/>
                </a:lnTo>
                <a:lnTo>
                  <a:pt x="1397508" y="1511808"/>
                </a:lnTo>
                <a:lnTo>
                  <a:pt x="1333500" y="1560576"/>
                </a:lnTo>
                <a:lnTo>
                  <a:pt x="1298448" y="1581912"/>
                </a:lnTo>
                <a:lnTo>
                  <a:pt x="1263396" y="1601724"/>
                </a:lnTo>
                <a:lnTo>
                  <a:pt x="1228344" y="1620012"/>
                </a:lnTo>
                <a:lnTo>
                  <a:pt x="1190244" y="1636776"/>
                </a:lnTo>
                <a:lnTo>
                  <a:pt x="1152144" y="1652016"/>
                </a:lnTo>
                <a:lnTo>
                  <a:pt x="1114044" y="1665732"/>
                </a:lnTo>
                <a:lnTo>
                  <a:pt x="1074420" y="1676400"/>
                </a:lnTo>
                <a:lnTo>
                  <a:pt x="1033272" y="1685544"/>
                </a:lnTo>
                <a:lnTo>
                  <a:pt x="992124" y="1693164"/>
                </a:lnTo>
                <a:lnTo>
                  <a:pt x="950976" y="1699260"/>
                </a:lnTo>
                <a:lnTo>
                  <a:pt x="909828" y="1702193"/>
                </a:lnTo>
                <a:lnTo>
                  <a:pt x="821436" y="1702308"/>
                </a:lnTo>
                <a:lnTo>
                  <a:pt x="778764" y="1697736"/>
                </a:lnTo>
                <a:lnTo>
                  <a:pt x="737616" y="1693164"/>
                </a:lnTo>
                <a:lnTo>
                  <a:pt x="696468" y="1685544"/>
                </a:lnTo>
                <a:lnTo>
                  <a:pt x="655320" y="1676400"/>
                </a:lnTo>
                <a:lnTo>
                  <a:pt x="615696" y="1665732"/>
                </a:lnTo>
                <a:lnTo>
                  <a:pt x="577596" y="1652016"/>
                </a:lnTo>
                <a:lnTo>
                  <a:pt x="539496" y="1636776"/>
                </a:lnTo>
                <a:lnTo>
                  <a:pt x="501396" y="1620012"/>
                </a:lnTo>
                <a:lnTo>
                  <a:pt x="466344" y="1601724"/>
                </a:lnTo>
                <a:lnTo>
                  <a:pt x="431292" y="1581912"/>
                </a:lnTo>
                <a:lnTo>
                  <a:pt x="396240" y="1559052"/>
                </a:lnTo>
                <a:lnTo>
                  <a:pt x="364236" y="1536192"/>
                </a:lnTo>
                <a:lnTo>
                  <a:pt x="332232" y="1511808"/>
                </a:lnTo>
                <a:lnTo>
                  <a:pt x="301752" y="1484376"/>
                </a:lnTo>
                <a:lnTo>
                  <a:pt x="272796" y="1456944"/>
                </a:lnTo>
                <a:lnTo>
                  <a:pt x="245364" y="1427988"/>
                </a:lnTo>
                <a:lnTo>
                  <a:pt x="219456" y="1397508"/>
                </a:lnTo>
                <a:lnTo>
                  <a:pt x="193548" y="1365504"/>
                </a:lnTo>
                <a:lnTo>
                  <a:pt x="170688" y="1333500"/>
                </a:lnTo>
                <a:lnTo>
                  <a:pt x="149352" y="1299972"/>
                </a:lnTo>
                <a:lnTo>
                  <a:pt x="128016" y="1264920"/>
                </a:lnTo>
                <a:lnTo>
                  <a:pt x="109728" y="1228344"/>
                </a:lnTo>
                <a:lnTo>
                  <a:pt x="92964" y="1190244"/>
                </a:lnTo>
                <a:lnTo>
                  <a:pt x="77724" y="1152144"/>
                </a:lnTo>
                <a:lnTo>
                  <a:pt x="65532" y="1114044"/>
                </a:lnTo>
                <a:lnTo>
                  <a:pt x="53340" y="1074420"/>
                </a:lnTo>
                <a:lnTo>
                  <a:pt x="44196" y="1033272"/>
                </a:lnTo>
                <a:lnTo>
                  <a:pt x="32004" y="950976"/>
                </a:lnTo>
                <a:lnTo>
                  <a:pt x="28956" y="908304"/>
                </a:lnTo>
                <a:lnTo>
                  <a:pt x="27432" y="865632"/>
                </a:lnTo>
                <a:lnTo>
                  <a:pt x="28956" y="821436"/>
                </a:lnTo>
                <a:lnTo>
                  <a:pt x="32004" y="778764"/>
                </a:lnTo>
                <a:lnTo>
                  <a:pt x="44196" y="696468"/>
                </a:lnTo>
                <a:lnTo>
                  <a:pt x="65532" y="615696"/>
                </a:lnTo>
                <a:lnTo>
                  <a:pt x="92964" y="539496"/>
                </a:lnTo>
                <a:lnTo>
                  <a:pt x="111252" y="501396"/>
                </a:lnTo>
                <a:lnTo>
                  <a:pt x="129540" y="466344"/>
                </a:lnTo>
                <a:lnTo>
                  <a:pt x="149352" y="431292"/>
                </a:lnTo>
                <a:lnTo>
                  <a:pt x="170688" y="396240"/>
                </a:lnTo>
                <a:lnTo>
                  <a:pt x="219456" y="332232"/>
                </a:lnTo>
                <a:lnTo>
                  <a:pt x="245364" y="301752"/>
                </a:lnTo>
                <a:lnTo>
                  <a:pt x="272796" y="272796"/>
                </a:lnTo>
                <a:lnTo>
                  <a:pt x="301752" y="245364"/>
                </a:lnTo>
                <a:lnTo>
                  <a:pt x="332232" y="219456"/>
                </a:lnTo>
                <a:lnTo>
                  <a:pt x="364236" y="193548"/>
                </a:lnTo>
                <a:lnTo>
                  <a:pt x="397764" y="170688"/>
                </a:lnTo>
                <a:lnTo>
                  <a:pt x="431292" y="149352"/>
                </a:lnTo>
                <a:lnTo>
                  <a:pt x="466344" y="129540"/>
                </a:lnTo>
                <a:lnTo>
                  <a:pt x="502920" y="109728"/>
                </a:lnTo>
                <a:lnTo>
                  <a:pt x="539496" y="92964"/>
                </a:lnTo>
                <a:lnTo>
                  <a:pt x="577596" y="79248"/>
                </a:lnTo>
                <a:lnTo>
                  <a:pt x="617220" y="65532"/>
                </a:lnTo>
                <a:lnTo>
                  <a:pt x="696468" y="44196"/>
                </a:lnTo>
                <a:lnTo>
                  <a:pt x="737616" y="38100"/>
                </a:lnTo>
                <a:lnTo>
                  <a:pt x="780288" y="32004"/>
                </a:lnTo>
                <a:lnTo>
                  <a:pt x="819912" y="29171"/>
                </a:lnTo>
                <a:lnTo>
                  <a:pt x="821436" y="29057"/>
                </a:lnTo>
                <a:lnTo>
                  <a:pt x="822960" y="28956"/>
                </a:lnTo>
                <a:lnTo>
                  <a:pt x="864108" y="27482"/>
                </a:lnTo>
                <a:lnTo>
                  <a:pt x="865632" y="27432"/>
                </a:lnTo>
                <a:lnTo>
                  <a:pt x="908304" y="28956"/>
                </a:lnTo>
                <a:lnTo>
                  <a:pt x="950976" y="32004"/>
                </a:lnTo>
                <a:lnTo>
                  <a:pt x="993648" y="38100"/>
                </a:lnTo>
                <a:lnTo>
                  <a:pt x="1034796" y="45720"/>
                </a:lnTo>
                <a:lnTo>
                  <a:pt x="1074420" y="54864"/>
                </a:lnTo>
                <a:lnTo>
                  <a:pt x="1114044" y="65532"/>
                </a:lnTo>
                <a:lnTo>
                  <a:pt x="1153668" y="79248"/>
                </a:lnTo>
                <a:lnTo>
                  <a:pt x="1191768" y="94488"/>
                </a:lnTo>
                <a:lnTo>
                  <a:pt x="1228344" y="111252"/>
                </a:lnTo>
                <a:lnTo>
                  <a:pt x="1264920" y="129540"/>
                </a:lnTo>
                <a:lnTo>
                  <a:pt x="1299972" y="149352"/>
                </a:lnTo>
                <a:lnTo>
                  <a:pt x="1333500" y="170688"/>
                </a:lnTo>
                <a:lnTo>
                  <a:pt x="1367028" y="195072"/>
                </a:lnTo>
                <a:lnTo>
                  <a:pt x="1397508" y="219456"/>
                </a:lnTo>
                <a:lnTo>
                  <a:pt x="1427988" y="245364"/>
                </a:lnTo>
                <a:lnTo>
                  <a:pt x="1456944" y="272796"/>
                </a:lnTo>
                <a:lnTo>
                  <a:pt x="1485900" y="303276"/>
                </a:lnTo>
                <a:lnTo>
                  <a:pt x="1511808" y="332232"/>
                </a:lnTo>
                <a:lnTo>
                  <a:pt x="1536192" y="364236"/>
                </a:lnTo>
                <a:lnTo>
                  <a:pt x="1560576" y="397764"/>
                </a:lnTo>
                <a:lnTo>
                  <a:pt x="1581912" y="431292"/>
                </a:lnTo>
                <a:lnTo>
                  <a:pt x="1601724" y="466344"/>
                </a:lnTo>
                <a:lnTo>
                  <a:pt x="1620012" y="502920"/>
                </a:lnTo>
                <a:lnTo>
                  <a:pt x="1636776" y="539496"/>
                </a:lnTo>
                <a:lnTo>
                  <a:pt x="1652016" y="577596"/>
                </a:lnTo>
                <a:lnTo>
                  <a:pt x="1665732" y="617220"/>
                </a:lnTo>
                <a:lnTo>
                  <a:pt x="1676400" y="656844"/>
                </a:lnTo>
                <a:lnTo>
                  <a:pt x="1685544" y="696468"/>
                </a:lnTo>
                <a:lnTo>
                  <a:pt x="1693164" y="737616"/>
                </a:lnTo>
                <a:lnTo>
                  <a:pt x="1702308" y="822960"/>
                </a:lnTo>
                <a:lnTo>
                  <a:pt x="1702308" y="649224"/>
                </a:lnTo>
                <a:lnTo>
                  <a:pt x="1691640" y="608076"/>
                </a:lnTo>
                <a:lnTo>
                  <a:pt x="1677924" y="566928"/>
                </a:lnTo>
                <a:lnTo>
                  <a:pt x="1662684" y="528828"/>
                </a:lnTo>
                <a:lnTo>
                  <a:pt x="1626108" y="452628"/>
                </a:lnTo>
                <a:lnTo>
                  <a:pt x="1604772" y="416052"/>
                </a:lnTo>
                <a:lnTo>
                  <a:pt x="1581912" y="381000"/>
                </a:lnTo>
                <a:lnTo>
                  <a:pt x="1557528" y="347472"/>
                </a:lnTo>
                <a:lnTo>
                  <a:pt x="1505712" y="283464"/>
                </a:lnTo>
                <a:lnTo>
                  <a:pt x="1476756" y="252984"/>
                </a:lnTo>
                <a:lnTo>
                  <a:pt x="1415796" y="198120"/>
                </a:lnTo>
                <a:lnTo>
                  <a:pt x="1382268" y="172212"/>
                </a:lnTo>
                <a:lnTo>
                  <a:pt x="1348740" y="147828"/>
                </a:lnTo>
                <a:lnTo>
                  <a:pt x="1313688" y="124968"/>
                </a:lnTo>
                <a:lnTo>
                  <a:pt x="1240536" y="85344"/>
                </a:lnTo>
                <a:lnTo>
                  <a:pt x="1200912" y="68580"/>
                </a:lnTo>
                <a:lnTo>
                  <a:pt x="1162812" y="53340"/>
                </a:lnTo>
                <a:lnTo>
                  <a:pt x="1121664" y="39624"/>
                </a:lnTo>
                <a:lnTo>
                  <a:pt x="1080516" y="27432"/>
                </a:lnTo>
                <a:lnTo>
                  <a:pt x="1039368" y="18288"/>
                </a:lnTo>
                <a:lnTo>
                  <a:pt x="996696" y="10668"/>
                </a:lnTo>
                <a:lnTo>
                  <a:pt x="954024" y="4572"/>
                </a:lnTo>
                <a:lnTo>
                  <a:pt x="909828" y="1524"/>
                </a:lnTo>
                <a:lnTo>
                  <a:pt x="865632" y="50"/>
                </a:lnTo>
                <a:lnTo>
                  <a:pt x="864108" y="0"/>
                </a:lnTo>
                <a:lnTo>
                  <a:pt x="822960" y="1409"/>
                </a:lnTo>
                <a:lnTo>
                  <a:pt x="819912" y="1524"/>
                </a:lnTo>
                <a:lnTo>
                  <a:pt x="780288" y="4254"/>
                </a:lnTo>
                <a:lnTo>
                  <a:pt x="778764" y="4356"/>
                </a:lnTo>
                <a:lnTo>
                  <a:pt x="733044" y="10668"/>
                </a:lnTo>
                <a:lnTo>
                  <a:pt x="690372" y="18288"/>
                </a:lnTo>
                <a:lnTo>
                  <a:pt x="649224" y="27432"/>
                </a:lnTo>
                <a:lnTo>
                  <a:pt x="608076" y="39624"/>
                </a:lnTo>
                <a:lnTo>
                  <a:pt x="566928" y="53340"/>
                </a:lnTo>
                <a:lnTo>
                  <a:pt x="528828" y="68580"/>
                </a:lnTo>
                <a:lnTo>
                  <a:pt x="489204" y="85344"/>
                </a:lnTo>
                <a:lnTo>
                  <a:pt x="452628" y="105156"/>
                </a:lnTo>
                <a:lnTo>
                  <a:pt x="416052" y="126492"/>
                </a:lnTo>
                <a:lnTo>
                  <a:pt x="381000" y="147828"/>
                </a:lnTo>
                <a:lnTo>
                  <a:pt x="347472" y="172212"/>
                </a:lnTo>
                <a:lnTo>
                  <a:pt x="315468" y="198120"/>
                </a:lnTo>
                <a:lnTo>
                  <a:pt x="283464" y="225552"/>
                </a:lnTo>
                <a:lnTo>
                  <a:pt x="252984" y="254508"/>
                </a:lnTo>
                <a:lnTo>
                  <a:pt x="225552" y="283464"/>
                </a:lnTo>
                <a:lnTo>
                  <a:pt x="198120" y="315468"/>
                </a:lnTo>
                <a:lnTo>
                  <a:pt x="172212" y="347472"/>
                </a:lnTo>
                <a:lnTo>
                  <a:pt x="147828" y="382524"/>
                </a:lnTo>
                <a:lnTo>
                  <a:pt x="124968" y="417576"/>
                </a:lnTo>
                <a:lnTo>
                  <a:pt x="85344" y="490728"/>
                </a:lnTo>
                <a:lnTo>
                  <a:pt x="68580" y="528828"/>
                </a:lnTo>
                <a:lnTo>
                  <a:pt x="53340" y="568452"/>
                </a:lnTo>
                <a:lnTo>
                  <a:pt x="39624" y="608076"/>
                </a:lnTo>
                <a:lnTo>
                  <a:pt x="27432" y="649224"/>
                </a:lnTo>
                <a:lnTo>
                  <a:pt x="18288" y="691896"/>
                </a:lnTo>
                <a:lnTo>
                  <a:pt x="10668" y="734568"/>
                </a:lnTo>
                <a:lnTo>
                  <a:pt x="4572" y="777240"/>
                </a:lnTo>
                <a:lnTo>
                  <a:pt x="1524" y="821436"/>
                </a:lnTo>
                <a:lnTo>
                  <a:pt x="0" y="865632"/>
                </a:lnTo>
                <a:lnTo>
                  <a:pt x="1524" y="909828"/>
                </a:lnTo>
                <a:lnTo>
                  <a:pt x="4572" y="954024"/>
                </a:lnTo>
                <a:lnTo>
                  <a:pt x="10668" y="996696"/>
                </a:lnTo>
                <a:lnTo>
                  <a:pt x="18288" y="1039368"/>
                </a:lnTo>
                <a:lnTo>
                  <a:pt x="27432" y="1082040"/>
                </a:lnTo>
                <a:lnTo>
                  <a:pt x="39624" y="1123188"/>
                </a:lnTo>
                <a:lnTo>
                  <a:pt x="53340" y="1162812"/>
                </a:lnTo>
                <a:lnTo>
                  <a:pt x="68580" y="1202436"/>
                </a:lnTo>
                <a:lnTo>
                  <a:pt x="85344" y="1240536"/>
                </a:lnTo>
                <a:lnTo>
                  <a:pt x="105156" y="1277112"/>
                </a:lnTo>
                <a:lnTo>
                  <a:pt x="126492" y="1313688"/>
                </a:lnTo>
                <a:lnTo>
                  <a:pt x="147828" y="1348740"/>
                </a:lnTo>
                <a:lnTo>
                  <a:pt x="172212" y="1382268"/>
                </a:lnTo>
                <a:lnTo>
                  <a:pt x="198120" y="1415796"/>
                </a:lnTo>
                <a:lnTo>
                  <a:pt x="225552" y="1446276"/>
                </a:lnTo>
                <a:lnTo>
                  <a:pt x="254508" y="1476756"/>
                </a:lnTo>
                <a:lnTo>
                  <a:pt x="283464" y="1505712"/>
                </a:lnTo>
                <a:lnTo>
                  <a:pt x="315468" y="1533144"/>
                </a:lnTo>
                <a:lnTo>
                  <a:pt x="347472" y="1559052"/>
                </a:lnTo>
                <a:lnTo>
                  <a:pt x="417576" y="1604772"/>
                </a:lnTo>
                <a:lnTo>
                  <a:pt x="452628" y="1626108"/>
                </a:lnTo>
                <a:lnTo>
                  <a:pt x="528828" y="1662684"/>
                </a:lnTo>
                <a:lnTo>
                  <a:pt x="568452" y="1677924"/>
                </a:lnTo>
                <a:lnTo>
                  <a:pt x="608076" y="1691640"/>
                </a:lnTo>
                <a:lnTo>
                  <a:pt x="649224" y="1702308"/>
                </a:lnTo>
                <a:lnTo>
                  <a:pt x="691896" y="1712976"/>
                </a:lnTo>
                <a:lnTo>
                  <a:pt x="734568" y="1720596"/>
                </a:lnTo>
                <a:lnTo>
                  <a:pt x="777240" y="1725168"/>
                </a:lnTo>
                <a:lnTo>
                  <a:pt x="819912" y="1728101"/>
                </a:lnTo>
                <a:lnTo>
                  <a:pt x="821436" y="1728216"/>
                </a:lnTo>
                <a:lnTo>
                  <a:pt x="864108" y="1729676"/>
                </a:lnTo>
                <a:lnTo>
                  <a:pt x="865632" y="1729740"/>
                </a:lnTo>
                <a:lnTo>
                  <a:pt x="908304" y="1728266"/>
                </a:lnTo>
                <a:lnTo>
                  <a:pt x="954024" y="1725168"/>
                </a:lnTo>
                <a:lnTo>
                  <a:pt x="996696" y="1720596"/>
                </a:lnTo>
                <a:lnTo>
                  <a:pt x="1039368" y="1712976"/>
                </a:lnTo>
                <a:lnTo>
                  <a:pt x="1082040" y="1702308"/>
                </a:lnTo>
                <a:lnTo>
                  <a:pt x="1123188" y="1691640"/>
                </a:lnTo>
                <a:lnTo>
                  <a:pt x="1162812" y="1677924"/>
                </a:lnTo>
                <a:lnTo>
                  <a:pt x="1202436" y="1662684"/>
                </a:lnTo>
                <a:lnTo>
                  <a:pt x="1240536" y="1644396"/>
                </a:lnTo>
                <a:lnTo>
                  <a:pt x="1277112" y="1626108"/>
                </a:lnTo>
                <a:lnTo>
                  <a:pt x="1313688" y="1604772"/>
                </a:lnTo>
                <a:lnTo>
                  <a:pt x="1348740" y="1581912"/>
                </a:lnTo>
                <a:lnTo>
                  <a:pt x="1382268" y="1557528"/>
                </a:lnTo>
                <a:lnTo>
                  <a:pt x="1415796" y="1531620"/>
                </a:lnTo>
                <a:lnTo>
                  <a:pt x="1446276" y="1505712"/>
                </a:lnTo>
                <a:lnTo>
                  <a:pt x="1476756" y="1476756"/>
                </a:lnTo>
                <a:lnTo>
                  <a:pt x="1505712" y="1446276"/>
                </a:lnTo>
                <a:lnTo>
                  <a:pt x="1533144" y="1415796"/>
                </a:lnTo>
                <a:lnTo>
                  <a:pt x="1559052" y="1382268"/>
                </a:lnTo>
                <a:lnTo>
                  <a:pt x="1581912" y="1348740"/>
                </a:lnTo>
                <a:lnTo>
                  <a:pt x="1604772" y="1313688"/>
                </a:lnTo>
                <a:lnTo>
                  <a:pt x="1626108" y="1277112"/>
                </a:lnTo>
                <a:lnTo>
                  <a:pt x="1644396" y="1240536"/>
                </a:lnTo>
                <a:lnTo>
                  <a:pt x="1662684" y="1200912"/>
                </a:lnTo>
                <a:lnTo>
                  <a:pt x="1677924" y="1162812"/>
                </a:lnTo>
                <a:lnTo>
                  <a:pt x="1691640" y="1121664"/>
                </a:lnTo>
                <a:lnTo>
                  <a:pt x="1702308" y="1080516"/>
                </a:lnTo>
                <a:lnTo>
                  <a:pt x="1712976" y="1039368"/>
                </a:lnTo>
                <a:lnTo>
                  <a:pt x="1720596" y="996696"/>
                </a:lnTo>
                <a:lnTo>
                  <a:pt x="1725168" y="954024"/>
                </a:lnTo>
                <a:lnTo>
                  <a:pt x="1728216" y="909828"/>
                </a:lnTo>
                <a:lnTo>
                  <a:pt x="1729740" y="865632"/>
                </a:lnTo>
                <a:close/>
              </a:path>
            </a:pathLst>
          </a:custGeom>
          <a:solidFill>
            <a:srgbClr val="FFF6D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631" y="1508894"/>
            <a:ext cx="1116246" cy="1111371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8556" y="1502664"/>
            <a:ext cx="1129030" cy="1123188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638556" y="1502664"/>
            <a:ext cx="1129030" cy="1123315"/>
          </a:xfrm>
          <a:custGeom>
            <a:avLst/>
            <a:gdLst/>
            <a:ahLst/>
            <a:cxnLst/>
            <a:rect l="l" t="t" r="r" b="b"/>
            <a:pathLst>
              <a:path w="1129030" h="1123314">
                <a:moveTo>
                  <a:pt x="1129030" y="612648"/>
                </a:moveTo>
                <a:lnTo>
                  <a:pt x="1129030" y="557784"/>
                </a:lnTo>
                <a:lnTo>
                  <a:pt x="1126490" y="531876"/>
                </a:lnTo>
                <a:lnTo>
                  <a:pt x="1125220" y="504444"/>
                </a:lnTo>
                <a:lnTo>
                  <a:pt x="1116330" y="451104"/>
                </a:lnTo>
                <a:lnTo>
                  <a:pt x="1101090" y="399288"/>
                </a:lnTo>
                <a:lnTo>
                  <a:pt x="1083310" y="347472"/>
                </a:lnTo>
                <a:lnTo>
                  <a:pt x="1045210" y="274320"/>
                </a:lnTo>
                <a:lnTo>
                  <a:pt x="994410" y="205740"/>
                </a:lnTo>
                <a:lnTo>
                  <a:pt x="956310" y="164592"/>
                </a:lnTo>
                <a:lnTo>
                  <a:pt x="889000" y="108204"/>
                </a:lnTo>
                <a:lnTo>
                  <a:pt x="840740" y="76200"/>
                </a:lnTo>
                <a:lnTo>
                  <a:pt x="789940" y="50292"/>
                </a:lnTo>
                <a:lnTo>
                  <a:pt x="711200" y="21336"/>
                </a:lnTo>
                <a:lnTo>
                  <a:pt x="657860" y="9144"/>
                </a:lnTo>
                <a:lnTo>
                  <a:pt x="604520" y="1524"/>
                </a:lnTo>
                <a:lnTo>
                  <a:pt x="576580" y="0"/>
                </a:lnTo>
                <a:lnTo>
                  <a:pt x="521970" y="0"/>
                </a:lnTo>
                <a:lnTo>
                  <a:pt x="496570" y="3048"/>
                </a:lnTo>
                <a:lnTo>
                  <a:pt x="468630" y="6096"/>
                </a:lnTo>
                <a:lnTo>
                  <a:pt x="415290" y="16764"/>
                </a:lnTo>
                <a:lnTo>
                  <a:pt x="363220" y="32004"/>
                </a:lnTo>
                <a:lnTo>
                  <a:pt x="265430" y="77724"/>
                </a:lnTo>
                <a:lnTo>
                  <a:pt x="219710" y="108204"/>
                </a:lnTo>
                <a:lnTo>
                  <a:pt x="177800" y="144780"/>
                </a:lnTo>
                <a:lnTo>
                  <a:pt x="138430" y="184404"/>
                </a:lnTo>
                <a:lnTo>
                  <a:pt x="101600" y="230124"/>
                </a:lnTo>
                <a:lnTo>
                  <a:pt x="71120" y="277368"/>
                </a:lnTo>
                <a:lnTo>
                  <a:pt x="46990" y="327660"/>
                </a:lnTo>
                <a:lnTo>
                  <a:pt x="35560" y="352044"/>
                </a:lnTo>
                <a:lnTo>
                  <a:pt x="26670" y="377952"/>
                </a:lnTo>
                <a:lnTo>
                  <a:pt x="19050" y="403860"/>
                </a:lnTo>
                <a:lnTo>
                  <a:pt x="12700" y="431292"/>
                </a:lnTo>
                <a:lnTo>
                  <a:pt x="6350" y="457200"/>
                </a:lnTo>
                <a:lnTo>
                  <a:pt x="1270" y="510540"/>
                </a:lnTo>
                <a:lnTo>
                  <a:pt x="0" y="537972"/>
                </a:lnTo>
                <a:lnTo>
                  <a:pt x="0" y="565404"/>
                </a:lnTo>
                <a:lnTo>
                  <a:pt x="1270" y="592836"/>
                </a:lnTo>
                <a:lnTo>
                  <a:pt x="3810" y="618744"/>
                </a:lnTo>
                <a:lnTo>
                  <a:pt x="8890" y="646176"/>
                </a:lnTo>
                <a:lnTo>
                  <a:pt x="12700" y="672084"/>
                </a:lnTo>
                <a:lnTo>
                  <a:pt x="12700" y="512064"/>
                </a:lnTo>
                <a:lnTo>
                  <a:pt x="20320" y="458724"/>
                </a:lnTo>
                <a:lnTo>
                  <a:pt x="31750" y="406908"/>
                </a:lnTo>
                <a:lnTo>
                  <a:pt x="48260" y="356616"/>
                </a:lnTo>
                <a:lnTo>
                  <a:pt x="69850" y="307848"/>
                </a:lnTo>
                <a:lnTo>
                  <a:pt x="96520" y="259080"/>
                </a:lnTo>
                <a:lnTo>
                  <a:pt x="128270" y="214884"/>
                </a:lnTo>
                <a:lnTo>
                  <a:pt x="166370" y="172212"/>
                </a:lnTo>
                <a:lnTo>
                  <a:pt x="207010" y="135636"/>
                </a:lnTo>
                <a:lnTo>
                  <a:pt x="273050" y="88392"/>
                </a:lnTo>
                <a:lnTo>
                  <a:pt x="318770" y="64008"/>
                </a:lnTo>
                <a:lnTo>
                  <a:pt x="368300" y="44196"/>
                </a:lnTo>
                <a:lnTo>
                  <a:pt x="445770" y="22860"/>
                </a:lnTo>
                <a:lnTo>
                  <a:pt x="523240" y="12192"/>
                </a:lnTo>
                <a:lnTo>
                  <a:pt x="576580" y="12192"/>
                </a:lnTo>
                <a:lnTo>
                  <a:pt x="629920" y="16764"/>
                </a:lnTo>
                <a:lnTo>
                  <a:pt x="707390" y="33528"/>
                </a:lnTo>
                <a:lnTo>
                  <a:pt x="759460" y="51816"/>
                </a:lnTo>
                <a:lnTo>
                  <a:pt x="810260" y="74676"/>
                </a:lnTo>
                <a:lnTo>
                  <a:pt x="858520" y="102108"/>
                </a:lnTo>
                <a:lnTo>
                  <a:pt x="904240" y="135636"/>
                </a:lnTo>
                <a:lnTo>
                  <a:pt x="947420" y="173736"/>
                </a:lnTo>
                <a:lnTo>
                  <a:pt x="985520" y="214884"/>
                </a:lnTo>
                <a:lnTo>
                  <a:pt x="1018540" y="257556"/>
                </a:lnTo>
                <a:lnTo>
                  <a:pt x="1046480" y="304800"/>
                </a:lnTo>
                <a:lnTo>
                  <a:pt x="1060450" y="329184"/>
                </a:lnTo>
                <a:lnTo>
                  <a:pt x="1080770" y="377952"/>
                </a:lnTo>
                <a:lnTo>
                  <a:pt x="1096010" y="428244"/>
                </a:lnTo>
                <a:lnTo>
                  <a:pt x="1108710" y="480060"/>
                </a:lnTo>
                <a:lnTo>
                  <a:pt x="1115060" y="531876"/>
                </a:lnTo>
                <a:lnTo>
                  <a:pt x="1116330" y="559308"/>
                </a:lnTo>
                <a:lnTo>
                  <a:pt x="1116330" y="691896"/>
                </a:lnTo>
                <a:lnTo>
                  <a:pt x="1121410" y="665988"/>
                </a:lnTo>
                <a:lnTo>
                  <a:pt x="1129030" y="612648"/>
                </a:lnTo>
                <a:close/>
              </a:path>
              <a:path w="1129030" h="1123314">
                <a:moveTo>
                  <a:pt x="1116330" y="691896"/>
                </a:moveTo>
                <a:lnTo>
                  <a:pt x="1116330" y="585216"/>
                </a:lnTo>
                <a:lnTo>
                  <a:pt x="1113790" y="638556"/>
                </a:lnTo>
                <a:lnTo>
                  <a:pt x="1098550" y="716280"/>
                </a:lnTo>
                <a:lnTo>
                  <a:pt x="1070610" y="790956"/>
                </a:lnTo>
                <a:lnTo>
                  <a:pt x="1046480" y="839724"/>
                </a:lnTo>
                <a:lnTo>
                  <a:pt x="1016000" y="886968"/>
                </a:lnTo>
                <a:lnTo>
                  <a:pt x="980440" y="931164"/>
                </a:lnTo>
                <a:lnTo>
                  <a:pt x="942340" y="969264"/>
                </a:lnTo>
                <a:lnTo>
                  <a:pt x="900430" y="1004316"/>
                </a:lnTo>
                <a:lnTo>
                  <a:pt x="855980" y="1034796"/>
                </a:lnTo>
                <a:lnTo>
                  <a:pt x="808990" y="1059180"/>
                </a:lnTo>
                <a:lnTo>
                  <a:pt x="735330" y="1088136"/>
                </a:lnTo>
                <a:lnTo>
                  <a:pt x="683260" y="1100328"/>
                </a:lnTo>
                <a:lnTo>
                  <a:pt x="605790" y="1110996"/>
                </a:lnTo>
                <a:lnTo>
                  <a:pt x="552450" y="1110996"/>
                </a:lnTo>
                <a:lnTo>
                  <a:pt x="499110" y="1106424"/>
                </a:lnTo>
                <a:lnTo>
                  <a:pt x="445770" y="1095756"/>
                </a:lnTo>
                <a:lnTo>
                  <a:pt x="393700" y="1080516"/>
                </a:lnTo>
                <a:lnTo>
                  <a:pt x="344170" y="1060704"/>
                </a:lnTo>
                <a:lnTo>
                  <a:pt x="270510" y="1021080"/>
                </a:lnTo>
                <a:lnTo>
                  <a:pt x="224790" y="987552"/>
                </a:lnTo>
                <a:lnTo>
                  <a:pt x="162560" y="929640"/>
                </a:lnTo>
                <a:lnTo>
                  <a:pt x="125730" y="886968"/>
                </a:lnTo>
                <a:lnTo>
                  <a:pt x="95250" y="842772"/>
                </a:lnTo>
                <a:lnTo>
                  <a:pt x="69850" y="795528"/>
                </a:lnTo>
                <a:lnTo>
                  <a:pt x="48260" y="745236"/>
                </a:lnTo>
                <a:lnTo>
                  <a:pt x="31750" y="694944"/>
                </a:lnTo>
                <a:lnTo>
                  <a:pt x="16510" y="617220"/>
                </a:lnTo>
                <a:lnTo>
                  <a:pt x="12700" y="563880"/>
                </a:lnTo>
                <a:lnTo>
                  <a:pt x="12700" y="672084"/>
                </a:lnTo>
                <a:lnTo>
                  <a:pt x="26670" y="725424"/>
                </a:lnTo>
                <a:lnTo>
                  <a:pt x="46990" y="775716"/>
                </a:lnTo>
                <a:lnTo>
                  <a:pt x="71120" y="826008"/>
                </a:lnTo>
                <a:lnTo>
                  <a:pt x="100330" y="871728"/>
                </a:lnTo>
                <a:lnTo>
                  <a:pt x="133350" y="917448"/>
                </a:lnTo>
                <a:lnTo>
                  <a:pt x="172720" y="958596"/>
                </a:lnTo>
                <a:lnTo>
                  <a:pt x="217170" y="998220"/>
                </a:lnTo>
                <a:lnTo>
                  <a:pt x="264160" y="1031748"/>
                </a:lnTo>
                <a:lnTo>
                  <a:pt x="313690" y="1060704"/>
                </a:lnTo>
                <a:lnTo>
                  <a:pt x="364490" y="1083564"/>
                </a:lnTo>
                <a:lnTo>
                  <a:pt x="416560" y="1101852"/>
                </a:lnTo>
                <a:lnTo>
                  <a:pt x="444500" y="1107948"/>
                </a:lnTo>
                <a:lnTo>
                  <a:pt x="469900" y="1114044"/>
                </a:lnTo>
                <a:lnTo>
                  <a:pt x="497840" y="1118616"/>
                </a:lnTo>
                <a:lnTo>
                  <a:pt x="524510" y="1121664"/>
                </a:lnTo>
                <a:lnTo>
                  <a:pt x="552450" y="1123188"/>
                </a:lnTo>
                <a:lnTo>
                  <a:pt x="605790" y="1123188"/>
                </a:lnTo>
                <a:lnTo>
                  <a:pt x="687070" y="1112520"/>
                </a:lnTo>
                <a:lnTo>
                  <a:pt x="737870" y="1100328"/>
                </a:lnTo>
                <a:lnTo>
                  <a:pt x="789940" y="1082040"/>
                </a:lnTo>
                <a:lnTo>
                  <a:pt x="839470" y="1059180"/>
                </a:lnTo>
                <a:lnTo>
                  <a:pt x="909320" y="1014984"/>
                </a:lnTo>
                <a:lnTo>
                  <a:pt x="951230" y="978408"/>
                </a:lnTo>
                <a:lnTo>
                  <a:pt x="991870" y="938784"/>
                </a:lnTo>
                <a:lnTo>
                  <a:pt x="1042670" y="870204"/>
                </a:lnTo>
                <a:lnTo>
                  <a:pt x="1070610" y="821436"/>
                </a:lnTo>
                <a:lnTo>
                  <a:pt x="1093470" y="771144"/>
                </a:lnTo>
                <a:lnTo>
                  <a:pt x="1109980" y="719328"/>
                </a:lnTo>
                <a:lnTo>
                  <a:pt x="1116330" y="691896"/>
                </a:lnTo>
                <a:close/>
              </a:path>
              <a:path w="1129030" h="1123314">
                <a:moveTo>
                  <a:pt x="999490" y="580644"/>
                </a:moveTo>
                <a:lnTo>
                  <a:pt x="999490" y="560832"/>
                </a:lnTo>
                <a:lnTo>
                  <a:pt x="996950" y="539496"/>
                </a:lnTo>
                <a:lnTo>
                  <a:pt x="995680" y="519684"/>
                </a:lnTo>
                <a:lnTo>
                  <a:pt x="993140" y="498348"/>
                </a:lnTo>
                <a:lnTo>
                  <a:pt x="988060" y="478536"/>
                </a:lnTo>
                <a:lnTo>
                  <a:pt x="984250" y="457200"/>
                </a:lnTo>
                <a:lnTo>
                  <a:pt x="970280" y="417576"/>
                </a:lnTo>
                <a:lnTo>
                  <a:pt x="953770" y="379476"/>
                </a:lnTo>
                <a:lnTo>
                  <a:pt x="920750" y="324612"/>
                </a:lnTo>
                <a:lnTo>
                  <a:pt x="895350" y="289560"/>
                </a:lnTo>
                <a:lnTo>
                  <a:pt x="864870" y="257556"/>
                </a:lnTo>
                <a:lnTo>
                  <a:pt x="831850" y="228600"/>
                </a:lnTo>
                <a:lnTo>
                  <a:pt x="795020" y="201168"/>
                </a:lnTo>
                <a:lnTo>
                  <a:pt x="756920" y="179832"/>
                </a:lnTo>
                <a:lnTo>
                  <a:pt x="717550" y="161544"/>
                </a:lnTo>
                <a:lnTo>
                  <a:pt x="675640" y="147828"/>
                </a:lnTo>
                <a:lnTo>
                  <a:pt x="656590" y="141732"/>
                </a:lnTo>
                <a:lnTo>
                  <a:pt x="635000" y="137160"/>
                </a:lnTo>
                <a:lnTo>
                  <a:pt x="614680" y="134112"/>
                </a:lnTo>
                <a:lnTo>
                  <a:pt x="572770" y="131064"/>
                </a:lnTo>
                <a:lnTo>
                  <a:pt x="552450" y="129540"/>
                </a:lnTo>
                <a:lnTo>
                  <a:pt x="530860" y="131064"/>
                </a:lnTo>
                <a:lnTo>
                  <a:pt x="511810" y="132588"/>
                </a:lnTo>
                <a:lnTo>
                  <a:pt x="490220" y="134112"/>
                </a:lnTo>
                <a:lnTo>
                  <a:pt x="469900" y="138684"/>
                </a:lnTo>
                <a:lnTo>
                  <a:pt x="448310" y="143256"/>
                </a:lnTo>
                <a:lnTo>
                  <a:pt x="429260" y="147828"/>
                </a:lnTo>
                <a:lnTo>
                  <a:pt x="389890" y="161544"/>
                </a:lnTo>
                <a:lnTo>
                  <a:pt x="334010" y="188976"/>
                </a:lnTo>
                <a:lnTo>
                  <a:pt x="283210" y="225552"/>
                </a:lnTo>
                <a:lnTo>
                  <a:pt x="250190" y="254508"/>
                </a:lnTo>
                <a:lnTo>
                  <a:pt x="208280" y="304800"/>
                </a:lnTo>
                <a:lnTo>
                  <a:pt x="185420" y="341376"/>
                </a:lnTo>
                <a:lnTo>
                  <a:pt x="173990" y="361188"/>
                </a:lnTo>
                <a:lnTo>
                  <a:pt x="165100" y="379476"/>
                </a:lnTo>
                <a:lnTo>
                  <a:pt x="149860" y="419100"/>
                </a:lnTo>
                <a:lnTo>
                  <a:pt x="143510" y="438912"/>
                </a:lnTo>
                <a:lnTo>
                  <a:pt x="139700" y="460248"/>
                </a:lnTo>
                <a:lnTo>
                  <a:pt x="135890" y="480060"/>
                </a:lnTo>
                <a:lnTo>
                  <a:pt x="133350" y="501396"/>
                </a:lnTo>
                <a:lnTo>
                  <a:pt x="130810" y="542544"/>
                </a:lnTo>
                <a:lnTo>
                  <a:pt x="130810" y="562356"/>
                </a:lnTo>
                <a:lnTo>
                  <a:pt x="133350" y="603504"/>
                </a:lnTo>
                <a:lnTo>
                  <a:pt x="135890" y="624840"/>
                </a:lnTo>
                <a:lnTo>
                  <a:pt x="140970" y="644652"/>
                </a:lnTo>
                <a:lnTo>
                  <a:pt x="142240" y="649986"/>
                </a:lnTo>
                <a:lnTo>
                  <a:pt x="142240" y="542544"/>
                </a:lnTo>
                <a:lnTo>
                  <a:pt x="146050" y="502920"/>
                </a:lnTo>
                <a:lnTo>
                  <a:pt x="151130" y="463296"/>
                </a:lnTo>
                <a:lnTo>
                  <a:pt x="162560" y="423672"/>
                </a:lnTo>
                <a:lnTo>
                  <a:pt x="177800" y="385572"/>
                </a:lnTo>
                <a:lnTo>
                  <a:pt x="195580" y="348996"/>
                </a:lnTo>
                <a:lnTo>
                  <a:pt x="218440" y="312420"/>
                </a:lnTo>
                <a:lnTo>
                  <a:pt x="260350" y="263652"/>
                </a:lnTo>
                <a:lnTo>
                  <a:pt x="290830" y="236220"/>
                </a:lnTo>
                <a:lnTo>
                  <a:pt x="323850" y="211836"/>
                </a:lnTo>
                <a:lnTo>
                  <a:pt x="356870" y="190500"/>
                </a:lnTo>
                <a:lnTo>
                  <a:pt x="393700" y="173736"/>
                </a:lnTo>
                <a:lnTo>
                  <a:pt x="431800" y="160020"/>
                </a:lnTo>
                <a:lnTo>
                  <a:pt x="471170" y="150876"/>
                </a:lnTo>
                <a:lnTo>
                  <a:pt x="511810" y="144780"/>
                </a:lnTo>
                <a:lnTo>
                  <a:pt x="530860" y="143256"/>
                </a:lnTo>
                <a:lnTo>
                  <a:pt x="572770" y="143256"/>
                </a:lnTo>
                <a:lnTo>
                  <a:pt x="612140" y="146304"/>
                </a:lnTo>
                <a:lnTo>
                  <a:pt x="652780" y="153924"/>
                </a:lnTo>
                <a:lnTo>
                  <a:pt x="692150" y="166116"/>
                </a:lnTo>
                <a:lnTo>
                  <a:pt x="730250" y="181356"/>
                </a:lnTo>
                <a:lnTo>
                  <a:pt x="787400" y="211836"/>
                </a:lnTo>
                <a:lnTo>
                  <a:pt x="839470" y="251460"/>
                </a:lnTo>
                <a:lnTo>
                  <a:pt x="871220" y="281940"/>
                </a:lnTo>
                <a:lnTo>
                  <a:pt x="910590" y="330708"/>
                </a:lnTo>
                <a:lnTo>
                  <a:pt x="932180" y="367284"/>
                </a:lnTo>
                <a:lnTo>
                  <a:pt x="949960" y="403860"/>
                </a:lnTo>
                <a:lnTo>
                  <a:pt x="965200" y="441960"/>
                </a:lnTo>
                <a:lnTo>
                  <a:pt x="970280" y="460248"/>
                </a:lnTo>
                <a:lnTo>
                  <a:pt x="976630" y="480060"/>
                </a:lnTo>
                <a:lnTo>
                  <a:pt x="981710" y="521208"/>
                </a:lnTo>
                <a:lnTo>
                  <a:pt x="985520" y="541020"/>
                </a:lnTo>
                <a:lnTo>
                  <a:pt x="985520" y="677672"/>
                </a:lnTo>
                <a:lnTo>
                  <a:pt x="988060" y="664464"/>
                </a:lnTo>
                <a:lnTo>
                  <a:pt x="993140" y="643128"/>
                </a:lnTo>
                <a:lnTo>
                  <a:pt x="995680" y="623316"/>
                </a:lnTo>
                <a:lnTo>
                  <a:pt x="999490" y="580644"/>
                </a:lnTo>
                <a:close/>
              </a:path>
              <a:path w="1129030" h="1123314">
                <a:moveTo>
                  <a:pt x="985520" y="677672"/>
                </a:moveTo>
                <a:lnTo>
                  <a:pt x="985520" y="600456"/>
                </a:lnTo>
                <a:lnTo>
                  <a:pt x="984250" y="620268"/>
                </a:lnTo>
                <a:lnTo>
                  <a:pt x="980440" y="641604"/>
                </a:lnTo>
                <a:lnTo>
                  <a:pt x="971550" y="679704"/>
                </a:lnTo>
                <a:lnTo>
                  <a:pt x="958850" y="719328"/>
                </a:lnTo>
                <a:lnTo>
                  <a:pt x="942340" y="757428"/>
                </a:lnTo>
                <a:lnTo>
                  <a:pt x="923290" y="792480"/>
                </a:lnTo>
                <a:lnTo>
                  <a:pt x="869950" y="859536"/>
                </a:lnTo>
                <a:lnTo>
                  <a:pt x="839470" y="886968"/>
                </a:lnTo>
                <a:lnTo>
                  <a:pt x="805180" y="911352"/>
                </a:lnTo>
                <a:lnTo>
                  <a:pt x="770890" y="932688"/>
                </a:lnTo>
                <a:lnTo>
                  <a:pt x="715010" y="957072"/>
                </a:lnTo>
                <a:lnTo>
                  <a:pt x="676910" y="967740"/>
                </a:lnTo>
                <a:lnTo>
                  <a:pt x="637540" y="976884"/>
                </a:lnTo>
                <a:lnTo>
                  <a:pt x="598170" y="979842"/>
                </a:lnTo>
                <a:lnTo>
                  <a:pt x="557530" y="979932"/>
                </a:lnTo>
                <a:lnTo>
                  <a:pt x="535940" y="978408"/>
                </a:lnTo>
                <a:lnTo>
                  <a:pt x="496570" y="973836"/>
                </a:lnTo>
                <a:lnTo>
                  <a:pt x="416560" y="950976"/>
                </a:lnTo>
                <a:lnTo>
                  <a:pt x="378460" y="932688"/>
                </a:lnTo>
                <a:lnTo>
                  <a:pt x="341630" y="911352"/>
                </a:lnTo>
                <a:lnTo>
                  <a:pt x="288290" y="871728"/>
                </a:lnTo>
                <a:lnTo>
                  <a:pt x="257810" y="841248"/>
                </a:lnTo>
                <a:lnTo>
                  <a:pt x="231140" y="809244"/>
                </a:lnTo>
                <a:lnTo>
                  <a:pt x="207010" y="774192"/>
                </a:lnTo>
                <a:lnTo>
                  <a:pt x="195580" y="757428"/>
                </a:lnTo>
                <a:lnTo>
                  <a:pt x="186690" y="739140"/>
                </a:lnTo>
                <a:lnTo>
                  <a:pt x="179070" y="719328"/>
                </a:lnTo>
                <a:lnTo>
                  <a:pt x="170180" y="701040"/>
                </a:lnTo>
                <a:lnTo>
                  <a:pt x="163830" y="681228"/>
                </a:lnTo>
                <a:lnTo>
                  <a:pt x="157480" y="662940"/>
                </a:lnTo>
                <a:lnTo>
                  <a:pt x="148590" y="623316"/>
                </a:lnTo>
                <a:lnTo>
                  <a:pt x="143510" y="582168"/>
                </a:lnTo>
                <a:lnTo>
                  <a:pt x="142240" y="562356"/>
                </a:lnTo>
                <a:lnTo>
                  <a:pt x="142240" y="649986"/>
                </a:lnTo>
                <a:lnTo>
                  <a:pt x="166370" y="725424"/>
                </a:lnTo>
                <a:lnTo>
                  <a:pt x="195580" y="781812"/>
                </a:lnTo>
                <a:lnTo>
                  <a:pt x="208280" y="798576"/>
                </a:lnTo>
                <a:lnTo>
                  <a:pt x="219710" y="816864"/>
                </a:lnTo>
                <a:lnTo>
                  <a:pt x="248920" y="850392"/>
                </a:lnTo>
                <a:lnTo>
                  <a:pt x="298450" y="896112"/>
                </a:lnTo>
                <a:lnTo>
                  <a:pt x="334010" y="922020"/>
                </a:lnTo>
                <a:lnTo>
                  <a:pt x="392430" y="954024"/>
                </a:lnTo>
                <a:lnTo>
                  <a:pt x="431800" y="969264"/>
                </a:lnTo>
                <a:lnTo>
                  <a:pt x="473710" y="981456"/>
                </a:lnTo>
                <a:lnTo>
                  <a:pt x="514350" y="989076"/>
                </a:lnTo>
                <a:lnTo>
                  <a:pt x="534670" y="992124"/>
                </a:lnTo>
                <a:lnTo>
                  <a:pt x="554990" y="993648"/>
                </a:lnTo>
                <a:lnTo>
                  <a:pt x="598170" y="993648"/>
                </a:lnTo>
                <a:lnTo>
                  <a:pt x="618490" y="990600"/>
                </a:lnTo>
                <a:lnTo>
                  <a:pt x="637540" y="989171"/>
                </a:lnTo>
                <a:lnTo>
                  <a:pt x="679450" y="981456"/>
                </a:lnTo>
                <a:lnTo>
                  <a:pt x="718820" y="969264"/>
                </a:lnTo>
                <a:lnTo>
                  <a:pt x="758190" y="952500"/>
                </a:lnTo>
                <a:lnTo>
                  <a:pt x="795020" y="934212"/>
                </a:lnTo>
                <a:lnTo>
                  <a:pt x="847090" y="897636"/>
                </a:lnTo>
                <a:lnTo>
                  <a:pt x="863600" y="882396"/>
                </a:lnTo>
                <a:lnTo>
                  <a:pt x="878840" y="868680"/>
                </a:lnTo>
                <a:lnTo>
                  <a:pt x="892810" y="851916"/>
                </a:lnTo>
                <a:lnTo>
                  <a:pt x="908050" y="835152"/>
                </a:lnTo>
                <a:lnTo>
                  <a:pt x="919480" y="818388"/>
                </a:lnTo>
                <a:lnTo>
                  <a:pt x="943610" y="781812"/>
                </a:lnTo>
                <a:lnTo>
                  <a:pt x="962660" y="743712"/>
                </a:lnTo>
                <a:lnTo>
                  <a:pt x="984250" y="684276"/>
                </a:lnTo>
                <a:lnTo>
                  <a:pt x="985520" y="677672"/>
                </a:lnTo>
                <a:close/>
              </a:path>
            </a:pathLst>
          </a:custGeom>
          <a:solidFill>
            <a:srgbClr val="C7B6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470659" y="457199"/>
            <a:ext cx="8130540" cy="3429000"/>
          </a:xfrm>
          <a:custGeom>
            <a:avLst/>
            <a:gdLst/>
            <a:ahLst/>
            <a:cxnLst/>
            <a:rect l="l" t="t" r="r" b="b"/>
            <a:pathLst>
              <a:path w="8130540" h="3429000">
                <a:moveTo>
                  <a:pt x="0" y="0"/>
                </a:moveTo>
                <a:lnTo>
                  <a:pt x="0" y="3428999"/>
                </a:lnTo>
                <a:lnTo>
                  <a:pt x="8130539" y="3428999"/>
                </a:lnTo>
                <a:lnTo>
                  <a:pt x="81305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56221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07311" y="776731"/>
            <a:ext cx="773303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562213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61082" y="1337563"/>
            <a:ext cx="7437120" cy="4792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jpg"/><Relationship Id="rId6" Type="http://schemas.openxmlformats.org/officeDocument/2006/relationships/image" Target="../media/image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9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2.jpg"/><Relationship Id="rId6" Type="http://schemas.openxmlformats.org/officeDocument/2006/relationships/image" Target="../media/image6.png"/><Relationship Id="rId7" Type="http://schemas.openxmlformats.org/officeDocument/2006/relationships/image" Target="../media/image1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Relationship Id="rId3" Type="http://schemas.openxmlformats.org/officeDocument/2006/relationships/image" Target="../media/image6.png"/><Relationship Id="rId4" Type="http://schemas.openxmlformats.org/officeDocument/2006/relationships/image" Target="../media/image16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8.jpg"/><Relationship Id="rId6" Type="http://schemas.openxmlformats.org/officeDocument/2006/relationships/image" Target="../media/image6.png"/><Relationship Id="rId7" Type="http://schemas.openxmlformats.org/officeDocument/2006/relationships/image" Target="../media/image19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1.jpg"/><Relationship Id="rId6" Type="http://schemas.openxmlformats.org/officeDocument/2006/relationships/image" Target="../media/image6.png"/><Relationship Id="rId7" Type="http://schemas.openxmlformats.org/officeDocument/2006/relationships/image" Target="../media/image22.png"/><Relationship Id="rId8" Type="http://schemas.openxmlformats.org/officeDocument/2006/relationships/image" Target="../media/image23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25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8.jpg"/><Relationship Id="rId6" Type="http://schemas.openxmlformats.org/officeDocument/2006/relationships/image" Target="../media/image6.png"/><Relationship Id="rId7" Type="http://schemas.openxmlformats.org/officeDocument/2006/relationships/image" Target="../media/image29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34.jpg"/><Relationship Id="rId7" Type="http://schemas.openxmlformats.org/officeDocument/2006/relationships/image" Target="../media/image35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6.png"/><Relationship Id="rId6" Type="http://schemas.openxmlformats.org/officeDocument/2006/relationships/image" Target="../media/image6.png"/><Relationship Id="rId7" Type="http://schemas.openxmlformats.org/officeDocument/2006/relationships/image" Target="../media/image37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8.jpg"/><Relationship Id="rId6" Type="http://schemas.openxmlformats.org/officeDocument/2006/relationships/image" Target="../media/image6.png"/><Relationship Id="rId7" Type="http://schemas.openxmlformats.org/officeDocument/2006/relationships/image" Target="../media/image39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4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7.jp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9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51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52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53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54.jp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5.png"/><Relationship Id="rId6" Type="http://schemas.openxmlformats.org/officeDocument/2006/relationships/image" Target="../media/image6.png"/><Relationship Id="rId7" Type="http://schemas.openxmlformats.org/officeDocument/2006/relationships/image" Target="../media/image56.jp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jpg"/><Relationship Id="rId11" Type="http://schemas.openxmlformats.org/officeDocument/2006/relationships/image" Target="../media/image60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61.jpg"/><Relationship Id="rId7" Type="http://schemas.openxmlformats.org/officeDocument/2006/relationships/image" Target="../media/image62.jp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3.png"/><Relationship Id="rId6" Type="http://schemas.openxmlformats.org/officeDocument/2006/relationships/image" Target="../media/image6.png"/><Relationship Id="rId7" Type="http://schemas.openxmlformats.org/officeDocument/2006/relationships/image" Target="../media/image64.jp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5.jpg"/><Relationship Id="rId6" Type="http://schemas.openxmlformats.org/officeDocument/2006/relationships/image" Target="../media/image66.jpg"/><Relationship Id="rId7" Type="http://schemas.openxmlformats.org/officeDocument/2006/relationships/image" Target="../media/image6.png"/><Relationship Id="rId8" Type="http://schemas.openxmlformats.org/officeDocument/2006/relationships/image" Target="../media/image67.jpg"/><Relationship Id="rId9" Type="http://schemas.openxmlformats.org/officeDocument/2006/relationships/image" Target="../media/image68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/>
          <p:nvPr/>
        </p:nvSpPr>
        <p:spPr>
          <a:xfrm>
            <a:off x="1750567" y="2308960"/>
            <a:ext cx="7115175" cy="163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300"/>
              </a:lnSpc>
              <a:spcBef>
                <a:spcPts val="100"/>
              </a:spcBef>
            </a:pPr>
            <a:r>
              <a:rPr dirty="0" sz="3200" b="1">
                <a:latin typeface="Arial"/>
                <a:cs typeface="Arial"/>
              </a:rPr>
              <a:t>Course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b="1">
                <a:latin typeface="Arial"/>
                <a:cs typeface="Arial"/>
              </a:rPr>
              <a:t>Name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: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3200"/>
                </a:solidFill>
                <a:latin typeface="Arial"/>
                <a:cs typeface="Arial"/>
              </a:rPr>
              <a:t>MACHINE</a:t>
            </a:r>
            <a:r>
              <a:rPr dirty="0" sz="3200" spc="35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>
                <a:solidFill>
                  <a:srgbClr val="FF3200"/>
                </a:solidFill>
                <a:latin typeface="Arial"/>
                <a:cs typeface="Arial"/>
              </a:rPr>
              <a:t>LEARNING</a:t>
            </a:r>
            <a:r>
              <a:rPr dirty="0" sz="3200" spc="-10">
                <a:solidFill>
                  <a:srgbClr val="FF32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latin typeface="Arial"/>
                <a:cs typeface="Arial"/>
              </a:rPr>
              <a:t>Course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b="1">
                <a:latin typeface="Arial"/>
                <a:cs typeface="Arial"/>
              </a:rPr>
              <a:t>Code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:</a:t>
            </a:r>
            <a:r>
              <a:rPr dirty="0" sz="3200" spc="7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Microsoft Sans Serif"/>
                <a:cs typeface="Microsoft Sans Serif"/>
              </a:rPr>
              <a:t>20AD04</a:t>
            </a:r>
            <a:endParaRPr sz="3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 sz="3200" b="1">
                <a:latin typeface="Arial"/>
                <a:cs typeface="Arial"/>
              </a:rPr>
              <a:t>Course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b="1">
                <a:latin typeface="Arial"/>
                <a:cs typeface="Arial"/>
              </a:rPr>
              <a:t>Instructor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: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M.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Rajesh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Microsoft Sans Serif"/>
                <a:cs typeface="Microsoft Sans Serif"/>
              </a:rPr>
              <a:t>Reddy</a:t>
            </a:r>
            <a:endParaRPr sz="3200">
              <a:latin typeface="Microsoft Sans Serif"/>
              <a:cs typeface="Microsoft Sans Serif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" y="457200"/>
            <a:ext cx="9143999" cy="164439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750567" y="3924400"/>
            <a:ext cx="3204210" cy="163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300"/>
              </a:lnSpc>
              <a:spcBef>
                <a:spcPts val="100"/>
              </a:spcBef>
            </a:pPr>
            <a:r>
              <a:rPr dirty="0" sz="3200" b="1">
                <a:latin typeface="Arial"/>
                <a:cs typeface="Arial"/>
              </a:rPr>
              <a:t>Semester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: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 spc="-50">
                <a:latin typeface="Microsoft Sans Serif"/>
                <a:cs typeface="Microsoft Sans Serif"/>
              </a:rPr>
              <a:t>V</a:t>
            </a:r>
            <a:r>
              <a:rPr dirty="0" sz="3200" spc="-50">
                <a:latin typeface="Times New Roman"/>
                <a:cs typeface="Times New Roman"/>
              </a:rPr>
              <a:t> </a:t>
            </a:r>
            <a:r>
              <a:rPr dirty="0" sz="3200" b="1">
                <a:latin typeface="Arial"/>
                <a:cs typeface="Arial"/>
              </a:rPr>
              <a:t>Regulation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:</a:t>
            </a:r>
            <a:r>
              <a:rPr dirty="0" sz="3200" spc="65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Microsoft Sans Serif"/>
                <a:cs typeface="Microsoft Sans Serif"/>
              </a:rPr>
              <a:t>R20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 b="1">
                <a:latin typeface="Arial"/>
                <a:cs typeface="Arial"/>
              </a:rPr>
              <a:t>Unit: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-50" b="1">
                <a:latin typeface="Arial"/>
                <a:cs typeface="Arial"/>
              </a:rPr>
              <a:t>4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10188" y="7069325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B5A788"/>
                </a:solidFill>
                <a:latin typeface="Microsoft Sans Serif"/>
                <a:cs typeface="Microsoft Sans Serif"/>
              </a:rPr>
              <a:t>1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750567" y="991615"/>
            <a:ext cx="7182484" cy="4320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50" b="1">
                <a:solidFill>
                  <a:srgbClr val="562213"/>
                </a:solidFill>
                <a:latin typeface="Arial"/>
                <a:cs typeface="Arial"/>
              </a:rPr>
              <a:t>UNIT-</a:t>
            </a:r>
            <a:r>
              <a:rPr dirty="0" sz="3000" b="1">
                <a:solidFill>
                  <a:srgbClr val="562213"/>
                </a:solidFill>
                <a:latin typeface="Arial"/>
                <a:cs typeface="Arial"/>
              </a:rPr>
              <a:t>4:</a:t>
            </a:r>
            <a:r>
              <a:rPr dirty="0" sz="3000" spc="105">
                <a:solidFill>
                  <a:srgbClr val="562213"/>
                </a:solidFill>
                <a:latin typeface="Times New Roman"/>
                <a:cs typeface="Times New Roman"/>
              </a:rPr>
              <a:t> </a:t>
            </a:r>
            <a:r>
              <a:rPr dirty="0" sz="3000" spc="-10" b="1">
                <a:solidFill>
                  <a:srgbClr val="562213"/>
                </a:solidFill>
                <a:latin typeface="Arial"/>
                <a:cs typeface="Arial"/>
              </a:rPr>
              <a:t>SYLLABUS</a:t>
            </a:r>
            <a:endParaRPr sz="3000">
              <a:latin typeface="Arial"/>
              <a:cs typeface="Arial"/>
            </a:endParaRPr>
          </a:p>
          <a:p>
            <a:pPr marL="377825" marR="265430" indent="-283845">
              <a:lnSpc>
                <a:spcPts val="3240"/>
              </a:lnSpc>
              <a:spcBef>
                <a:spcPts val="2540"/>
              </a:spcBef>
            </a:pPr>
            <a:r>
              <a:rPr dirty="0" sz="3000" b="1">
                <a:latin typeface="Arial"/>
                <a:cs typeface="Arial"/>
              </a:rPr>
              <a:t>Classification-</a:t>
            </a:r>
            <a:r>
              <a:rPr dirty="0" sz="3000" spc="5">
                <a:latin typeface="Times New Roman"/>
                <a:cs typeface="Times New Roman"/>
              </a:rPr>
              <a:t> </a:t>
            </a:r>
            <a:r>
              <a:rPr dirty="0" sz="3000">
                <a:latin typeface="Microsoft Sans Serif"/>
                <a:cs typeface="Microsoft Sans Serif"/>
              </a:rPr>
              <a:t>Introduction,</a:t>
            </a:r>
            <a:r>
              <a:rPr dirty="0" sz="3000">
                <a:latin typeface="Times New Roman"/>
                <a:cs typeface="Times New Roman"/>
              </a:rPr>
              <a:t> </a:t>
            </a:r>
            <a:r>
              <a:rPr dirty="0" sz="3000">
                <a:latin typeface="Microsoft Sans Serif"/>
                <a:cs typeface="Microsoft Sans Serif"/>
              </a:rPr>
              <a:t>Example</a:t>
            </a:r>
            <a:r>
              <a:rPr dirty="0" sz="3000" spc="-15">
                <a:latin typeface="Times New Roman"/>
                <a:cs typeface="Times New Roman"/>
              </a:rPr>
              <a:t> </a:t>
            </a:r>
            <a:r>
              <a:rPr dirty="0" sz="3000" spc="-35">
                <a:latin typeface="Microsoft Sans Serif"/>
                <a:cs typeface="Microsoft Sans Serif"/>
              </a:rPr>
              <a:t>of</a:t>
            </a:r>
            <a:r>
              <a:rPr dirty="0" sz="3000" spc="-35">
                <a:latin typeface="Times New Roman"/>
                <a:cs typeface="Times New Roman"/>
              </a:rPr>
              <a:t> </a:t>
            </a:r>
            <a:r>
              <a:rPr dirty="0" sz="3000">
                <a:latin typeface="Microsoft Sans Serif"/>
                <a:cs typeface="Microsoft Sans Serif"/>
              </a:rPr>
              <a:t>Supervised</a:t>
            </a:r>
            <a:r>
              <a:rPr dirty="0" sz="3000" spc="5">
                <a:latin typeface="Times New Roman"/>
                <a:cs typeface="Times New Roman"/>
              </a:rPr>
              <a:t> </a:t>
            </a:r>
            <a:r>
              <a:rPr dirty="0" sz="3000">
                <a:latin typeface="Microsoft Sans Serif"/>
                <a:cs typeface="Microsoft Sans Serif"/>
              </a:rPr>
              <a:t>Learning,</a:t>
            </a:r>
            <a:r>
              <a:rPr dirty="0" sz="3000" spc="1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Microsoft Sans Serif"/>
                <a:cs typeface="Microsoft Sans Serif"/>
              </a:rPr>
              <a:t>Classification</a:t>
            </a:r>
            <a:r>
              <a:rPr dirty="0" sz="3000" spc="-10">
                <a:latin typeface="Times New Roman"/>
                <a:cs typeface="Times New Roman"/>
              </a:rPr>
              <a:t> </a:t>
            </a:r>
            <a:r>
              <a:rPr dirty="0" sz="3000">
                <a:latin typeface="Microsoft Sans Serif"/>
                <a:cs typeface="Microsoft Sans Serif"/>
              </a:rPr>
              <a:t>Model,</a:t>
            </a:r>
            <a:r>
              <a:rPr dirty="0" sz="3000" spc="-45">
                <a:latin typeface="Times New Roman"/>
                <a:cs typeface="Times New Roman"/>
              </a:rPr>
              <a:t> </a:t>
            </a:r>
            <a:r>
              <a:rPr dirty="0" sz="3000">
                <a:latin typeface="Microsoft Sans Serif"/>
                <a:cs typeface="Microsoft Sans Serif"/>
              </a:rPr>
              <a:t>Classification</a:t>
            </a:r>
            <a:r>
              <a:rPr dirty="0" sz="3000" spc="-70">
                <a:latin typeface="Times New Roman"/>
                <a:cs typeface="Times New Roman"/>
              </a:rPr>
              <a:t> </a:t>
            </a:r>
            <a:r>
              <a:rPr dirty="0" sz="3000">
                <a:latin typeface="Microsoft Sans Serif"/>
                <a:cs typeface="Microsoft Sans Serif"/>
              </a:rPr>
              <a:t>Learning</a:t>
            </a:r>
            <a:r>
              <a:rPr dirty="0" sz="3000" spc="-5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Microsoft Sans Serif"/>
                <a:cs typeface="Microsoft Sans Serif"/>
              </a:rPr>
              <a:t>Steps.</a:t>
            </a:r>
            <a:endParaRPr sz="3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3000">
              <a:latin typeface="Microsoft Sans Serif"/>
              <a:cs typeface="Microsoft Sans Serif"/>
            </a:endParaRPr>
          </a:p>
          <a:p>
            <a:pPr marL="94615">
              <a:lnSpc>
                <a:spcPct val="100000"/>
              </a:lnSpc>
            </a:pPr>
            <a:r>
              <a:rPr dirty="0" sz="3000" b="1">
                <a:latin typeface="Arial"/>
                <a:cs typeface="Arial"/>
              </a:rPr>
              <a:t>Common</a:t>
            </a:r>
            <a:r>
              <a:rPr dirty="0" sz="3000" spc="-35">
                <a:latin typeface="Times New Roman"/>
                <a:cs typeface="Times New Roman"/>
              </a:rPr>
              <a:t> </a:t>
            </a:r>
            <a:r>
              <a:rPr dirty="0" sz="3000" b="1">
                <a:latin typeface="Arial"/>
                <a:cs typeface="Arial"/>
              </a:rPr>
              <a:t>Classification</a:t>
            </a:r>
            <a:r>
              <a:rPr dirty="0" sz="3000" spc="-95">
                <a:latin typeface="Times New Roman"/>
                <a:cs typeface="Times New Roman"/>
              </a:rPr>
              <a:t> </a:t>
            </a:r>
            <a:r>
              <a:rPr dirty="0" sz="3000" b="1">
                <a:latin typeface="Arial"/>
                <a:cs typeface="Arial"/>
              </a:rPr>
              <a:t>Algorithms</a:t>
            </a:r>
            <a:r>
              <a:rPr dirty="0" sz="3000" spc="-15">
                <a:latin typeface="Times New Roman"/>
                <a:cs typeface="Times New Roman"/>
              </a:rPr>
              <a:t> </a:t>
            </a:r>
            <a:r>
              <a:rPr dirty="0" sz="3000" spc="-50" b="1">
                <a:latin typeface="Arial"/>
                <a:cs typeface="Arial"/>
              </a:rPr>
              <a:t>–</a:t>
            </a:r>
            <a:endParaRPr sz="3000">
              <a:latin typeface="Arial"/>
              <a:cs typeface="Arial"/>
            </a:endParaRPr>
          </a:p>
          <a:p>
            <a:pPr marL="377825" marR="5080" indent="33020">
              <a:lnSpc>
                <a:spcPts val="3240"/>
              </a:lnSpc>
              <a:spcBef>
                <a:spcPts val="645"/>
              </a:spcBef>
            </a:pPr>
            <a:r>
              <a:rPr dirty="0" sz="3000" spc="-15">
                <a:latin typeface="Microsoft Sans Serif"/>
                <a:cs typeface="Microsoft Sans Serif"/>
              </a:rPr>
              <a:t>k-</a:t>
            </a:r>
            <a:r>
              <a:rPr dirty="0" sz="3000">
                <a:latin typeface="Microsoft Sans Serif"/>
                <a:cs typeface="Microsoft Sans Serif"/>
              </a:rPr>
              <a:t>Nearest</a:t>
            </a:r>
            <a:r>
              <a:rPr dirty="0" sz="3000" spc="50">
                <a:latin typeface="Times New Roman"/>
                <a:cs typeface="Times New Roman"/>
              </a:rPr>
              <a:t> </a:t>
            </a:r>
            <a:r>
              <a:rPr dirty="0" sz="3000">
                <a:latin typeface="Microsoft Sans Serif"/>
                <a:cs typeface="Microsoft Sans Serif"/>
              </a:rPr>
              <a:t>Neighbour</a:t>
            </a:r>
            <a:r>
              <a:rPr dirty="0" sz="3000" spc="15">
                <a:latin typeface="Times New Roman"/>
                <a:cs typeface="Times New Roman"/>
              </a:rPr>
              <a:t> </a:t>
            </a:r>
            <a:r>
              <a:rPr dirty="0" sz="3000">
                <a:latin typeface="Microsoft Sans Serif"/>
                <a:cs typeface="Microsoft Sans Serif"/>
              </a:rPr>
              <a:t>(kNN),</a:t>
            </a:r>
            <a:r>
              <a:rPr dirty="0" sz="3000" spc="6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Microsoft Sans Serif"/>
                <a:cs typeface="Microsoft Sans Serif"/>
              </a:rPr>
              <a:t>Support</a:t>
            </a:r>
            <a:r>
              <a:rPr dirty="0" sz="3000" spc="-10">
                <a:latin typeface="Times New Roman"/>
                <a:cs typeface="Times New Roman"/>
              </a:rPr>
              <a:t> </a:t>
            </a:r>
            <a:r>
              <a:rPr dirty="0" sz="3000">
                <a:latin typeface="Microsoft Sans Serif"/>
                <a:cs typeface="Microsoft Sans Serif"/>
              </a:rPr>
              <a:t>vector</a:t>
            </a:r>
            <a:r>
              <a:rPr dirty="0" sz="3000" spc="30">
                <a:latin typeface="Times New Roman"/>
                <a:cs typeface="Times New Roman"/>
              </a:rPr>
              <a:t> </a:t>
            </a:r>
            <a:r>
              <a:rPr dirty="0" sz="3000">
                <a:latin typeface="Microsoft Sans Serif"/>
                <a:cs typeface="Microsoft Sans Serif"/>
              </a:rPr>
              <a:t>Machines</a:t>
            </a:r>
            <a:r>
              <a:rPr dirty="0" sz="3000" spc="25">
                <a:latin typeface="Times New Roman"/>
                <a:cs typeface="Times New Roman"/>
              </a:rPr>
              <a:t> </a:t>
            </a:r>
            <a:r>
              <a:rPr dirty="0" sz="3000">
                <a:latin typeface="Microsoft Sans Serif"/>
                <a:cs typeface="Microsoft Sans Serif"/>
              </a:rPr>
              <a:t>(SVM),</a:t>
            </a:r>
            <a:r>
              <a:rPr dirty="0" sz="3000" spc="35">
                <a:latin typeface="Times New Roman"/>
                <a:cs typeface="Times New Roman"/>
              </a:rPr>
              <a:t> </a:t>
            </a:r>
            <a:r>
              <a:rPr dirty="0" sz="3000">
                <a:latin typeface="Microsoft Sans Serif"/>
                <a:cs typeface="Microsoft Sans Serif"/>
              </a:rPr>
              <a:t>Random</a:t>
            </a:r>
            <a:r>
              <a:rPr dirty="0" sz="3000" spc="2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Microsoft Sans Serif"/>
                <a:cs typeface="Microsoft Sans Serif"/>
              </a:rPr>
              <a:t>Forest</a:t>
            </a:r>
            <a:r>
              <a:rPr dirty="0" sz="3000" spc="-10">
                <a:latin typeface="Times New Roman"/>
                <a:cs typeface="Times New Roman"/>
              </a:rPr>
              <a:t> </a:t>
            </a:r>
            <a:r>
              <a:rPr dirty="0" sz="3000" spc="-10">
                <a:latin typeface="Microsoft Sans Serif"/>
                <a:cs typeface="Microsoft Sans Serif"/>
              </a:rPr>
              <a:t>model.</a:t>
            </a:r>
            <a:endParaRPr sz="3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991615"/>
            <a:ext cx="77927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4.1</a:t>
            </a:r>
            <a:r>
              <a:rPr dirty="0" spc="30" b="0">
                <a:latin typeface="Times New Roman"/>
                <a:cs typeface="Times New Roman"/>
              </a:rPr>
              <a:t> </a:t>
            </a:r>
            <a:r>
              <a:rPr dirty="0"/>
              <a:t>EXAMPLE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/>
              <a:t>OF</a:t>
            </a:r>
            <a:r>
              <a:rPr dirty="0" spc="60" b="0">
                <a:latin typeface="Times New Roman"/>
                <a:cs typeface="Times New Roman"/>
              </a:rPr>
              <a:t> </a:t>
            </a:r>
            <a:r>
              <a:rPr dirty="0"/>
              <a:t>SUPERVISED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 spc="-10"/>
              <a:t>LEARNING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832863" y="1564639"/>
            <a:ext cx="7472680" cy="356171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just" marL="294640" marR="118110" indent="-282575">
              <a:lnSpc>
                <a:spcPct val="80000"/>
              </a:lnSpc>
              <a:spcBef>
                <a:spcPts val="58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In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supervised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learning,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the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labelled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training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data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provide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Arial"/>
                <a:cs typeface="Arial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	</a:t>
            </a:r>
            <a:r>
              <a:rPr dirty="0" sz="2000" b="1">
                <a:latin typeface="Arial"/>
                <a:cs typeface="Arial"/>
              </a:rPr>
              <a:t>basis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for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learning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which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is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experience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or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prior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knowledge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Microsoft Sans Serif"/>
                <a:cs typeface="Microsoft Sans Serif"/>
              </a:rPr>
              <a:t>or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belief.</a:t>
            </a:r>
            <a:endParaRPr sz="2000">
              <a:latin typeface="Microsoft Sans Serif"/>
              <a:cs typeface="Microsoft Sans Serif"/>
            </a:endParaRPr>
          </a:p>
          <a:p>
            <a:pPr marL="295910" marR="16002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process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learning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from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training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data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by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machine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can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related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to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teacher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supervising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learning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process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of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student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who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is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new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to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subject.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So,it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is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called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Arial"/>
                <a:cs typeface="Arial"/>
              </a:rPr>
              <a:t>supervised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learning.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In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this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case,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teacher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is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training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data.</a:t>
            </a:r>
            <a:endParaRPr sz="2000">
              <a:latin typeface="Microsoft Sans Serif"/>
              <a:cs typeface="Microsoft Sans Serif"/>
            </a:endParaRPr>
          </a:p>
          <a:p>
            <a:pPr marL="295910" marR="24765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Training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data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is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past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information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with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known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value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‘</a:t>
            </a:r>
            <a:r>
              <a:rPr dirty="0" sz="2000" spc="-10" b="1">
                <a:latin typeface="Arial"/>
                <a:cs typeface="Arial"/>
              </a:rPr>
              <a:t>class’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or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‘</a:t>
            </a:r>
            <a:r>
              <a:rPr dirty="0" sz="2000" b="1">
                <a:latin typeface="Arial"/>
                <a:cs typeface="Arial"/>
              </a:rPr>
              <a:t>label’.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So</a:t>
            </a:r>
            <a:r>
              <a:rPr dirty="0" sz="2000" b="1">
                <a:latin typeface="Arial"/>
                <a:cs typeface="Arial"/>
              </a:rPr>
              <a:t>,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we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say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that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‘</a:t>
            </a:r>
            <a:r>
              <a:rPr dirty="0" sz="2000" b="1">
                <a:latin typeface="Arial"/>
                <a:cs typeface="Arial"/>
              </a:rPr>
              <a:t>training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data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is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labelled’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in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Arial"/>
                <a:cs typeface="Arial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case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of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supervised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Arial"/>
                <a:cs typeface="Arial"/>
              </a:rPr>
              <a:t>learning.</a:t>
            </a:r>
            <a:endParaRPr sz="200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12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There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is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no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labelled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training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data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for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unsupervised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Arial"/>
                <a:cs typeface="Arial"/>
              </a:rPr>
              <a:t>learning</a:t>
            </a:r>
            <a:r>
              <a:rPr dirty="0" sz="2000" spc="-10"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  <a:p>
            <a:pPr marL="295910" marR="16256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 spc="-10" b="1">
                <a:latin typeface="Arial"/>
                <a:cs typeface="Arial"/>
              </a:rPr>
              <a:t>Semi-</a:t>
            </a:r>
            <a:r>
              <a:rPr dirty="0" sz="2000" b="1">
                <a:latin typeface="Arial"/>
                <a:cs typeface="Arial"/>
              </a:rPr>
              <a:t>supervised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learning</a:t>
            </a:r>
            <a:r>
              <a:rPr dirty="0" sz="2000">
                <a:latin typeface="Microsoft Sans Serif"/>
                <a:cs typeface="Microsoft Sans Serif"/>
              </a:rPr>
              <a:t>,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uses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a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small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amount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of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Arial"/>
                <a:cs typeface="Arial"/>
              </a:rPr>
              <a:t>labelled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data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along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with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unlabelled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data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for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Arial"/>
                <a:cs typeface="Arial"/>
              </a:rPr>
              <a:t>training.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86328" y="5146547"/>
            <a:ext cx="4500371" cy="20985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991615"/>
            <a:ext cx="779272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4.1</a:t>
            </a:r>
            <a:r>
              <a:rPr dirty="0" spc="30" b="0">
                <a:latin typeface="Times New Roman"/>
                <a:cs typeface="Times New Roman"/>
              </a:rPr>
              <a:t> </a:t>
            </a:r>
            <a:r>
              <a:rPr dirty="0"/>
              <a:t>EXAMPLE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/>
              <a:t>OF</a:t>
            </a:r>
            <a:r>
              <a:rPr dirty="0" spc="60" b="0">
                <a:latin typeface="Times New Roman"/>
                <a:cs typeface="Times New Roman"/>
              </a:rPr>
              <a:t> </a:t>
            </a:r>
            <a:r>
              <a:rPr dirty="0"/>
              <a:t>SUPERVISED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 spc="-10"/>
              <a:t>LEARNING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832863" y="1707895"/>
            <a:ext cx="7470775" cy="5329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Arial"/>
                <a:cs typeface="Arial"/>
              </a:rPr>
              <a:t>Example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scenario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of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Supervised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Arial"/>
                <a:cs typeface="Arial"/>
              </a:rPr>
              <a:t>Learning:</a:t>
            </a:r>
            <a:endParaRPr sz="200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125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In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hospital,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many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patients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are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treated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in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general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wards.</a:t>
            </a:r>
            <a:endParaRPr sz="2000">
              <a:latin typeface="Microsoft Sans Serif"/>
              <a:cs typeface="Microsoft Sans Serif"/>
            </a:endParaRPr>
          </a:p>
          <a:p>
            <a:pPr marL="295910" marR="328930" indent="-283845">
              <a:lnSpc>
                <a:spcPct val="80000"/>
              </a:lnSpc>
              <a:spcBef>
                <a:spcPts val="595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In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comparison,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number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beds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in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Intensive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Care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Microsoft Sans Serif"/>
                <a:cs typeface="Microsoft Sans Serif"/>
              </a:rPr>
              <a:t>Unit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(ICU)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is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much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Microsoft Sans Serif"/>
                <a:cs typeface="Microsoft Sans Serif"/>
              </a:rPr>
              <a:t>less.</a:t>
            </a:r>
            <a:endParaRPr sz="2000">
              <a:latin typeface="Microsoft Sans Serif"/>
              <a:cs typeface="Microsoft Sans Serif"/>
            </a:endParaRPr>
          </a:p>
          <a:p>
            <a:pPr marL="295910" marR="11938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What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to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do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if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health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condition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number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patients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in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general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ward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suddenly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aggravates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and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they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would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have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to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be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moved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to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Microsoft Sans Serif"/>
                <a:cs typeface="Microsoft Sans Serif"/>
              </a:rPr>
              <a:t>ICU.</a:t>
            </a:r>
            <a:endParaRPr sz="2000">
              <a:latin typeface="Microsoft Sans Serif"/>
              <a:cs typeface="Microsoft Sans Serif"/>
            </a:endParaRPr>
          </a:p>
          <a:p>
            <a:pPr marL="295910" marR="13335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This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problem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can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addressed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in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much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better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way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if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it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possible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to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predict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which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patients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in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normal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wards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have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possibility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their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health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condition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deteriorating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and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Microsoft Sans Serif"/>
                <a:cs typeface="Microsoft Sans Serif"/>
              </a:rPr>
              <a:t>thus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need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to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be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moved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to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Microsoft Sans Serif"/>
                <a:cs typeface="Microsoft Sans Serif"/>
              </a:rPr>
              <a:t>ICU.</a:t>
            </a:r>
            <a:endParaRPr sz="2000">
              <a:latin typeface="Microsoft Sans Serif"/>
              <a:cs typeface="Microsoft Sans Serif"/>
            </a:endParaRPr>
          </a:p>
          <a:p>
            <a:pPr marL="295910" marR="309245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This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kind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prediction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problem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comes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under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purview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35">
                <a:latin typeface="Microsoft Sans Serif"/>
                <a:cs typeface="Microsoft Sans Serif"/>
              </a:rPr>
              <a:t>of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supervised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learning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or,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more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specifically,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under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classification.</a:t>
            </a:r>
            <a:endParaRPr sz="2000">
              <a:latin typeface="Microsoft Sans Serif"/>
              <a:cs typeface="Microsoft Sans Serif"/>
            </a:endParaRPr>
          </a:p>
          <a:p>
            <a:pPr marL="295910" indent="-283210">
              <a:lnSpc>
                <a:spcPct val="100000"/>
              </a:lnSpc>
              <a:spcBef>
                <a:spcPts val="12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hospital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already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has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all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past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patient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records.</a:t>
            </a:r>
            <a:endParaRPr sz="2000">
              <a:latin typeface="Microsoft Sans Serif"/>
              <a:cs typeface="Microsoft Sans Serif"/>
            </a:endParaRPr>
          </a:p>
          <a:p>
            <a:pPr marL="295910" marR="153035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records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patients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whose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health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condition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aggravated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in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past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and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had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to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moved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to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ICU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can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form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training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data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for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this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prediction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problem.</a:t>
            </a:r>
            <a:endParaRPr sz="2000">
              <a:latin typeface="Microsoft Sans Serif"/>
              <a:cs typeface="Microsoft Sans Serif"/>
            </a:endParaRPr>
          </a:p>
          <a:p>
            <a:pPr marL="295910" marR="508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 spc="-30">
                <a:latin typeface="Microsoft Sans Serif"/>
                <a:cs typeface="Microsoft Sans Serif"/>
              </a:rPr>
              <a:t>Test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results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newly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admitted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patients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are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used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to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classify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Microsoft Sans Serif"/>
                <a:cs typeface="Microsoft Sans Serif"/>
              </a:rPr>
              <a:t>them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high-</a:t>
            </a:r>
            <a:r>
              <a:rPr dirty="0" sz="2000">
                <a:latin typeface="Microsoft Sans Serif"/>
                <a:cs typeface="Microsoft Sans Serif"/>
              </a:rPr>
              <a:t>risk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or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low-</a:t>
            </a:r>
            <a:r>
              <a:rPr dirty="0" sz="2000">
                <a:latin typeface="Microsoft Sans Serif"/>
                <a:cs typeface="Microsoft Sans Serif"/>
              </a:rPr>
              <a:t>risk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patients.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991615"/>
            <a:ext cx="531050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4.2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spc="-10"/>
              <a:t>CLASSIFICATION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/>
              <a:t>MODEL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1530095"/>
            <a:ext cx="9144000" cy="5785485"/>
            <a:chOff x="457200" y="1530095"/>
            <a:chExt cx="9144000" cy="578548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0828" y="1530095"/>
              <a:ext cx="4500371" cy="23561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00" y="3886200"/>
              <a:ext cx="9143999" cy="34289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617979" y="1493011"/>
            <a:ext cx="3369310" cy="511619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95910" marR="274320" indent="-283845">
              <a:lnSpc>
                <a:spcPct val="80000"/>
              </a:lnSpc>
              <a:spcBef>
                <a:spcPts val="58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When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we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are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trying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predict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a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categorical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Arial"/>
                <a:cs typeface="Arial"/>
              </a:rPr>
              <a:t>or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nominal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variable</a:t>
            </a:r>
            <a:r>
              <a:rPr dirty="0" sz="2000">
                <a:latin typeface="Microsoft Sans Serif"/>
                <a:cs typeface="Microsoft Sans Serif"/>
              </a:rPr>
              <a:t>,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problem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is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known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Microsoft Sans Serif"/>
                <a:cs typeface="Microsoft Sans Serif"/>
              </a:rPr>
              <a:t>a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classification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Arial"/>
                <a:cs typeface="Arial"/>
              </a:rPr>
              <a:t>problem.</a:t>
            </a:r>
            <a:endParaRPr sz="2000">
              <a:latin typeface="Arial"/>
              <a:cs typeface="Arial"/>
            </a:endParaRPr>
          </a:p>
          <a:p>
            <a:pPr marL="295910" marR="58419" indent="-283845">
              <a:lnSpc>
                <a:spcPct val="80000"/>
              </a:lnSpc>
              <a:spcBef>
                <a:spcPts val="605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A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classification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problem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one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where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output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variable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is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category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Microsoft Sans Serif"/>
                <a:cs typeface="Microsoft Sans Serif"/>
              </a:rPr>
              <a:t>such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as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‘red’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or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‘blue’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or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‘malignant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tumour’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or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‘benign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tumour’,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Microsoft Sans Serif"/>
                <a:cs typeface="Microsoft Sans Serif"/>
              </a:rPr>
              <a:t>etc.</a:t>
            </a:r>
            <a:endParaRPr sz="2000">
              <a:latin typeface="Microsoft Sans Serif"/>
              <a:cs typeface="Microsoft Sans Serif"/>
            </a:endParaRPr>
          </a:p>
          <a:p>
            <a:pPr marL="295910" marR="508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In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classification,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Microsoft Sans Serif"/>
                <a:cs typeface="Microsoft Sans Serif"/>
              </a:rPr>
              <a:t>whole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problem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centres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around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assigning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a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label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or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category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or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clas</a:t>
            </a:r>
            <a:r>
              <a:rPr dirty="0" sz="2000" b="1">
                <a:latin typeface="Arial"/>
                <a:cs typeface="Arial"/>
              </a:rPr>
              <a:t>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to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a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Arial"/>
                <a:cs typeface="Arial"/>
              </a:rPr>
              <a:t>test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data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on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the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basis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of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Arial"/>
                <a:cs typeface="Arial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label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or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category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or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Arial"/>
                <a:cs typeface="Arial"/>
              </a:rPr>
              <a:t>class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information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that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Arial"/>
                <a:cs typeface="Arial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imparted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by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the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Arial"/>
                <a:cs typeface="Arial"/>
              </a:rPr>
              <a:t>training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Arial"/>
                <a:cs typeface="Arial"/>
              </a:rPr>
              <a:t>data.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00828" y="3886200"/>
            <a:ext cx="4500371" cy="135788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251193" y="5239001"/>
            <a:ext cx="3707765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Example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classification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problems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50" b="1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187325" indent="-174625">
              <a:lnSpc>
                <a:spcPct val="100000"/>
              </a:lnSpc>
              <a:buChar char="•"/>
              <a:tabLst>
                <a:tab pos="187325" algn="l"/>
              </a:tabLst>
            </a:pPr>
            <a:r>
              <a:rPr dirty="0" sz="1800">
                <a:latin typeface="Microsoft Sans Serif"/>
                <a:cs typeface="Microsoft Sans Serif"/>
              </a:rPr>
              <a:t>Image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classification</a:t>
            </a:r>
            <a:endParaRPr sz="1800">
              <a:latin typeface="Microsoft Sans Serif"/>
              <a:cs typeface="Microsoft Sans Serif"/>
            </a:endParaRPr>
          </a:p>
          <a:p>
            <a:pPr marL="187325" indent="-174625">
              <a:lnSpc>
                <a:spcPct val="100000"/>
              </a:lnSpc>
              <a:buChar char="•"/>
              <a:tabLst>
                <a:tab pos="187325" algn="l"/>
              </a:tabLst>
            </a:pPr>
            <a:r>
              <a:rPr dirty="0" sz="1800">
                <a:latin typeface="Microsoft Sans Serif"/>
                <a:cs typeface="Microsoft Sans Serif"/>
              </a:rPr>
              <a:t>Disease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prediction</a:t>
            </a:r>
            <a:endParaRPr sz="1800">
              <a:latin typeface="Microsoft Sans Serif"/>
              <a:cs typeface="Microsoft Sans Serif"/>
            </a:endParaRPr>
          </a:p>
          <a:p>
            <a:pPr marL="187325" indent="-174625">
              <a:lnSpc>
                <a:spcPct val="100000"/>
              </a:lnSpc>
              <a:buChar char="•"/>
              <a:tabLst>
                <a:tab pos="187325" algn="l"/>
              </a:tabLst>
            </a:pPr>
            <a:r>
              <a:rPr dirty="0" sz="1800" spc="100">
                <a:latin typeface="Microsoft Sans Serif"/>
                <a:cs typeface="Microsoft Sans Serif"/>
              </a:rPr>
              <a:t>Win–</a:t>
            </a:r>
            <a:r>
              <a:rPr dirty="0" sz="1800">
                <a:latin typeface="Microsoft Sans Serif"/>
                <a:cs typeface="Microsoft Sans Serif"/>
              </a:rPr>
              <a:t>loss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prediction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of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Microsoft Sans Serif"/>
                <a:cs typeface="Microsoft Sans Serif"/>
              </a:rPr>
              <a:t>games</a:t>
            </a:r>
            <a:endParaRPr sz="1800">
              <a:latin typeface="Microsoft Sans Serif"/>
              <a:cs typeface="Microsoft Sans Serif"/>
            </a:endParaRPr>
          </a:p>
          <a:p>
            <a:pPr marL="187325" marR="33020" indent="-175260">
              <a:lnSpc>
                <a:spcPct val="100000"/>
              </a:lnSpc>
              <a:buChar char="•"/>
              <a:tabLst>
                <a:tab pos="187325" algn="l"/>
              </a:tabLst>
            </a:pPr>
            <a:r>
              <a:rPr dirty="0" sz="1800">
                <a:latin typeface="Microsoft Sans Serif"/>
                <a:cs typeface="Microsoft Sans Serif"/>
              </a:rPr>
              <a:t>Prediction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of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natural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calamity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Microsoft Sans Serif"/>
                <a:cs typeface="Microsoft Sans Serif"/>
              </a:rPr>
              <a:t>such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as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earthquake,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flood,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Microsoft Sans Serif"/>
                <a:cs typeface="Microsoft Sans Serif"/>
              </a:rPr>
              <a:t>etc.</a:t>
            </a:r>
            <a:endParaRPr sz="1800">
              <a:latin typeface="Microsoft Sans Serif"/>
              <a:cs typeface="Microsoft Sans Serif"/>
            </a:endParaRPr>
          </a:p>
          <a:p>
            <a:pPr marL="187325" indent="-174625">
              <a:lnSpc>
                <a:spcPct val="100000"/>
              </a:lnSpc>
              <a:buChar char="•"/>
              <a:tabLst>
                <a:tab pos="187325" algn="l"/>
              </a:tabLst>
            </a:pPr>
            <a:r>
              <a:rPr dirty="0" sz="1800">
                <a:latin typeface="Microsoft Sans Serif"/>
                <a:cs typeface="Microsoft Sans Serif"/>
              </a:rPr>
              <a:t>Handwriting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recognition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991615"/>
            <a:ext cx="7280909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4.3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spc="-10"/>
              <a:t>CLASSIFICATION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/>
              <a:t>LEARNING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spc="-10"/>
              <a:t>STEPS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832863" y="1715515"/>
            <a:ext cx="7366000" cy="461645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294640" marR="228600" indent="-292100">
              <a:lnSpc>
                <a:spcPts val="3460"/>
              </a:lnSpc>
              <a:spcBef>
                <a:spcPts val="535"/>
              </a:spcBef>
              <a:buClr>
                <a:srgbClr val="3791A7"/>
              </a:buClr>
              <a:buSzPct val="68750"/>
              <a:buFont typeface="Arial MT"/>
              <a:buChar char="⚫"/>
              <a:tabLst>
                <a:tab pos="295910" algn="l"/>
              </a:tabLst>
            </a:pPr>
            <a:r>
              <a:rPr dirty="0" sz="3200">
                <a:latin typeface="Microsoft Sans Serif"/>
                <a:cs typeface="Microsoft Sans Serif"/>
              </a:rPr>
              <a:t>First,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there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is</a:t>
            </a:r>
            <a:r>
              <a:rPr dirty="0" sz="3200" spc="6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a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problem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which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is</a:t>
            </a:r>
            <a:r>
              <a:rPr dirty="0" sz="3200" spc="6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to</a:t>
            </a:r>
            <a:r>
              <a:rPr dirty="0" sz="3200" spc="60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Microsoft Sans Serif"/>
                <a:cs typeface="Microsoft Sans Serif"/>
              </a:rPr>
              <a:t>be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Times New Roman"/>
                <a:cs typeface="Times New Roman"/>
              </a:rPr>
              <a:t>	</a:t>
            </a:r>
            <a:r>
              <a:rPr dirty="0" sz="3200">
                <a:latin typeface="Microsoft Sans Serif"/>
                <a:cs typeface="Microsoft Sans Serif"/>
              </a:rPr>
              <a:t>solved,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and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then,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 b="1">
                <a:latin typeface="Arial"/>
                <a:cs typeface="Arial"/>
              </a:rPr>
              <a:t>the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b="1">
                <a:latin typeface="Arial"/>
                <a:cs typeface="Arial"/>
              </a:rPr>
              <a:t>required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-20" b="1">
                <a:latin typeface="Arial"/>
                <a:cs typeface="Arial"/>
              </a:rPr>
              <a:t>data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 spc="-20">
                <a:latin typeface="Times New Roman"/>
                <a:cs typeface="Times New Roman"/>
              </a:rPr>
              <a:t>	</a:t>
            </a:r>
            <a:r>
              <a:rPr dirty="0" sz="3200">
                <a:latin typeface="Microsoft Sans Serif"/>
                <a:cs typeface="Microsoft Sans Serif"/>
              </a:rPr>
              <a:t>(related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to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the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problem,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which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Microsoft Sans Serif"/>
                <a:cs typeface="Microsoft Sans Serif"/>
              </a:rPr>
              <a:t>is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Times New Roman"/>
                <a:cs typeface="Times New Roman"/>
              </a:rPr>
              <a:t>	</a:t>
            </a:r>
            <a:r>
              <a:rPr dirty="0" sz="3200">
                <a:latin typeface="Microsoft Sans Serif"/>
                <a:cs typeface="Microsoft Sans Serif"/>
              </a:rPr>
              <a:t>already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stored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in</a:t>
            </a:r>
            <a:r>
              <a:rPr dirty="0" sz="3200" spc="6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the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system)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 spc="-25" b="1">
                <a:latin typeface="Arial"/>
                <a:cs typeface="Arial"/>
              </a:rPr>
              <a:t>is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Times New Roman"/>
                <a:cs typeface="Times New Roman"/>
              </a:rPr>
              <a:t>	</a:t>
            </a:r>
            <a:r>
              <a:rPr dirty="0" sz="3200" b="1">
                <a:latin typeface="Arial"/>
                <a:cs typeface="Arial"/>
              </a:rPr>
              <a:t>evaluated</a:t>
            </a:r>
            <a:r>
              <a:rPr dirty="0" sz="3200" spc="-5">
                <a:latin typeface="Times New Roman"/>
                <a:cs typeface="Times New Roman"/>
              </a:rPr>
              <a:t> </a:t>
            </a:r>
            <a:r>
              <a:rPr dirty="0" sz="3200" b="1">
                <a:latin typeface="Arial"/>
                <a:cs typeface="Arial"/>
              </a:rPr>
              <a:t>and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Arial"/>
                <a:cs typeface="Arial"/>
              </a:rPr>
              <a:t>pre-</a:t>
            </a:r>
            <a:r>
              <a:rPr dirty="0" sz="3200" b="1">
                <a:latin typeface="Arial"/>
                <a:cs typeface="Arial"/>
              </a:rPr>
              <a:t>processed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Microsoft Sans Serif"/>
                <a:cs typeface="Microsoft Sans Serif"/>
              </a:rPr>
              <a:t>based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	</a:t>
            </a:r>
            <a:r>
              <a:rPr dirty="0" sz="3200">
                <a:latin typeface="Microsoft Sans Serif"/>
                <a:cs typeface="Microsoft Sans Serif"/>
              </a:rPr>
              <a:t>on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the</a:t>
            </a:r>
            <a:r>
              <a:rPr dirty="0" sz="3200" spc="7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Microsoft Sans Serif"/>
                <a:cs typeface="Microsoft Sans Serif"/>
              </a:rPr>
              <a:t>algorithm.</a:t>
            </a:r>
            <a:endParaRPr sz="3200">
              <a:latin typeface="Microsoft Sans Serif"/>
              <a:cs typeface="Microsoft Sans Serif"/>
            </a:endParaRPr>
          </a:p>
          <a:p>
            <a:pPr marL="294640" marR="204470" indent="-292100">
              <a:lnSpc>
                <a:spcPts val="3460"/>
              </a:lnSpc>
              <a:spcBef>
                <a:spcPts val="575"/>
              </a:spcBef>
              <a:buClr>
                <a:srgbClr val="3791A7"/>
              </a:buClr>
              <a:buSzPct val="68750"/>
              <a:buFont typeface="Arial MT"/>
              <a:buChar char="⚫"/>
              <a:tabLst>
                <a:tab pos="295910" algn="l"/>
              </a:tabLst>
            </a:pPr>
            <a:r>
              <a:rPr dirty="0" sz="3200">
                <a:latin typeface="Microsoft Sans Serif"/>
                <a:cs typeface="Microsoft Sans Serif"/>
              </a:rPr>
              <a:t>Algorithm</a:t>
            </a:r>
            <a:r>
              <a:rPr dirty="0" sz="3200" spc="2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selection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is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a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critical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point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Microsoft Sans Serif"/>
                <a:cs typeface="Microsoft Sans Serif"/>
              </a:rPr>
              <a:t>in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Times New Roman"/>
                <a:cs typeface="Times New Roman"/>
              </a:rPr>
              <a:t>	</a:t>
            </a:r>
            <a:r>
              <a:rPr dirty="0" sz="3200">
                <a:latin typeface="Microsoft Sans Serif"/>
                <a:cs typeface="Microsoft Sans Serif"/>
              </a:rPr>
              <a:t>supervised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Microsoft Sans Serif"/>
                <a:cs typeface="Microsoft Sans Serif"/>
              </a:rPr>
              <a:t>learning.</a:t>
            </a:r>
            <a:endParaRPr sz="3200">
              <a:latin typeface="Microsoft Sans Serif"/>
              <a:cs typeface="Microsoft Sans Serif"/>
            </a:endParaRPr>
          </a:p>
          <a:p>
            <a:pPr marL="294640" marR="5080" indent="-292100">
              <a:lnSpc>
                <a:spcPts val="3460"/>
              </a:lnSpc>
              <a:spcBef>
                <a:spcPts val="590"/>
              </a:spcBef>
              <a:buClr>
                <a:srgbClr val="3791A7"/>
              </a:buClr>
              <a:buSzPct val="68750"/>
              <a:buFont typeface="Arial MT"/>
              <a:buChar char="⚫"/>
              <a:tabLst>
                <a:tab pos="295910" algn="l"/>
              </a:tabLst>
            </a:pPr>
            <a:r>
              <a:rPr dirty="0" sz="3200">
                <a:latin typeface="Microsoft Sans Serif"/>
                <a:cs typeface="Microsoft Sans Serif"/>
              </a:rPr>
              <a:t>The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result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after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iterative</a:t>
            </a:r>
            <a:r>
              <a:rPr dirty="0" sz="3200" spc="3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training</a:t>
            </a:r>
            <a:r>
              <a:rPr dirty="0" sz="3200" spc="3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Microsoft Sans Serif"/>
                <a:cs typeface="Microsoft Sans Serif"/>
              </a:rPr>
              <a:t>rounds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	</a:t>
            </a:r>
            <a:r>
              <a:rPr dirty="0" sz="3200">
                <a:latin typeface="Microsoft Sans Serif"/>
                <a:cs typeface="Microsoft Sans Serif"/>
              </a:rPr>
              <a:t>is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a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 b="1">
                <a:latin typeface="Arial"/>
                <a:cs typeface="Arial"/>
              </a:rPr>
              <a:t>classifier</a:t>
            </a:r>
            <a:r>
              <a:rPr dirty="0" sz="3200" spc="4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for</a:t>
            </a:r>
            <a:r>
              <a:rPr dirty="0" sz="3200" spc="5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the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given</a:t>
            </a:r>
            <a:r>
              <a:rPr dirty="0" sz="3200" spc="4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Microsoft Sans Serif"/>
                <a:cs typeface="Microsoft Sans Serif"/>
              </a:rPr>
              <a:t>problem.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07311" y="991615"/>
            <a:ext cx="7280909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4.3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spc="-10"/>
              <a:t>CLASSIFICATION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/>
              <a:t>LEARNING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spc="-10"/>
              <a:t>STEPS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7200" y="1513332"/>
            <a:ext cx="9144000" cy="5801995"/>
            <a:chOff x="457200" y="1513332"/>
            <a:chExt cx="9144000" cy="58019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29711" y="1513332"/>
              <a:ext cx="4410455" cy="23728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29711" y="3886199"/>
              <a:ext cx="4410455" cy="33588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991615"/>
            <a:ext cx="7280909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4.3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spc="-10"/>
              <a:t>CLASSIFICATION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/>
              <a:t>LEARNING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spc="-10"/>
              <a:t>STEPS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832863" y="1701799"/>
            <a:ext cx="7476490" cy="4572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 b="1">
                <a:latin typeface="Arial"/>
                <a:cs typeface="Arial"/>
              </a:rPr>
              <a:t>Step-</a:t>
            </a:r>
            <a:r>
              <a:rPr dirty="0" sz="2200" b="1">
                <a:latin typeface="Arial"/>
                <a:cs typeface="Arial"/>
              </a:rPr>
              <a:t>1:</a:t>
            </a:r>
            <a:r>
              <a:rPr dirty="0" sz="2200" spc="30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Problem</a:t>
            </a:r>
            <a:r>
              <a:rPr dirty="0" sz="2200" spc="30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Arial"/>
                <a:cs typeface="Arial"/>
              </a:rPr>
              <a:t>Identification:</a:t>
            </a:r>
            <a:endParaRPr sz="2200">
              <a:latin typeface="Arial"/>
              <a:cs typeface="Arial"/>
            </a:endParaRPr>
          </a:p>
          <a:p>
            <a:pPr marL="467995" marR="97790" indent="-281940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545"/>
              <a:buFont typeface="Arial MT"/>
              <a:buChar char="⚫"/>
              <a:tabLst>
                <a:tab pos="467995" algn="l"/>
              </a:tabLst>
            </a:pPr>
            <a:r>
              <a:rPr dirty="0" sz="2200">
                <a:latin typeface="Microsoft Sans Serif"/>
                <a:cs typeface="Microsoft Sans Serif"/>
              </a:rPr>
              <a:t>Identifying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problem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is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first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step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in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supervised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learning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model.</a:t>
            </a:r>
            <a:endParaRPr sz="2200">
              <a:latin typeface="Microsoft Sans Serif"/>
              <a:cs typeface="Microsoft Sans Serif"/>
            </a:endParaRPr>
          </a:p>
          <a:p>
            <a:pPr marL="467995" marR="5080" indent="-281940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545"/>
              <a:buFont typeface="Arial MT"/>
              <a:buChar char="⚫"/>
              <a:tabLst>
                <a:tab pos="467995" algn="l"/>
              </a:tabLst>
            </a:pP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problem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needs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be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Microsoft Sans Serif"/>
                <a:cs typeface="Microsoft Sans Serif"/>
              </a:rPr>
              <a:t>well-</a:t>
            </a:r>
            <a:r>
              <a:rPr dirty="0" sz="2200">
                <a:latin typeface="Microsoft Sans Serif"/>
                <a:cs typeface="Microsoft Sans Serif"/>
              </a:rPr>
              <a:t>formed</a:t>
            </a:r>
            <a:r>
              <a:rPr dirty="0" sz="2200" spc="3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problem,i.e.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 spc="-50">
                <a:latin typeface="Microsoft Sans Serif"/>
                <a:cs typeface="Microsoft Sans Serif"/>
              </a:rPr>
              <a:t>a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problem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with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Microsoft Sans Serif"/>
                <a:cs typeface="Microsoft Sans Serif"/>
              </a:rPr>
              <a:t>well-</a:t>
            </a:r>
            <a:r>
              <a:rPr dirty="0" sz="2200">
                <a:latin typeface="Microsoft Sans Serif"/>
                <a:cs typeface="Microsoft Sans Serif"/>
              </a:rPr>
              <a:t>defined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goals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and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benefit,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which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has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 spc="-50">
                <a:latin typeface="Microsoft Sans Serif"/>
                <a:cs typeface="Microsoft Sans Serif"/>
              </a:rPr>
              <a:t>a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Microsoft Sans Serif"/>
                <a:cs typeface="Microsoft Sans Serif"/>
              </a:rPr>
              <a:t>long-</a:t>
            </a:r>
            <a:r>
              <a:rPr dirty="0" sz="2200">
                <a:latin typeface="Microsoft Sans Serif"/>
                <a:cs typeface="Microsoft Sans Serif"/>
              </a:rPr>
              <a:t>term</a:t>
            </a:r>
            <a:r>
              <a:rPr dirty="0" sz="2200" spc="6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impact.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Clr>
                <a:srgbClr val="3791A7"/>
              </a:buClr>
              <a:buFont typeface="Arial MT"/>
              <a:buChar char="⚫"/>
            </a:pP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2200" spc="-10" b="1">
                <a:latin typeface="Arial"/>
                <a:cs typeface="Arial"/>
              </a:rPr>
              <a:t>Step-</a:t>
            </a:r>
            <a:r>
              <a:rPr dirty="0" sz="2200" b="1">
                <a:latin typeface="Arial"/>
                <a:cs typeface="Arial"/>
              </a:rPr>
              <a:t>2: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Identification</a:t>
            </a:r>
            <a:r>
              <a:rPr dirty="0" sz="2200" spc="40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of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Required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Arial"/>
                <a:cs typeface="Arial"/>
              </a:rPr>
              <a:t>Data:</a:t>
            </a:r>
            <a:endParaRPr sz="2200">
              <a:latin typeface="Arial"/>
              <a:cs typeface="Arial"/>
            </a:endParaRPr>
          </a:p>
          <a:p>
            <a:pPr marL="467995" marR="111760" indent="-281940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545"/>
              <a:buFont typeface="Arial MT"/>
              <a:buChar char="⚫"/>
              <a:tabLst>
                <a:tab pos="467995" algn="l"/>
              </a:tabLst>
            </a:pPr>
            <a:r>
              <a:rPr dirty="0" sz="2200">
                <a:latin typeface="Microsoft Sans Serif"/>
                <a:cs typeface="Microsoft Sans Serif"/>
              </a:rPr>
              <a:t>On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basis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problem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identified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above,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the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required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data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set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that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precisely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represents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identified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problem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needs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be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identified/evaluated.</a:t>
            </a:r>
            <a:endParaRPr sz="2200">
              <a:latin typeface="Microsoft Sans Serif"/>
              <a:cs typeface="Microsoft Sans Serif"/>
            </a:endParaRPr>
          </a:p>
          <a:p>
            <a:pPr marL="467995" marR="299085" indent="-281940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545"/>
              <a:buFont typeface="Arial MT"/>
              <a:buChar char="⚫"/>
              <a:tabLst>
                <a:tab pos="467995" algn="l"/>
              </a:tabLst>
            </a:pPr>
            <a:r>
              <a:rPr dirty="0" sz="2200">
                <a:latin typeface="Microsoft Sans Serif"/>
                <a:cs typeface="Microsoft Sans Serif"/>
              </a:rPr>
              <a:t>For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example:</a:t>
            </a:r>
            <a:r>
              <a:rPr dirty="0" sz="2200" spc="3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If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problem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is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predict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whether</a:t>
            </a:r>
            <a:r>
              <a:rPr dirty="0" sz="2200" spc="30">
                <a:latin typeface="Times New Roman"/>
                <a:cs typeface="Times New Roman"/>
              </a:rPr>
              <a:t> </a:t>
            </a:r>
            <a:r>
              <a:rPr dirty="0" sz="2200" spc="-50">
                <a:latin typeface="Microsoft Sans Serif"/>
                <a:cs typeface="Microsoft Sans Serif"/>
              </a:rPr>
              <a:t>a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tumour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is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malignant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or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benign,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then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corresponding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patient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data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sets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related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malignant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tumour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and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benign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tumours</a:t>
            </a:r>
            <a:r>
              <a:rPr dirty="0" sz="2200" spc="4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are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be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identified.</a:t>
            </a:r>
            <a:endParaRPr sz="2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991615"/>
            <a:ext cx="7280909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4.3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spc="-10"/>
              <a:t>CLASSIFICATION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/>
              <a:t>LEARNING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spc="-10"/>
              <a:t>STEPS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832863" y="1692655"/>
            <a:ext cx="7297420" cy="474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0" b="1">
                <a:latin typeface="Arial"/>
                <a:cs typeface="Arial"/>
              </a:rPr>
              <a:t>Step-</a:t>
            </a:r>
            <a:r>
              <a:rPr dirty="0" sz="2500" b="1">
                <a:latin typeface="Arial"/>
                <a:cs typeface="Arial"/>
              </a:rPr>
              <a:t>3:</a:t>
            </a:r>
            <a:r>
              <a:rPr dirty="0" sz="2500" spc="70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Data</a:t>
            </a:r>
            <a:r>
              <a:rPr dirty="0" sz="2500" spc="65">
                <a:latin typeface="Times New Roman"/>
                <a:cs typeface="Times New Roman"/>
              </a:rPr>
              <a:t> </a:t>
            </a:r>
            <a:r>
              <a:rPr dirty="0" sz="2500" spc="-10" b="1">
                <a:latin typeface="Arial"/>
                <a:cs typeface="Arial"/>
              </a:rPr>
              <a:t>Pre-processing:</a:t>
            </a:r>
            <a:endParaRPr sz="2500">
              <a:latin typeface="Arial"/>
              <a:cs typeface="Arial"/>
            </a:endParaRPr>
          </a:p>
          <a:p>
            <a:pPr marL="295910" marR="483234" indent="-283845">
              <a:lnSpc>
                <a:spcPts val="2400"/>
              </a:lnSpc>
              <a:spcBef>
                <a:spcPts val="58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500">
                <a:latin typeface="Microsoft Sans Serif"/>
                <a:cs typeface="Microsoft Sans Serif"/>
              </a:rPr>
              <a:t>This</a:t>
            </a:r>
            <a:r>
              <a:rPr dirty="0" sz="2500" spc="-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is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related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1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cleaning/transforming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Microsoft Sans Serif"/>
                <a:cs typeface="Microsoft Sans Serif"/>
              </a:rPr>
              <a:t>the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Microsoft Sans Serif"/>
                <a:cs typeface="Microsoft Sans Serif"/>
              </a:rPr>
              <a:t>set.</a:t>
            </a:r>
            <a:endParaRPr sz="2500">
              <a:latin typeface="Microsoft Sans Serif"/>
              <a:cs typeface="Microsoft Sans Serif"/>
            </a:endParaRPr>
          </a:p>
          <a:p>
            <a:pPr marL="295910" marR="1172210" indent="-283845">
              <a:lnSpc>
                <a:spcPts val="24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500">
                <a:latin typeface="Microsoft Sans Serif"/>
                <a:cs typeface="Microsoft Sans Serif"/>
              </a:rPr>
              <a:t>This</a:t>
            </a:r>
            <a:r>
              <a:rPr dirty="0" sz="2500" spc="1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step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ensures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that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all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Microsoft Sans Serif"/>
                <a:cs typeface="Microsoft Sans Serif"/>
              </a:rPr>
              <a:t>the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unnecessary/irrelevant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elements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Microsoft Sans Serif"/>
                <a:cs typeface="Microsoft Sans Serif"/>
              </a:rPr>
              <a:t>are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removed.</a:t>
            </a:r>
            <a:endParaRPr sz="2500">
              <a:latin typeface="Microsoft Sans Serif"/>
              <a:cs typeface="Microsoft Sans Serif"/>
            </a:endParaRPr>
          </a:p>
          <a:p>
            <a:pPr marL="295910" marR="76200" indent="-283845">
              <a:lnSpc>
                <a:spcPct val="80000"/>
              </a:lnSpc>
              <a:spcBef>
                <a:spcPts val="62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pre-</a:t>
            </a:r>
            <a:r>
              <a:rPr dirty="0" sz="2500">
                <a:latin typeface="Microsoft Sans Serif"/>
                <a:cs typeface="Microsoft Sans Serif"/>
              </a:rPr>
              <a:t>processing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refers</a:t>
            </a:r>
            <a:r>
              <a:rPr dirty="0" sz="2500" spc="6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transformations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applied</a:t>
            </a:r>
            <a:r>
              <a:rPr dirty="0" sz="250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identified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before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feeding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Microsoft Sans Serif"/>
                <a:cs typeface="Microsoft Sans Serif"/>
              </a:rPr>
              <a:t>the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same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into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algorithm.</a:t>
            </a:r>
            <a:endParaRPr sz="2500">
              <a:latin typeface="Microsoft Sans Serif"/>
              <a:cs typeface="Microsoft Sans Serif"/>
            </a:endParaRPr>
          </a:p>
          <a:p>
            <a:pPr marL="295910" marR="508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500">
                <a:latin typeface="Microsoft Sans Serif"/>
                <a:cs typeface="Microsoft Sans Serif"/>
              </a:rPr>
              <a:t>Because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is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gathered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from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different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sources,</a:t>
            </a:r>
            <a:r>
              <a:rPr dirty="0" sz="2500" spc="1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it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is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usually</a:t>
            </a:r>
            <a:r>
              <a:rPr dirty="0" sz="2500" spc="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collected</a:t>
            </a:r>
            <a:r>
              <a:rPr dirty="0" sz="2500" spc="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in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</a:t>
            </a:r>
            <a:r>
              <a:rPr dirty="0" sz="2500" spc="1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raw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format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Microsoft Sans Serif"/>
                <a:cs typeface="Microsoft Sans Serif"/>
              </a:rPr>
              <a:t>and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is</a:t>
            </a:r>
            <a:r>
              <a:rPr dirty="0" sz="2500" spc="1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not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ready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for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immediate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analysis.</a:t>
            </a:r>
            <a:endParaRPr sz="2500">
              <a:latin typeface="Microsoft Sans Serif"/>
              <a:cs typeface="Microsoft Sans Serif"/>
            </a:endParaRPr>
          </a:p>
          <a:p>
            <a:pPr marL="295910" marR="108585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500">
                <a:latin typeface="Microsoft Sans Serif"/>
                <a:cs typeface="Microsoft Sans Serif"/>
              </a:rPr>
              <a:t>This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step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ensures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that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is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ready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be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Microsoft Sans Serif"/>
                <a:cs typeface="Microsoft Sans Serif"/>
              </a:rPr>
              <a:t>fed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into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machine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learning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algorithm.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991615"/>
            <a:ext cx="7280909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4.3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spc="-10"/>
              <a:t>CLASSIFICATION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/>
              <a:t>LEARNING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spc="-10"/>
              <a:t>STEPS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832863" y="1692655"/>
            <a:ext cx="7317740" cy="4978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-10" b="1">
                <a:latin typeface="Arial"/>
                <a:cs typeface="Arial"/>
              </a:rPr>
              <a:t>Step-</a:t>
            </a:r>
            <a:r>
              <a:rPr dirty="0" sz="2500" b="1">
                <a:latin typeface="Arial"/>
                <a:cs typeface="Arial"/>
              </a:rPr>
              <a:t>4: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Definition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of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 spc="-10" b="1">
                <a:latin typeface="Arial"/>
                <a:cs typeface="Arial"/>
              </a:rPr>
              <a:t>Training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Data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 spc="-20" b="1">
                <a:latin typeface="Arial"/>
                <a:cs typeface="Arial"/>
              </a:rPr>
              <a:t>Set:</a:t>
            </a:r>
            <a:endParaRPr sz="2500">
              <a:latin typeface="Arial"/>
              <a:cs typeface="Arial"/>
            </a:endParaRPr>
          </a:p>
          <a:p>
            <a:pPr marL="295910" marR="502284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500">
                <a:latin typeface="Microsoft Sans Serif"/>
                <a:cs typeface="Microsoft Sans Serif"/>
              </a:rPr>
              <a:t>Before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starting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analysis,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user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should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decide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what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kind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set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is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be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used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as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spc="-50">
                <a:latin typeface="Microsoft Sans Serif"/>
                <a:cs typeface="Microsoft Sans Serif"/>
              </a:rPr>
              <a:t>a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training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Microsoft Sans Serif"/>
                <a:cs typeface="Microsoft Sans Serif"/>
              </a:rPr>
              <a:t>set.</a:t>
            </a:r>
            <a:endParaRPr sz="2500">
              <a:latin typeface="Microsoft Sans Serif"/>
              <a:cs typeface="Microsoft Sans Serif"/>
            </a:endParaRPr>
          </a:p>
          <a:p>
            <a:pPr marL="295910" marR="30734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training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set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needs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be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actively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representative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Microsoft Sans Serif"/>
                <a:cs typeface="Microsoft Sans Serif"/>
              </a:rPr>
              <a:t>real-</a:t>
            </a:r>
            <a:r>
              <a:rPr dirty="0" sz="2500">
                <a:latin typeface="Microsoft Sans Serif"/>
                <a:cs typeface="Microsoft Sans Serif"/>
              </a:rPr>
              <a:t>world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use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given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scenario.</a:t>
            </a:r>
            <a:endParaRPr sz="2500">
              <a:latin typeface="Microsoft Sans Serif"/>
              <a:cs typeface="Microsoft Sans Serif"/>
            </a:endParaRPr>
          </a:p>
          <a:p>
            <a:pPr marL="295910" marR="508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500">
                <a:latin typeface="Microsoft Sans Serif"/>
                <a:cs typeface="Microsoft Sans Serif"/>
              </a:rPr>
              <a:t>Thus,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set</a:t>
            </a:r>
            <a:r>
              <a:rPr dirty="0" sz="2500" spc="6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input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(</a:t>
            </a:r>
            <a:r>
              <a:rPr dirty="0" sz="2500" i="1">
                <a:latin typeface="Arial"/>
                <a:cs typeface="Arial"/>
              </a:rPr>
              <a:t>X)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and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spc="-10" i="1">
                <a:latin typeface="Arial"/>
                <a:cs typeface="Arial"/>
              </a:rPr>
              <a:t>corresponding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outputs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(</a:t>
            </a:r>
            <a:r>
              <a:rPr dirty="0" sz="2500" i="1">
                <a:latin typeface="Arial"/>
                <a:cs typeface="Arial"/>
              </a:rPr>
              <a:t>Y)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is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gathered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either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from</a:t>
            </a:r>
            <a:r>
              <a:rPr dirty="0" sz="2500" spc="6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human</a:t>
            </a:r>
            <a:r>
              <a:rPr dirty="0" sz="2500" spc="65">
                <a:latin typeface="Times New Roman"/>
                <a:cs typeface="Times New Roman"/>
              </a:rPr>
              <a:t> </a:t>
            </a:r>
            <a:r>
              <a:rPr dirty="0" sz="2500" spc="-10" i="1">
                <a:latin typeface="Arial"/>
                <a:cs typeface="Arial"/>
              </a:rPr>
              <a:t>experts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or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experiments.</a:t>
            </a:r>
            <a:endParaRPr sz="2500">
              <a:latin typeface="Microsoft Sans Serif"/>
              <a:cs typeface="Microsoft Sans Serif"/>
            </a:endParaRPr>
          </a:p>
          <a:p>
            <a:pPr marL="295910" marR="9652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500" b="1">
                <a:latin typeface="Arial"/>
                <a:cs typeface="Arial"/>
              </a:rPr>
              <a:t>Example: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In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case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signature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analysis,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Microsoft Sans Serif"/>
                <a:cs typeface="Microsoft Sans Serif"/>
              </a:rPr>
              <a:t>the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training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set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might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be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single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handwritten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alphabet,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an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entire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handwritten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word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(i.e.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group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alphabets)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or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an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entire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line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handwriting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(i.e.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sentences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or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group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words).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4.3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spc="-10"/>
              <a:t>CLASSIFICATION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/>
              <a:t>LEARNING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spc="-10"/>
              <a:t>STEPS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832863" y="1493011"/>
            <a:ext cx="7430134" cy="5405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Arial"/>
                <a:cs typeface="Arial"/>
              </a:rPr>
              <a:t>Step-</a:t>
            </a:r>
            <a:r>
              <a:rPr dirty="0" sz="2000" b="1">
                <a:latin typeface="Arial"/>
                <a:cs typeface="Arial"/>
              </a:rPr>
              <a:t>5: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Algorithm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Arial"/>
                <a:cs typeface="Arial"/>
              </a:rPr>
              <a:t>Selection:</a:t>
            </a:r>
            <a:endParaRPr sz="2000">
              <a:latin typeface="Arial"/>
              <a:cs typeface="Arial"/>
            </a:endParaRPr>
          </a:p>
          <a:p>
            <a:pPr marL="295910" marR="142875" indent="-283845">
              <a:lnSpc>
                <a:spcPts val="1920"/>
              </a:lnSpc>
              <a:spcBef>
                <a:spcPts val="585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This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involves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determining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structure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learning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function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and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corresponding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learning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algorithm.</a:t>
            </a:r>
            <a:endParaRPr sz="2000">
              <a:latin typeface="Microsoft Sans Serif"/>
              <a:cs typeface="Microsoft Sans Serif"/>
            </a:endParaRPr>
          </a:p>
          <a:p>
            <a:pPr marL="295910" marR="447675" indent="-283845">
              <a:lnSpc>
                <a:spcPct val="80000"/>
              </a:lnSpc>
              <a:spcBef>
                <a:spcPts val="615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On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basis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various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parameters,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best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algorithm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for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Microsoft Sans Serif"/>
                <a:cs typeface="Microsoft Sans Serif"/>
              </a:rPr>
              <a:t>a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given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problem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is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chosen.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-10" b="1">
                <a:latin typeface="Arial"/>
                <a:cs typeface="Arial"/>
              </a:rPr>
              <a:t>Step-</a:t>
            </a:r>
            <a:r>
              <a:rPr dirty="0" sz="2000" b="1">
                <a:latin typeface="Arial"/>
                <a:cs typeface="Arial"/>
              </a:rPr>
              <a:t>6: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Arial"/>
                <a:cs typeface="Arial"/>
              </a:rPr>
              <a:t>Training:</a:t>
            </a:r>
            <a:endParaRPr sz="2000">
              <a:latin typeface="Arial"/>
              <a:cs typeface="Arial"/>
            </a:endParaRPr>
          </a:p>
          <a:p>
            <a:pPr marL="295910" marR="19939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learning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algorithm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identified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in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previous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step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is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run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on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gathered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training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set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for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further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fine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tuning.</a:t>
            </a:r>
            <a:endParaRPr sz="2000">
              <a:latin typeface="Microsoft Sans Serif"/>
              <a:cs typeface="Microsoft Sans Serif"/>
            </a:endParaRPr>
          </a:p>
          <a:p>
            <a:pPr marL="295910" marR="63881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Some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supervised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learning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algorithms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require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user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to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determine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specific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control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parameters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(which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are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given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as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inputs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to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algorithm).</a:t>
            </a:r>
            <a:endParaRPr sz="2000">
              <a:latin typeface="Microsoft Sans Serif"/>
              <a:cs typeface="Microsoft Sans Serif"/>
            </a:endParaRPr>
          </a:p>
          <a:p>
            <a:pPr algn="just" marL="294640" marR="581025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These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parameters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(inputs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given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to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algorithm)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may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also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 spc="-35">
                <a:latin typeface="Microsoft Sans Serif"/>
                <a:cs typeface="Microsoft Sans Serif"/>
              </a:rPr>
              <a:t>be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35">
                <a:latin typeface="Times New Roman"/>
                <a:cs typeface="Times New Roman"/>
              </a:rPr>
              <a:t>	</a:t>
            </a:r>
            <a:r>
              <a:rPr dirty="0" sz="2000">
                <a:latin typeface="Microsoft Sans Serif"/>
                <a:cs typeface="Microsoft Sans Serif"/>
              </a:rPr>
              <a:t>adjusted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by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optimizing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performance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on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subset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(called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35">
                <a:latin typeface="Microsoft Sans Serif"/>
                <a:cs typeface="Microsoft Sans Serif"/>
              </a:rPr>
              <a:t>as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35">
                <a:latin typeface="Times New Roman"/>
                <a:cs typeface="Times New Roman"/>
              </a:rPr>
              <a:t>	</a:t>
            </a:r>
            <a:r>
              <a:rPr dirty="0" sz="2000">
                <a:latin typeface="Microsoft Sans Serif"/>
                <a:cs typeface="Microsoft Sans Serif"/>
              </a:rPr>
              <a:t>validation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set)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training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Microsoft Sans Serif"/>
                <a:cs typeface="Microsoft Sans Serif"/>
              </a:rPr>
              <a:t>set.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0" spc="-10" b="1">
                <a:latin typeface="Arial"/>
                <a:cs typeface="Arial"/>
              </a:rPr>
              <a:t>Step-</a:t>
            </a:r>
            <a:r>
              <a:rPr dirty="0" sz="2000" b="1">
                <a:latin typeface="Arial"/>
                <a:cs typeface="Arial"/>
              </a:rPr>
              <a:t>7: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Evaluation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with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the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Arial"/>
                <a:cs typeface="Arial"/>
              </a:rPr>
              <a:t>Test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b="1">
                <a:latin typeface="Arial"/>
                <a:cs typeface="Arial"/>
              </a:rPr>
              <a:t>Data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Arial"/>
                <a:cs typeface="Arial"/>
              </a:rPr>
              <a:t>Set:</a:t>
            </a:r>
            <a:endParaRPr sz="2000">
              <a:latin typeface="Arial"/>
              <a:cs typeface="Arial"/>
            </a:endParaRPr>
          </a:p>
          <a:p>
            <a:pPr marL="295910" marR="43942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Training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data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is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run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on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algorithm,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and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its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performance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is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measured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here.</a:t>
            </a:r>
            <a:endParaRPr sz="2000">
              <a:latin typeface="Microsoft Sans Serif"/>
              <a:cs typeface="Microsoft Sans Serif"/>
            </a:endParaRPr>
          </a:p>
          <a:p>
            <a:pPr marL="295910" marR="508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If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suitable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result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is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not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obtained,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further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training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parameters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may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be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required.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4.4</a:t>
            </a:r>
            <a:r>
              <a:rPr dirty="0" sz="2700" spc="-15" b="0">
                <a:latin typeface="Times New Roman"/>
                <a:cs typeface="Times New Roman"/>
              </a:rPr>
              <a:t> </a:t>
            </a:r>
            <a:r>
              <a:rPr dirty="0" sz="2700"/>
              <a:t>COMMON</a:t>
            </a:r>
            <a:r>
              <a:rPr dirty="0" sz="2700" spc="30" b="0">
                <a:latin typeface="Times New Roman"/>
                <a:cs typeface="Times New Roman"/>
              </a:rPr>
              <a:t> </a:t>
            </a:r>
            <a:r>
              <a:rPr dirty="0" sz="2700" spc="-25"/>
              <a:t>CLASSIFICATION</a:t>
            </a:r>
            <a:r>
              <a:rPr dirty="0" sz="2700" spc="-70" b="0">
                <a:latin typeface="Times New Roman"/>
                <a:cs typeface="Times New Roman"/>
              </a:rPr>
              <a:t> </a:t>
            </a:r>
            <a:r>
              <a:rPr dirty="0" sz="2700" spc="-10"/>
              <a:t>ALGORITHMS</a:t>
            </a:r>
            <a:endParaRPr sz="27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832863" y="1473809"/>
            <a:ext cx="5903595" cy="28448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295275" indent="-292100">
              <a:lnSpc>
                <a:spcPct val="100000"/>
              </a:lnSpc>
              <a:spcBef>
                <a:spcPts val="700"/>
              </a:spcBef>
              <a:buClr>
                <a:srgbClr val="3791A7"/>
              </a:buClr>
              <a:buSzPct val="68750"/>
              <a:buFont typeface="Arial MT"/>
              <a:buChar char="⚫"/>
              <a:tabLst>
                <a:tab pos="295275" algn="l"/>
              </a:tabLst>
            </a:pPr>
            <a:r>
              <a:rPr dirty="0" sz="3200" i="1">
                <a:latin typeface="Arial"/>
                <a:cs typeface="Arial"/>
              </a:rPr>
              <a:t>k-Nearest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i="1">
                <a:latin typeface="Arial"/>
                <a:cs typeface="Arial"/>
              </a:rPr>
              <a:t>Neighbour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spc="-10" i="1">
                <a:latin typeface="Arial"/>
                <a:cs typeface="Arial"/>
              </a:rPr>
              <a:t>(kNN)</a:t>
            </a:r>
            <a:endParaRPr sz="3200">
              <a:latin typeface="Arial"/>
              <a:cs typeface="Arial"/>
            </a:endParaRPr>
          </a:p>
          <a:p>
            <a:pPr marL="295275" indent="-292100">
              <a:lnSpc>
                <a:spcPct val="100000"/>
              </a:lnSpc>
              <a:spcBef>
                <a:spcPts val="600"/>
              </a:spcBef>
              <a:buClr>
                <a:srgbClr val="3791A7"/>
              </a:buClr>
              <a:buSzPct val="68750"/>
              <a:buFont typeface="Arial MT"/>
              <a:buChar char="⚫"/>
              <a:tabLst>
                <a:tab pos="295275" algn="l"/>
              </a:tabLst>
            </a:pPr>
            <a:r>
              <a:rPr dirty="0" sz="3200">
                <a:latin typeface="Microsoft Sans Serif"/>
                <a:cs typeface="Microsoft Sans Serif"/>
              </a:rPr>
              <a:t>Random</a:t>
            </a:r>
            <a:r>
              <a:rPr dirty="0" sz="3200" spc="1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Microsoft Sans Serif"/>
                <a:cs typeface="Microsoft Sans Serif"/>
              </a:rPr>
              <a:t>forest</a:t>
            </a:r>
            <a:endParaRPr sz="3200">
              <a:latin typeface="Microsoft Sans Serif"/>
              <a:cs typeface="Microsoft Sans Serif"/>
            </a:endParaRPr>
          </a:p>
          <a:p>
            <a:pPr marL="295275" indent="-292100">
              <a:lnSpc>
                <a:spcPct val="100000"/>
              </a:lnSpc>
              <a:spcBef>
                <a:spcPts val="600"/>
              </a:spcBef>
              <a:buClr>
                <a:srgbClr val="3791A7"/>
              </a:buClr>
              <a:buSzPct val="68750"/>
              <a:buFont typeface="Arial MT"/>
              <a:buChar char="⚫"/>
              <a:tabLst>
                <a:tab pos="295275" algn="l"/>
              </a:tabLst>
            </a:pPr>
            <a:r>
              <a:rPr dirty="0" sz="3200">
                <a:latin typeface="Microsoft Sans Serif"/>
                <a:cs typeface="Microsoft Sans Serif"/>
              </a:rPr>
              <a:t>Support</a:t>
            </a:r>
            <a:r>
              <a:rPr dirty="0" sz="3200" spc="-5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Vector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Machine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Microsoft Sans Serif"/>
                <a:cs typeface="Microsoft Sans Serif"/>
              </a:rPr>
              <a:t>(SVM)</a:t>
            </a:r>
            <a:endParaRPr sz="3200">
              <a:latin typeface="Microsoft Sans Serif"/>
              <a:cs typeface="Microsoft Sans Serif"/>
            </a:endParaRPr>
          </a:p>
          <a:p>
            <a:pPr marL="295275" indent="-292100">
              <a:lnSpc>
                <a:spcPct val="100000"/>
              </a:lnSpc>
              <a:spcBef>
                <a:spcPts val="600"/>
              </a:spcBef>
              <a:buClr>
                <a:srgbClr val="3791A7"/>
              </a:buClr>
              <a:buSzPct val="68750"/>
              <a:buFont typeface="Arial MT"/>
              <a:buChar char="⚫"/>
              <a:tabLst>
                <a:tab pos="295275" algn="l"/>
              </a:tabLst>
            </a:pPr>
            <a:r>
              <a:rPr dirty="0" sz="3200">
                <a:latin typeface="Microsoft Sans Serif"/>
                <a:cs typeface="Microsoft Sans Serif"/>
              </a:rPr>
              <a:t>Decision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20">
                <a:latin typeface="Microsoft Sans Serif"/>
                <a:cs typeface="Microsoft Sans Serif"/>
              </a:rPr>
              <a:t>tree</a:t>
            </a:r>
            <a:endParaRPr sz="3200">
              <a:latin typeface="Microsoft Sans Serif"/>
              <a:cs typeface="Microsoft Sans Serif"/>
            </a:endParaRPr>
          </a:p>
          <a:p>
            <a:pPr marL="295275" indent="-292100">
              <a:lnSpc>
                <a:spcPct val="100000"/>
              </a:lnSpc>
              <a:spcBef>
                <a:spcPts val="600"/>
              </a:spcBef>
              <a:buClr>
                <a:srgbClr val="3791A7"/>
              </a:buClr>
              <a:buSzPct val="68750"/>
              <a:buFont typeface="Arial MT"/>
              <a:buChar char="⚫"/>
              <a:tabLst>
                <a:tab pos="295275" algn="l"/>
              </a:tabLst>
            </a:pPr>
            <a:r>
              <a:rPr dirty="0" sz="3200">
                <a:latin typeface="Microsoft Sans Serif"/>
                <a:cs typeface="Microsoft Sans Serif"/>
              </a:rPr>
              <a:t>Naïve</a:t>
            </a:r>
            <a:r>
              <a:rPr dirty="0" sz="3200" spc="105">
                <a:latin typeface="Times New Roman"/>
                <a:cs typeface="Times New Roman"/>
              </a:rPr>
              <a:t> </a:t>
            </a:r>
            <a:r>
              <a:rPr dirty="0" sz="3200">
                <a:latin typeface="Microsoft Sans Serif"/>
                <a:cs typeface="Microsoft Sans Serif"/>
              </a:rPr>
              <a:t>Bayes</a:t>
            </a:r>
            <a:r>
              <a:rPr dirty="0" sz="3200" spc="12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Microsoft Sans Serif"/>
                <a:cs typeface="Microsoft Sans Serif"/>
              </a:rPr>
              <a:t>classifier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4.4.1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 spc="-10"/>
              <a:t>k-</a:t>
            </a:r>
            <a:r>
              <a:rPr dirty="0"/>
              <a:t>Nearest</a:t>
            </a:r>
            <a:r>
              <a:rPr dirty="0" b="0">
                <a:latin typeface="Times New Roman"/>
                <a:cs typeface="Times New Roman"/>
              </a:rPr>
              <a:t> </a:t>
            </a:r>
            <a:r>
              <a:rPr dirty="0"/>
              <a:t>Neighbour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/>
              <a:t>(kNN)</a:t>
            </a:r>
            <a:r>
              <a:rPr dirty="0" spc="-90" b="0">
                <a:latin typeface="Times New Roman"/>
                <a:cs typeface="Times New Roman"/>
              </a:rPr>
              <a:t> </a:t>
            </a:r>
            <a:r>
              <a:rPr dirty="0" spc="-10"/>
              <a:t>Algorithm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832863" y="1470151"/>
            <a:ext cx="7319645" cy="527431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94640" marR="290830" indent="-285750">
              <a:lnSpc>
                <a:spcPct val="80000"/>
              </a:lnSpc>
              <a:spcBef>
                <a:spcPts val="745"/>
              </a:spcBef>
              <a:buClr>
                <a:srgbClr val="3791A7"/>
              </a:buClr>
              <a:buSzPct val="79629"/>
              <a:buFont typeface="Arial MT"/>
              <a:buChar char="⚫"/>
              <a:tabLst>
                <a:tab pos="295910" algn="l"/>
              </a:tabLst>
            </a:pPr>
            <a:r>
              <a:rPr dirty="0" sz="2700">
                <a:latin typeface="Microsoft Sans Serif"/>
                <a:cs typeface="Microsoft Sans Serif"/>
              </a:rPr>
              <a:t>The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kNN</a:t>
            </a:r>
            <a:r>
              <a:rPr dirty="0" sz="2700" spc="55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algorithm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is</a:t>
            </a:r>
            <a:r>
              <a:rPr dirty="0" sz="2700" spc="55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a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simple</a:t>
            </a:r>
            <a:r>
              <a:rPr dirty="0" sz="2700" spc="55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but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 spc="-10" i="1">
                <a:latin typeface="Arial"/>
                <a:cs typeface="Arial"/>
              </a:rPr>
              <a:t>extremely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	</a:t>
            </a:r>
            <a:r>
              <a:rPr dirty="0" sz="2700" i="1">
                <a:latin typeface="Arial"/>
                <a:cs typeface="Arial"/>
              </a:rPr>
              <a:t>powerful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classification</a:t>
            </a:r>
            <a:r>
              <a:rPr dirty="0" sz="2700" spc="-2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Microsoft Sans Serif"/>
                <a:cs typeface="Microsoft Sans Serif"/>
              </a:rPr>
              <a:t>algorithm.</a:t>
            </a:r>
            <a:endParaRPr sz="2700">
              <a:latin typeface="Microsoft Sans Serif"/>
              <a:cs typeface="Microsoft Sans Serif"/>
            </a:endParaRPr>
          </a:p>
          <a:p>
            <a:pPr marL="294640" marR="81915" indent="-285750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629"/>
              <a:buFont typeface="Arial MT"/>
              <a:buChar char="⚫"/>
              <a:tabLst>
                <a:tab pos="295910" algn="l"/>
              </a:tabLst>
            </a:pPr>
            <a:r>
              <a:rPr dirty="0" sz="2700">
                <a:latin typeface="Microsoft Sans Serif"/>
                <a:cs typeface="Microsoft Sans Serif"/>
              </a:rPr>
              <a:t>The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name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of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the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algorithm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originates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from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Microsoft Sans Serif"/>
                <a:cs typeface="Microsoft Sans Serif"/>
              </a:rPr>
              <a:t>the</a:t>
            </a:r>
            <a:r>
              <a:rPr dirty="0" sz="2700" spc="-25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Times New Roman"/>
                <a:cs typeface="Times New Roman"/>
              </a:rPr>
              <a:t>	</a:t>
            </a:r>
            <a:r>
              <a:rPr dirty="0" sz="2700">
                <a:latin typeface="Microsoft Sans Serif"/>
                <a:cs typeface="Microsoft Sans Serif"/>
              </a:rPr>
              <a:t>underlying</a:t>
            </a:r>
            <a:r>
              <a:rPr dirty="0" sz="2700" spc="1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philosophy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that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people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 spc="-10" i="1">
                <a:latin typeface="Arial"/>
                <a:cs typeface="Arial"/>
              </a:rPr>
              <a:t>having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	</a:t>
            </a:r>
            <a:r>
              <a:rPr dirty="0" sz="2700">
                <a:latin typeface="Microsoft Sans Serif"/>
                <a:cs typeface="Microsoft Sans Serif"/>
              </a:rPr>
              <a:t>similar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background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or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mindset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tend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to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spc="-20">
                <a:latin typeface="Microsoft Sans Serif"/>
                <a:cs typeface="Microsoft Sans Serif"/>
              </a:rPr>
              <a:t>stay</a:t>
            </a:r>
            <a:r>
              <a:rPr dirty="0" sz="2700" spc="-20">
                <a:latin typeface="Times New Roman"/>
                <a:cs typeface="Times New Roman"/>
              </a:rPr>
              <a:t> </a:t>
            </a:r>
            <a:r>
              <a:rPr dirty="0" sz="2700" spc="-20">
                <a:latin typeface="Times New Roman"/>
                <a:cs typeface="Times New Roman"/>
              </a:rPr>
              <a:t>	</a:t>
            </a:r>
            <a:r>
              <a:rPr dirty="0" sz="2700">
                <a:latin typeface="Microsoft Sans Serif"/>
                <a:cs typeface="Microsoft Sans Serif"/>
              </a:rPr>
              <a:t>close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to</a:t>
            </a:r>
            <a:r>
              <a:rPr dirty="0" sz="2700" spc="6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each</a:t>
            </a:r>
            <a:r>
              <a:rPr dirty="0" sz="2700" spc="7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Microsoft Sans Serif"/>
                <a:cs typeface="Microsoft Sans Serif"/>
              </a:rPr>
              <a:t>other.</a:t>
            </a:r>
            <a:endParaRPr sz="2700">
              <a:latin typeface="Microsoft Sans Serif"/>
              <a:cs typeface="Microsoft Sans Serif"/>
            </a:endParaRPr>
          </a:p>
          <a:p>
            <a:pPr marL="294640" marR="6350" indent="-285750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629"/>
              <a:buFont typeface="Arial MT"/>
              <a:buChar char="⚫"/>
              <a:tabLst>
                <a:tab pos="295910" algn="l"/>
              </a:tabLst>
            </a:pPr>
            <a:r>
              <a:rPr dirty="0" sz="2700">
                <a:latin typeface="Microsoft Sans Serif"/>
                <a:cs typeface="Microsoft Sans Serif"/>
              </a:rPr>
              <a:t>In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the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same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way,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as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a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part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of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the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 spc="-25" i="1">
                <a:latin typeface="Arial"/>
                <a:cs typeface="Arial"/>
              </a:rPr>
              <a:t>kNN</a:t>
            </a:r>
            <a:r>
              <a:rPr dirty="0" sz="2700" spc="-25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Times New Roman"/>
                <a:cs typeface="Times New Roman"/>
              </a:rPr>
              <a:t>	</a:t>
            </a:r>
            <a:r>
              <a:rPr dirty="0" sz="2700" i="1">
                <a:latin typeface="Arial"/>
                <a:cs typeface="Arial"/>
              </a:rPr>
              <a:t>algorithm,</a:t>
            </a:r>
            <a:r>
              <a:rPr dirty="0" sz="2700" spc="-15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the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unknown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and</a:t>
            </a:r>
            <a:r>
              <a:rPr dirty="0" sz="2700" spc="1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unlabelled</a:t>
            </a:r>
            <a:r>
              <a:rPr dirty="0" sz="2700" spc="-5">
                <a:latin typeface="Times New Roman"/>
                <a:cs typeface="Times New Roman"/>
              </a:rPr>
              <a:t> </a:t>
            </a:r>
            <a:r>
              <a:rPr dirty="0" sz="2700" spc="-20" b="1">
                <a:latin typeface="Arial"/>
                <a:cs typeface="Arial"/>
              </a:rPr>
              <a:t>data</a:t>
            </a:r>
            <a:r>
              <a:rPr dirty="0" sz="2700" spc="-20">
                <a:latin typeface="Times New Roman"/>
                <a:cs typeface="Times New Roman"/>
              </a:rPr>
              <a:t> </a:t>
            </a:r>
            <a:r>
              <a:rPr dirty="0" sz="2700" spc="-20">
                <a:latin typeface="Times New Roman"/>
                <a:cs typeface="Times New Roman"/>
              </a:rPr>
              <a:t>	</a:t>
            </a:r>
            <a:r>
              <a:rPr dirty="0" sz="2700">
                <a:latin typeface="Microsoft Sans Serif"/>
                <a:cs typeface="Microsoft Sans Serif"/>
              </a:rPr>
              <a:t>which</a:t>
            </a:r>
            <a:r>
              <a:rPr dirty="0" sz="2700" spc="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comes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for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a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prediction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problem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 spc="-25" b="1">
                <a:latin typeface="Arial"/>
                <a:cs typeface="Arial"/>
              </a:rPr>
              <a:t>is</a:t>
            </a:r>
            <a:r>
              <a:rPr dirty="0" sz="2700" spc="-25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Times New Roman"/>
                <a:cs typeface="Times New Roman"/>
              </a:rPr>
              <a:t>	</a:t>
            </a:r>
            <a:r>
              <a:rPr dirty="0" sz="2700" b="1">
                <a:latin typeface="Arial"/>
                <a:cs typeface="Arial"/>
              </a:rPr>
              <a:t>judged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on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the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basis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of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the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training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data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spc="-25" b="1">
                <a:latin typeface="Arial"/>
                <a:cs typeface="Arial"/>
              </a:rPr>
              <a:t>set</a:t>
            </a:r>
            <a:r>
              <a:rPr dirty="0" sz="2700" spc="-25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Times New Roman"/>
                <a:cs typeface="Times New Roman"/>
              </a:rPr>
              <a:t>	</a:t>
            </a:r>
            <a:r>
              <a:rPr dirty="0" sz="2700">
                <a:latin typeface="Microsoft Sans Serif"/>
                <a:cs typeface="Microsoft Sans Serif"/>
              </a:rPr>
              <a:t>elements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which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are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similar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to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the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Microsoft Sans Serif"/>
                <a:cs typeface="Microsoft Sans Serif"/>
              </a:rPr>
              <a:t>unknown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	</a:t>
            </a:r>
            <a:r>
              <a:rPr dirty="0" sz="2700" spc="-10">
                <a:latin typeface="Microsoft Sans Serif"/>
                <a:cs typeface="Microsoft Sans Serif"/>
              </a:rPr>
              <a:t>element.</a:t>
            </a:r>
            <a:endParaRPr sz="2700">
              <a:latin typeface="Microsoft Sans Serif"/>
              <a:cs typeface="Microsoft Sans Serif"/>
            </a:endParaRPr>
          </a:p>
          <a:p>
            <a:pPr algn="just" marL="294640" marR="5080" indent="-285750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629"/>
              <a:buFont typeface="Arial MT"/>
              <a:buChar char="⚫"/>
              <a:tabLst>
                <a:tab pos="295910" algn="l"/>
              </a:tabLst>
            </a:pPr>
            <a:r>
              <a:rPr dirty="0" sz="2700">
                <a:latin typeface="Microsoft Sans Serif"/>
                <a:cs typeface="Microsoft Sans Serif"/>
              </a:rPr>
              <a:t>So,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the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class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label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of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the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unknown</a:t>
            </a:r>
            <a:r>
              <a:rPr dirty="0" sz="2700" spc="60">
                <a:latin typeface="Times New Roman"/>
                <a:cs typeface="Times New Roman"/>
              </a:rPr>
              <a:t> </a:t>
            </a:r>
            <a:r>
              <a:rPr dirty="0" sz="2700" spc="-10" b="1">
                <a:latin typeface="Arial"/>
                <a:cs typeface="Arial"/>
              </a:rPr>
              <a:t>element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	</a:t>
            </a:r>
            <a:r>
              <a:rPr dirty="0" sz="2700" b="1">
                <a:latin typeface="Arial"/>
                <a:cs typeface="Arial"/>
              </a:rPr>
              <a:t>is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assigned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on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the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basis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of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the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class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spc="-10" b="1">
                <a:latin typeface="Arial"/>
                <a:cs typeface="Arial"/>
              </a:rPr>
              <a:t>labels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	</a:t>
            </a:r>
            <a:r>
              <a:rPr dirty="0" sz="2700" b="1">
                <a:latin typeface="Arial"/>
                <a:cs typeface="Arial"/>
              </a:rPr>
              <a:t>of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the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similar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training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data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set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 spc="-10" b="1">
                <a:latin typeface="Arial"/>
                <a:cs typeface="Arial"/>
              </a:rPr>
              <a:t>elements.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4.4.1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 spc="-10"/>
              <a:t>k-</a:t>
            </a:r>
            <a:r>
              <a:rPr dirty="0"/>
              <a:t>Nearest</a:t>
            </a:r>
            <a:r>
              <a:rPr dirty="0" b="0">
                <a:latin typeface="Times New Roman"/>
                <a:cs typeface="Times New Roman"/>
              </a:rPr>
              <a:t> </a:t>
            </a:r>
            <a:r>
              <a:rPr dirty="0"/>
              <a:t>Neighbour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/>
              <a:t>(kNN)</a:t>
            </a:r>
            <a:r>
              <a:rPr dirty="0" spc="-90" b="0">
                <a:latin typeface="Times New Roman"/>
                <a:cs typeface="Times New Roman"/>
              </a:rPr>
              <a:t> </a:t>
            </a:r>
            <a:r>
              <a:rPr dirty="0" spc="-10"/>
              <a:t>Algorithm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832863" y="1486915"/>
            <a:ext cx="7385050" cy="44278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lvl="3" marL="941705" indent="-92900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941705" algn="l"/>
              </a:tabLst>
            </a:pPr>
            <a:r>
              <a:rPr dirty="0" sz="2200" b="1" i="1">
                <a:latin typeface="Arial"/>
                <a:cs typeface="Arial"/>
              </a:rPr>
              <a:t>How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 b="1" i="1">
                <a:latin typeface="Arial"/>
                <a:cs typeface="Arial"/>
              </a:rPr>
              <a:t>kNN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 spc="-10" b="1" i="1">
                <a:latin typeface="Arial"/>
                <a:cs typeface="Arial"/>
              </a:rPr>
              <a:t>works?</a:t>
            </a:r>
            <a:endParaRPr sz="2200">
              <a:latin typeface="Arial"/>
              <a:cs typeface="Arial"/>
            </a:endParaRPr>
          </a:p>
          <a:p>
            <a:pPr lvl="4" marL="295910" marR="31877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545"/>
              <a:buFont typeface="Arial MT"/>
              <a:buChar char="⚫"/>
              <a:tabLst>
                <a:tab pos="295910" algn="l"/>
              </a:tabLst>
            </a:pPr>
            <a:r>
              <a:rPr dirty="0" sz="2200">
                <a:latin typeface="Microsoft Sans Serif"/>
                <a:cs typeface="Microsoft Sans Serif"/>
              </a:rPr>
              <a:t>Consider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very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simple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Student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data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set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as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depicted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in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Figure.</a:t>
            </a:r>
            <a:endParaRPr sz="2200">
              <a:latin typeface="Microsoft Sans Serif"/>
              <a:cs typeface="Microsoft Sans Serif"/>
            </a:endParaRPr>
          </a:p>
          <a:p>
            <a:pPr lvl="4" marL="295910" marR="71755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545"/>
              <a:buFont typeface="Arial MT"/>
              <a:buChar char="⚫"/>
              <a:tabLst>
                <a:tab pos="295910" algn="l"/>
              </a:tabLst>
            </a:pPr>
            <a:r>
              <a:rPr dirty="0" sz="2200">
                <a:latin typeface="Microsoft Sans Serif"/>
                <a:cs typeface="Microsoft Sans Serif"/>
              </a:rPr>
              <a:t>It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consists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15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students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studying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in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class.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Each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the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students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has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been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assigned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</a:t>
            </a:r>
            <a:r>
              <a:rPr dirty="0" sz="2200" spc="3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score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on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scale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10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on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two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performance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parameters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 spc="565">
                <a:latin typeface="Microsoft Sans Serif"/>
                <a:cs typeface="Microsoft Sans Serif"/>
              </a:rPr>
              <a:t>–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‘Aptitude’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and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‘Communication’.</a:t>
            </a:r>
            <a:endParaRPr sz="2200">
              <a:latin typeface="Microsoft Sans Serif"/>
              <a:cs typeface="Microsoft Sans Serif"/>
            </a:endParaRPr>
          </a:p>
          <a:p>
            <a:pPr lvl="4" marL="295910" marR="290195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545"/>
              <a:buFont typeface="Arial MT"/>
              <a:buChar char="⚫"/>
              <a:tabLst>
                <a:tab pos="295910" algn="l"/>
              </a:tabLst>
            </a:pPr>
            <a:r>
              <a:rPr dirty="0" sz="2200">
                <a:latin typeface="Microsoft Sans Serif"/>
                <a:cs typeface="Microsoft Sans Serif"/>
              </a:rPr>
              <a:t>A</a:t>
            </a:r>
            <a:r>
              <a:rPr dirty="0" sz="2200" spc="-1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class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value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is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assigned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each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student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based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on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the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following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criteria:</a:t>
            </a:r>
            <a:endParaRPr sz="2200">
              <a:latin typeface="Microsoft Sans Serif"/>
              <a:cs typeface="Microsoft Sans Serif"/>
            </a:endParaRPr>
          </a:p>
          <a:p>
            <a:pPr lvl="5" marL="570230" marR="510540" indent="-238125">
              <a:lnSpc>
                <a:spcPct val="80000"/>
              </a:lnSpc>
              <a:spcBef>
                <a:spcPts val="605"/>
              </a:spcBef>
              <a:buAutoNum type="arabicPeriod"/>
              <a:tabLst>
                <a:tab pos="570230" algn="l"/>
                <a:tab pos="610235" algn="l"/>
              </a:tabLst>
            </a:pPr>
            <a:r>
              <a:rPr dirty="0" sz="2000">
                <a:latin typeface="Microsoft Sans Serif"/>
                <a:cs typeface="Microsoft Sans Serif"/>
              </a:rPr>
              <a:t>	Students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having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good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communication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skills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as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well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as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50">
                <a:latin typeface="Microsoft Sans Serif"/>
                <a:cs typeface="Microsoft Sans Serif"/>
              </a:rPr>
              <a:t>a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good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level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aptitude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have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been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classified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Arial"/>
                <a:cs typeface="Arial"/>
              </a:rPr>
              <a:t>‘Leader’</a:t>
            </a:r>
            <a:endParaRPr sz="2000">
              <a:latin typeface="Arial"/>
              <a:cs typeface="Arial"/>
            </a:endParaRPr>
          </a:p>
          <a:p>
            <a:pPr lvl="5" marL="570230" marR="89535" indent="-238125">
              <a:lnSpc>
                <a:spcPct val="80000"/>
              </a:lnSpc>
              <a:spcBef>
                <a:spcPts val="600"/>
              </a:spcBef>
              <a:buAutoNum type="arabicPeriod"/>
              <a:tabLst>
                <a:tab pos="570230" algn="l"/>
                <a:tab pos="610235" algn="l"/>
              </a:tabLst>
            </a:pPr>
            <a:r>
              <a:rPr dirty="0" sz="2000">
                <a:latin typeface="Microsoft Sans Serif"/>
                <a:cs typeface="Microsoft Sans Serif"/>
              </a:rPr>
              <a:t>	Students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having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good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communication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skills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but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not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so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Microsoft Sans Serif"/>
                <a:cs typeface="Microsoft Sans Serif"/>
              </a:rPr>
              <a:t>good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level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aptitude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have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been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classified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Arial"/>
                <a:cs typeface="Arial"/>
              </a:rPr>
              <a:t>‘Speaker’</a:t>
            </a:r>
            <a:endParaRPr sz="2000">
              <a:latin typeface="Arial"/>
              <a:cs typeface="Arial"/>
            </a:endParaRPr>
          </a:p>
          <a:p>
            <a:pPr lvl="5" marL="570230" marR="5080" indent="-238125">
              <a:lnSpc>
                <a:spcPct val="80000"/>
              </a:lnSpc>
              <a:spcBef>
                <a:spcPts val="600"/>
              </a:spcBef>
              <a:buAutoNum type="arabicPeriod"/>
              <a:tabLst>
                <a:tab pos="570230" algn="l"/>
                <a:tab pos="610235" algn="l"/>
              </a:tabLst>
            </a:pPr>
            <a:r>
              <a:rPr dirty="0" sz="2000">
                <a:latin typeface="Microsoft Sans Serif"/>
                <a:cs typeface="Microsoft Sans Serif"/>
              </a:rPr>
              <a:t>	Students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having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not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so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good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communication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skill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but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Microsoft Sans Serif"/>
                <a:cs typeface="Microsoft Sans Serif"/>
              </a:rPr>
              <a:t>good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level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aptitude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have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been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classified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Arial"/>
                <a:cs typeface="Arial"/>
              </a:rPr>
              <a:t>‘Intel’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4.4.1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 spc="-10"/>
              <a:t>k-</a:t>
            </a:r>
            <a:r>
              <a:rPr dirty="0"/>
              <a:t>Nearest</a:t>
            </a:r>
            <a:r>
              <a:rPr dirty="0" b="0">
                <a:latin typeface="Times New Roman"/>
                <a:cs typeface="Times New Roman"/>
              </a:rPr>
              <a:t> </a:t>
            </a:r>
            <a:r>
              <a:rPr dirty="0"/>
              <a:t>Neighbour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/>
              <a:t>(kNN)</a:t>
            </a:r>
            <a:r>
              <a:rPr dirty="0" spc="-90" b="0">
                <a:latin typeface="Times New Roman"/>
                <a:cs typeface="Times New Roman"/>
              </a:rPr>
              <a:t> </a:t>
            </a:r>
            <a:r>
              <a:rPr dirty="0" spc="-10"/>
              <a:t>Algorithm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32863" y="1500631"/>
            <a:ext cx="469519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latin typeface="Arial"/>
                <a:cs typeface="Arial"/>
              </a:rPr>
              <a:t>4.4.1.1</a:t>
            </a:r>
            <a:r>
              <a:rPr dirty="0" sz="3200" spc="25">
                <a:latin typeface="Times New Roman"/>
                <a:cs typeface="Times New Roman"/>
              </a:rPr>
              <a:t> </a:t>
            </a:r>
            <a:r>
              <a:rPr dirty="0" sz="3200" b="1" i="1">
                <a:latin typeface="Arial"/>
                <a:cs typeface="Arial"/>
              </a:rPr>
              <a:t>How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 b="1" i="1">
                <a:latin typeface="Arial"/>
                <a:cs typeface="Arial"/>
              </a:rPr>
              <a:t>kNN</a:t>
            </a:r>
            <a:r>
              <a:rPr dirty="0" sz="3200" spc="55">
                <a:latin typeface="Times New Roman"/>
                <a:cs typeface="Times New Roman"/>
              </a:rPr>
              <a:t> </a:t>
            </a:r>
            <a:r>
              <a:rPr dirty="0" sz="3200" spc="-10" b="1" i="1">
                <a:latin typeface="Arial"/>
                <a:cs typeface="Arial"/>
              </a:rPr>
              <a:t>works?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7200" y="2101596"/>
            <a:ext cx="9144000" cy="5213985"/>
            <a:chOff x="457200" y="2101596"/>
            <a:chExt cx="9144000" cy="521398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01595" y="2101596"/>
              <a:ext cx="6544056" cy="17846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00" y="3886200"/>
              <a:ext cx="9143999" cy="34289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01595" y="3886200"/>
              <a:ext cx="6544056" cy="27294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4.4.1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 spc="-10"/>
              <a:t>k-</a:t>
            </a:r>
            <a:r>
              <a:rPr dirty="0"/>
              <a:t>Nearest</a:t>
            </a:r>
            <a:r>
              <a:rPr dirty="0" b="0">
                <a:latin typeface="Times New Roman"/>
                <a:cs typeface="Times New Roman"/>
              </a:rPr>
              <a:t> </a:t>
            </a:r>
            <a:r>
              <a:rPr dirty="0"/>
              <a:t>Neighbour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/>
              <a:t>(kNN)</a:t>
            </a:r>
            <a:r>
              <a:rPr dirty="0" spc="-90" b="0">
                <a:latin typeface="Times New Roman"/>
                <a:cs typeface="Times New Roman"/>
              </a:rPr>
              <a:t> </a:t>
            </a:r>
            <a:r>
              <a:rPr dirty="0" spc="-10"/>
              <a:t>Algorithm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832863" y="1470151"/>
            <a:ext cx="7396480" cy="4914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3" marL="1151890" indent="-1139190">
              <a:lnSpc>
                <a:spcPts val="3215"/>
              </a:lnSpc>
              <a:spcBef>
                <a:spcPts val="100"/>
              </a:spcBef>
              <a:buAutoNum type="arabicPeriod"/>
              <a:tabLst>
                <a:tab pos="1151890" algn="l"/>
              </a:tabLst>
            </a:pPr>
            <a:r>
              <a:rPr dirty="0" sz="2700" b="1" i="1">
                <a:latin typeface="Arial"/>
                <a:cs typeface="Arial"/>
              </a:rPr>
              <a:t>How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 b="1" i="1">
                <a:latin typeface="Arial"/>
                <a:cs typeface="Arial"/>
              </a:rPr>
              <a:t>kNN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 spc="-10" b="1" i="1">
                <a:latin typeface="Arial"/>
                <a:cs typeface="Arial"/>
              </a:rPr>
              <a:t>works?</a:t>
            </a:r>
            <a:endParaRPr sz="2700">
              <a:latin typeface="Arial"/>
              <a:cs typeface="Arial"/>
            </a:endParaRPr>
          </a:p>
          <a:p>
            <a:pPr lvl="4" marL="294640" marR="5080" indent="-285750">
              <a:lnSpc>
                <a:spcPct val="80000"/>
              </a:lnSpc>
              <a:spcBef>
                <a:spcPts val="620"/>
              </a:spcBef>
              <a:buClr>
                <a:srgbClr val="3791A7"/>
              </a:buClr>
              <a:buSzPct val="79629"/>
              <a:buFont typeface="Arial MT"/>
              <a:buChar char="⚫"/>
              <a:tabLst>
                <a:tab pos="295910" algn="l"/>
              </a:tabLst>
            </a:pPr>
            <a:r>
              <a:rPr dirty="0" sz="2700">
                <a:latin typeface="Microsoft Sans Serif"/>
                <a:cs typeface="Microsoft Sans Serif"/>
              </a:rPr>
              <a:t>In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the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kNN</a:t>
            </a:r>
            <a:r>
              <a:rPr dirty="0" sz="2700" spc="60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algorithm,</a:t>
            </a:r>
            <a:r>
              <a:rPr dirty="0" sz="2700" spc="55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the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class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label</a:t>
            </a:r>
            <a:r>
              <a:rPr dirty="0" sz="2700" spc="6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of</a:t>
            </a:r>
            <a:r>
              <a:rPr dirty="0" sz="2700" spc="5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the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 spc="-20">
                <a:latin typeface="Microsoft Sans Serif"/>
                <a:cs typeface="Microsoft Sans Serif"/>
              </a:rPr>
              <a:t>test</a:t>
            </a:r>
            <a:r>
              <a:rPr dirty="0" sz="2700" spc="-20">
                <a:latin typeface="Times New Roman"/>
                <a:cs typeface="Times New Roman"/>
              </a:rPr>
              <a:t> </a:t>
            </a:r>
            <a:r>
              <a:rPr dirty="0" sz="2700" spc="-20">
                <a:latin typeface="Times New Roman"/>
                <a:cs typeface="Times New Roman"/>
              </a:rPr>
              <a:t>	</a:t>
            </a:r>
            <a:r>
              <a:rPr dirty="0" sz="2700">
                <a:latin typeface="Microsoft Sans Serif"/>
                <a:cs typeface="Microsoft Sans Serif"/>
              </a:rPr>
              <a:t>data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elements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is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decided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by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the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class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label</a:t>
            </a:r>
            <a:r>
              <a:rPr dirty="0" sz="2700" spc="55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Microsoft Sans Serif"/>
                <a:cs typeface="Microsoft Sans Serif"/>
              </a:rPr>
              <a:t>of</a:t>
            </a:r>
            <a:r>
              <a:rPr dirty="0" sz="2700" spc="-25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Times New Roman"/>
                <a:cs typeface="Times New Roman"/>
              </a:rPr>
              <a:t>	</a:t>
            </a:r>
            <a:r>
              <a:rPr dirty="0" sz="2700">
                <a:latin typeface="Microsoft Sans Serif"/>
                <a:cs typeface="Microsoft Sans Serif"/>
              </a:rPr>
              <a:t>the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training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data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elements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which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Microsoft Sans Serif"/>
                <a:cs typeface="Microsoft Sans Serif"/>
              </a:rPr>
              <a:t>are</a:t>
            </a:r>
            <a:r>
              <a:rPr dirty="0" sz="2700" spc="-25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Times New Roman"/>
                <a:cs typeface="Times New Roman"/>
              </a:rPr>
              <a:t>	</a:t>
            </a:r>
            <a:r>
              <a:rPr dirty="0" sz="2700" spc="-10">
                <a:latin typeface="Microsoft Sans Serif"/>
                <a:cs typeface="Microsoft Sans Serif"/>
              </a:rPr>
              <a:t>neighbouring.</a:t>
            </a:r>
            <a:endParaRPr sz="2700">
              <a:latin typeface="Microsoft Sans Serif"/>
              <a:cs typeface="Microsoft Sans Serif"/>
            </a:endParaRPr>
          </a:p>
          <a:p>
            <a:pPr lvl="4" marL="295275" indent="-285750">
              <a:lnSpc>
                <a:spcPts val="3190"/>
              </a:lnSpc>
              <a:buClr>
                <a:srgbClr val="3791A7"/>
              </a:buClr>
              <a:buSzPct val="79629"/>
              <a:buFont typeface="Arial MT"/>
              <a:buChar char="⚫"/>
              <a:tabLst>
                <a:tab pos="295275" algn="l"/>
              </a:tabLst>
            </a:pPr>
            <a:r>
              <a:rPr dirty="0" sz="2700">
                <a:latin typeface="Microsoft Sans Serif"/>
                <a:cs typeface="Microsoft Sans Serif"/>
              </a:rPr>
              <a:t>There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are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two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Microsoft Sans Serif"/>
                <a:cs typeface="Microsoft Sans Serif"/>
              </a:rPr>
              <a:t>challenges:</a:t>
            </a:r>
            <a:endParaRPr sz="2700">
              <a:latin typeface="Microsoft Sans Serif"/>
              <a:cs typeface="Microsoft Sans Serif"/>
            </a:endParaRPr>
          </a:p>
          <a:p>
            <a:pPr lvl="5" marL="570230" marR="10160" indent="-238125">
              <a:lnSpc>
                <a:spcPct val="80000"/>
              </a:lnSpc>
              <a:spcBef>
                <a:spcPts val="615"/>
              </a:spcBef>
              <a:buAutoNum type="arabicPeriod"/>
              <a:tabLst>
                <a:tab pos="570230" algn="l"/>
                <a:tab pos="668020" algn="l"/>
              </a:tabLst>
            </a:pPr>
            <a:r>
              <a:rPr dirty="0" sz="2400">
                <a:latin typeface="Microsoft Sans Serif"/>
                <a:cs typeface="Microsoft Sans Serif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What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basis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this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similarity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or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when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can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we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say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that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two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data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elements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are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similar?</a:t>
            </a:r>
            <a:endParaRPr sz="2400">
              <a:latin typeface="Microsoft Sans Serif"/>
              <a:cs typeface="Microsoft Sans Serif"/>
            </a:endParaRPr>
          </a:p>
          <a:p>
            <a:pPr lvl="5" marL="570230" marR="6985" indent="-238125">
              <a:lnSpc>
                <a:spcPct val="80000"/>
              </a:lnSpc>
              <a:spcBef>
                <a:spcPts val="600"/>
              </a:spcBef>
              <a:buAutoNum type="arabicPeriod"/>
              <a:tabLst>
                <a:tab pos="570230" algn="l"/>
                <a:tab pos="668020" algn="l"/>
              </a:tabLst>
            </a:pPr>
            <a:r>
              <a:rPr dirty="0" sz="2400">
                <a:latin typeface="Microsoft Sans Serif"/>
                <a:cs typeface="Microsoft Sans Serif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How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many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similar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elements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should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considered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deciding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class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label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each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test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element?</a:t>
            </a:r>
            <a:endParaRPr sz="2400">
              <a:latin typeface="Microsoft Sans Serif"/>
              <a:cs typeface="Microsoft Sans Serif"/>
            </a:endParaRPr>
          </a:p>
          <a:p>
            <a:pPr lvl="4" marL="294640" marR="178435" indent="-285750">
              <a:lnSpc>
                <a:spcPct val="80000"/>
              </a:lnSpc>
              <a:spcBef>
                <a:spcPts val="585"/>
              </a:spcBef>
              <a:buClr>
                <a:srgbClr val="3791A7"/>
              </a:buClr>
              <a:buSzPct val="79629"/>
              <a:buFont typeface="Arial MT"/>
              <a:buChar char="⚫"/>
              <a:tabLst>
                <a:tab pos="295910" algn="l"/>
              </a:tabLst>
            </a:pPr>
            <a:r>
              <a:rPr dirty="0" sz="2700">
                <a:latin typeface="Microsoft Sans Serif"/>
                <a:cs typeface="Microsoft Sans Serif"/>
              </a:rPr>
              <a:t>The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most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common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approach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adopted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by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 spc="-25" i="1">
                <a:latin typeface="Arial"/>
                <a:cs typeface="Arial"/>
              </a:rPr>
              <a:t>kNN</a:t>
            </a:r>
            <a:r>
              <a:rPr dirty="0" sz="2700" spc="-25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Times New Roman"/>
                <a:cs typeface="Times New Roman"/>
              </a:rPr>
              <a:t>	</a:t>
            </a:r>
            <a:r>
              <a:rPr dirty="0" sz="2700" i="1">
                <a:latin typeface="Arial"/>
                <a:cs typeface="Arial"/>
              </a:rPr>
              <a:t>to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measure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similarity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between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two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spc="-20" i="1">
                <a:latin typeface="Arial"/>
                <a:cs typeface="Arial"/>
              </a:rPr>
              <a:t>data</a:t>
            </a:r>
            <a:r>
              <a:rPr dirty="0" sz="2700" spc="-20">
                <a:latin typeface="Times New Roman"/>
                <a:cs typeface="Times New Roman"/>
              </a:rPr>
              <a:t> </a:t>
            </a:r>
            <a:r>
              <a:rPr dirty="0" sz="2700" spc="-20">
                <a:latin typeface="Times New Roman"/>
                <a:cs typeface="Times New Roman"/>
              </a:rPr>
              <a:t>	</a:t>
            </a:r>
            <a:r>
              <a:rPr dirty="0" sz="2700" i="1">
                <a:latin typeface="Arial"/>
                <a:cs typeface="Arial"/>
              </a:rPr>
              <a:t>elements</a:t>
            </a:r>
            <a:r>
              <a:rPr dirty="0" sz="2700" spc="10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is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b="1">
                <a:latin typeface="Arial"/>
                <a:cs typeface="Arial"/>
              </a:rPr>
              <a:t>Euclidean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spc="-10" b="1">
                <a:latin typeface="Arial"/>
                <a:cs typeface="Arial"/>
              </a:rPr>
              <a:t>distance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4.4.1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 spc="-10"/>
              <a:t>k-</a:t>
            </a:r>
            <a:r>
              <a:rPr dirty="0"/>
              <a:t>Nearest</a:t>
            </a:r>
            <a:r>
              <a:rPr dirty="0" b="0">
                <a:latin typeface="Times New Roman"/>
                <a:cs typeface="Times New Roman"/>
              </a:rPr>
              <a:t> </a:t>
            </a:r>
            <a:r>
              <a:rPr dirty="0"/>
              <a:t>Neighbour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/>
              <a:t>(kNN)</a:t>
            </a:r>
            <a:r>
              <a:rPr dirty="0" spc="-90" b="0">
                <a:latin typeface="Times New Roman"/>
                <a:cs typeface="Times New Roman"/>
              </a:rPr>
              <a:t> </a:t>
            </a:r>
            <a:r>
              <a:rPr dirty="0" spc="-10"/>
              <a:t>Algorithm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820163" y="1470151"/>
            <a:ext cx="7026909" cy="1830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3" marL="1164590" indent="-1139190">
              <a:lnSpc>
                <a:spcPts val="3215"/>
              </a:lnSpc>
              <a:spcBef>
                <a:spcPts val="100"/>
              </a:spcBef>
              <a:buAutoNum type="arabicPeriod"/>
              <a:tabLst>
                <a:tab pos="1164590" algn="l"/>
              </a:tabLst>
            </a:pPr>
            <a:r>
              <a:rPr dirty="0" sz="2700" b="1" i="1">
                <a:latin typeface="Arial"/>
                <a:cs typeface="Arial"/>
              </a:rPr>
              <a:t>How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 b="1" i="1">
                <a:latin typeface="Arial"/>
                <a:cs typeface="Arial"/>
              </a:rPr>
              <a:t>kNN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 spc="-10" b="1" i="1">
                <a:latin typeface="Arial"/>
                <a:cs typeface="Arial"/>
              </a:rPr>
              <a:t>works?</a:t>
            </a:r>
            <a:endParaRPr sz="2700">
              <a:latin typeface="Arial"/>
              <a:cs typeface="Arial"/>
            </a:endParaRPr>
          </a:p>
          <a:p>
            <a:pPr lvl="4" marL="307340" marR="17780" indent="-285750">
              <a:lnSpc>
                <a:spcPct val="80000"/>
              </a:lnSpc>
              <a:spcBef>
                <a:spcPts val="620"/>
              </a:spcBef>
              <a:buClr>
                <a:srgbClr val="3791A7"/>
              </a:buClr>
              <a:buSzPct val="79629"/>
              <a:buFont typeface="Arial MT"/>
              <a:buChar char="⚫"/>
              <a:tabLst>
                <a:tab pos="308610" algn="l"/>
              </a:tabLst>
            </a:pPr>
            <a:r>
              <a:rPr dirty="0" sz="2700">
                <a:latin typeface="Microsoft Sans Serif"/>
                <a:cs typeface="Microsoft Sans Serif"/>
              </a:rPr>
              <a:t>Consider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a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very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simple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data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set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having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Microsoft Sans Serif"/>
                <a:cs typeface="Microsoft Sans Serif"/>
              </a:rPr>
              <a:t>two</a:t>
            </a:r>
            <a:r>
              <a:rPr dirty="0" sz="2700" spc="-25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Times New Roman"/>
                <a:cs typeface="Times New Roman"/>
              </a:rPr>
              <a:t>	</a:t>
            </a:r>
            <a:r>
              <a:rPr dirty="0" sz="2700">
                <a:latin typeface="Microsoft Sans Serif"/>
                <a:cs typeface="Microsoft Sans Serif"/>
              </a:rPr>
              <a:t>features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(say</a:t>
            </a:r>
            <a:r>
              <a:rPr dirty="0" sz="2700" spc="55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f</a:t>
            </a:r>
            <a:r>
              <a:rPr dirty="0" baseline="-20061" sz="2700" i="1">
                <a:latin typeface="Arial"/>
                <a:cs typeface="Arial"/>
              </a:rPr>
              <a:t>1</a:t>
            </a:r>
            <a:r>
              <a:rPr dirty="0" sz="2700" i="1">
                <a:latin typeface="Arial"/>
                <a:cs typeface="Arial"/>
              </a:rPr>
              <a:t>and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f</a:t>
            </a:r>
            <a:r>
              <a:rPr dirty="0" baseline="-20061" sz="2700" i="1">
                <a:latin typeface="Arial"/>
                <a:cs typeface="Arial"/>
              </a:rPr>
              <a:t>2</a:t>
            </a:r>
            <a:r>
              <a:rPr dirty="0" sz="2700" i="1">
                <a:latin typeface="Arial"/>
                <a:cs typeface="Arial"/>
              </a:rPr>
              <a:t>),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Euclidean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 spc="-10" i="1">
                <a:latin typeface="Arial"/>
                <a:cs typeface="Arial"/>
              </a:rPr>
              <a:t>distance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	</a:t>
            </a:r>
            <a:r>
              <a:rPr dirty="0" sz="2700" i="1">
                <a:latin typeface="Arial"/>
                <a:cs typeface="Arial"/>
              </a:rPr>
              <a:t>between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two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data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elements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d</a:t>
            </a:r>
            <a:r>
              <a:rPr dirty="0" baseline="-20061" sz="2700" i="1">
                <a:latin typeface="Arial"/>
                <a:cs typeface="Arial"/>
              </a:rPr>
              <a:t>1</a:t>
            </a:r>
            <a:r>
              <a:rPr dirty="0" sz="2700" i="1">
                <a:latin typeface="Arial"/>
                <a:cs typeface="Arial"/>
              </a:rPr>
              <a:t>and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d</a:t>
            </a:r>
            <a:r>
              <a:rPr dirty="0" baseline="-20061" sz="2700" i="1">
                <a:latin typeface="Arial"/>
                <a:cs typeface="Arial"/>
              </a:rPr>
              <a:t>2</a:t>
            </a:r>
            <a:r>
              <a:rPr dirty="0" baseline="-20061" sz="2700" spc="412">
                <a:latin typeface="Times New Roman"/>
                <a:cs typeface="Times New Roman"/>
              </a:rPr>
              <a:t> </a:t>
            </a:r>
            <a:r>
              <a:rPr dirty="0" sz="2700" i="1">
                <a:latin typeface="Arial"/>
                <a:cs typeface="Arial"/>
              </a:rPr>
              <a:t>can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 spc="-35" i="1">
                <a:latin typeface="Arial"/>
                <a:cs typeface="Arial"/>
              </a:rPr>
              <a:t>be</a:t>
            </a:r>
            <a:r>
              <a:rPr dirty="0" sz="2700" spc="-35">
                <a:latin typeface="Times New Roman"/>
                <a:cs typeface="Times New Roman"/>
              </a:rPr>
              <a:t> </a:t>
            </a:r>
            <a:r>
              <a:rPr dirty="0" sz="2700" spc="-35">
                <a:latin typeface="Times New Roman"/>
                <a:cs typeface="Times New Roman"/>
              </a:rPr>
              <a:t>	</a:t>
            </a:r>
            <a:r>
              <a:rPr dirty="0" sz="2700" i="1">
                <a:latin typeface="Arial"/>
                <a:cs typeface="Arial"/>
              </a:rPr>
              <a:t>measured</a:t>
            </a:r>
            <a:r>
              <a:rPr dirty="0" sz="2700" spc="5">
                <a:latin typeface="Times New Roman"/>
                <a:cs typeface="Times New Roman"/>
              </a:rPr>
              <a:t> </a:t>
            </a:r>
            <a:r>
              <a:rPr dirty="0" sz="2700" spc="-25" i="1">
                <a:latin typeface="Arial"/>
                <a:cs typeface="Arial"/>
              </a:rPr>
              <a:t>by</a:t>
            </a:r>
            <a:endParaRPr sz="27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7200" y="3457955"/>
            <a:ext cx="9144000" cy="3857625"/>
            <a:chOff x="457200" y="3457955"/>
            <a:chExt cx="9144000" cy="385762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58083" y="3457955"/>
              <a:ext cx="5577840" cy="4282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86327" y="4315967"/>
              <a:ext cx="4448555" cy="19812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58083" y="3886199"/>
              <a:ext cx="5577840" cy="2560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4.4.1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 spc="-10"/>
              <a:t>k-</a:t>
            </a:r>
            <a:r>
              <a:rPr dirty="0"/>
              <a:t>Nearest</a:t>
            </a:r>
            <a:r>
              <a:rPr dirty="0" b="0">
                <a:latin typeface="Times New Roman"/>
                <a:cs typeface="Times New Roman"/>
              </a:rPr>
              <a:t> </a:t>
            </a:r>
            <a:r>
              <a:rPr dirty="0"/>
              <a:t>Neighbour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/>
              <a:t>(kNN)</a:t>
            </a:r>
            <a:r>
              <a:rPr dirty="0" spc="-90" b="0">
                <a:latin typeface="Times New Roman"/>
                <a:cs typeface="Times New Roman"/>
              </a:rPr>
              <a:t> </a:t>
            </a:r>
            <a:r>
              <a:rPr dirty="0" spc="-10"/>
              <a:t>Algorithm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6195" rIns="0" bIns="0" rtlCol="0" vert="horz">
            <a:spAutoFit/>
          </a:bodyPr>
          <a:lstStyle/>
          <a:p>
            <a:pPr lvl="3" marL="1196975" indent="-1184275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1196975" algn="l"/>
              </a:tabLst>
            </a:pPr>
            <a:r>
              <a:rPr dirty="0" sz="2800" b="1" i="1">
                <a:latin typeface="Arial"/>
                <a:cs typeface="Arial"/>
              </a:rPr>
              <a:t>How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Arial"/>
                <a:cs typeface="Arial"/>
              </a:rPr>
              <a:t>kNN</a:t>
            </a:r>
            <a:r>
              <a:rPr dirty="0" sz="2800" spc="40">
                <a:latin typeface="Times New Roman"/>
                <a:cs typeface="Times New Roman"/>
              </a:rPr>
              <a:t> </a:t>
            </a:r>
            <a:r>
              <a:rPr dirty="0" sz="2800" spc="-10" b="1" i="1">
                <a:latin typeface="Arial"/>
                <a:cs typeface="Arial"/>
              </a:rPr>
              <a:t>works?</a:t>
            </a:r>
            <a:endParaRPr sz="2800">
              <a:latin typeface="Arial"/>
              <a:cs typeface="Arial"/>
            </a:endParaRPr>
          </a:p>
          <a:p>
            <a:pPr lvl="4" marL="295910" marR="497205" indent="-283845">
              <a:lnSpc>
                <a:spcPct val="80000"/>
              </a:lnSpc>
              <a:spcBef>
                <a:spcPts val="62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training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data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points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Student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data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set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considering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only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features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‘Aptitude’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and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‘Communication’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can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be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represented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dots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in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two-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dimensional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feature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space.</a:t>
            </a:r>
            <a:endParaRPr sz="2000">
              <a:latin typeface="Microsoft Sans Serif"/>
              <a:cs typeface="Microsoft Sans Serif"/>
            </a:endParaRPr>
          </a:p>
          <a:p>
            <a:pPr lvl="4" marL="295910" marR="5080" indent="-283845">
              <a:lnSpc>
                <a:spcPts val="1920"/>
              </a:lnSpc>
              <a:spcBef>
                <a:spcPts val="585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As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shown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in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figure,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training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data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points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having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Microsoft Sans Serif"/>
                <a:cs typeface="Microsoft Sans Serif"/>
              </a:rPr>
              <a:t>same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class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value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are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coming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close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to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each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other.</a:t>
            </a:r>
            <a:endParaRPr sz="2000">
              <a:latin typeface="Microsoft Sans Serif"/>
              <a:cs typeface="Microsoft Sans Serif"/>
            </a:endParaRPr>
          </a:p>
          <a:p>
            <a:pPr lvl="4" marL="295910" marR="334645" indent="-283845">
              <a:lnSpc>
                <a:spcPct val="80000"/>
              </a:lnSpc>
              <a:spcBef>
                <a:spcPts val="615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test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data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point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for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student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Josh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is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represented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as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an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asterisk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in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same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space.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75">
                <a:latin typeface="Microsoft Sans Serif"/>
                <a:cs typeface="Microsoft Sans Serif"/>
              </a:rPr>
              <a:t>To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find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out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closest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or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nearest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neighbours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test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data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point,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Euclidean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distance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of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Microsoft Sans Serif"/>
                <a:cs typeface="Microsoft Sans Serif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different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dots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need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to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be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calculated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from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asterisk.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01084" y="4223004"/>
            <a:ext cx="3127248" cy="266852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250182" y="6973313"/>
            <a:ext cx="45440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Arial"/>
                <a:cs typeface="Arial"/>
              </a:rPr>
              <a:t>2-</a:t>
            </a:r>
            <a:r>
              <a:rPr dirty="0" sz="1800" b="1">
                <a:latin typeface="Arial"/>
                <a:cs typeface="Arial"/>
              </a:rPr>
              <a:t>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representation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of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the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student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data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Arial"/>
                <a:cs typeface="Arial"/>
              </a:rPr>
              <a:t>set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4.4.1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 spc="-10"/>
              <a:t>k-</a:t>
            </a:r>
            <a:r>
              <a:rPr dirty="0"/>
              <a:t>Nearest</a:t>
            </a:r>
            <a:r>
              <a:rPr dirty="0" b="0">
                <a:latin typeface="Times New Roman"/>
                <a:cs typeface="Times New Roman"/>
              </a:rPr>
              <a:t> </a:t>
            </a:r>
            <a:r>
              <a:rPr dirty="0"/>
              <a:t>Neighbour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/>
              <a:t>(kNN)</a:t>
            </a:r>
            <a:r>
              <a:rPr dirty="0" spc="-90" b="0">
                <a:latin typeface="Times New Roman"/>
                <a:cs typeface="Times New Roman"/>
              </a:rPr>
              <a:t> </a:t>
            </a:r>
            <a:r>
              <a:rPr dirty="0" spc="-10"/>
              <a:t>Algorithm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61235" y="1304035"/>
            <a:ext cx="7419975" cy="5575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lvl="3" marL="1450975" indent="-143827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450975" algn="l"/>
              </a:tabLst>
            </a:pPr>
            <a:r>
              <a:rPr dirty="0" sz="3400" b="1" i="1">
                <a:latin typeface="Arial"/>
                <a:cs typeface="Arial"/>
              </a:rPr>
              <a:t>How</a:t>
            </a:r>
            <a:r>
              <a:rPr dirty="0" sz="3400" spc="70">
                <a:latin typeface="Times New Roman"/>
                <a:cs typeface="Times New Roman"/>
              </a:rPr>
              <a:t> </a:t>
            </a:r>
            <a:r>
              <a:rPr dirty="0" sz="3400" b="1" i="1">
                <a:latin typeface="Arial"/>
                <a:cs typeface="Arial"/>
              </a:rPr>
              <a:t>kNN</a:t>
            </a:r>
            <a:r>
              <a:rPr dirty="0" sz="3400" spc="75">
                <a:latin typeface="Times New Roman"/>
                <a:cs typeface="Times New Roman"/>
              </a:rPr>
              <a:t> </a:t>
            </a:r>
            <a:r>
              <a:rPr dirty="0" sz="3400" spc="-10" b="1" i="1">
                <a:latin typeface="Arial"/>
                <a:cs typeface="Arial"/>
              </a:rPr>
              <a:t>works?</a:t>
            </a:r>
            <a:endParaRPr sz="3400">
              <a:latin typeface="Arial"/>
              <a:cs typeface="Arial"/>
            </a:endParaRPr>
          </a:p>
          <a:p>
            <a:pPr lvl="4" marL="295910" marR="308610" indent="-283845">
              <a:lnSpc>
                <a:spcPct val="80000"/>
              </a:lnSpc>
              <a:spcBef>
                <a:spcPts val="625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500">
                <a:latin typeface="Microsoft Sans Serif"/>
                <a:cs typeface="Microsoft Sans Serif"/>
              </a:rPr>
              <a:t>Let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us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try</a:t>
            </a:r>
            <a:r>
              <a:rPr dirty="0" sz="2500" spc="8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find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answer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second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challenge,</a:t>
            </a:r>
            <a:r>
              <a:rPr dirty="0" sz="2500" spc="-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i.e.how</a:t>
            </a:r>
            <a:r>
              <a:rPr dirty="0" sz="2500" spc="-1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many</a:t>
            </a:r>
            <a:r>
              <a:rPr dirty="0" sz="2500" spc="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similar</a:t>
            </a:r>
            <a:r>
              <a:rPr dirty="0" sz="2500" spc="-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elements</a:t>
            </a:r>
            <a:r>
              <a:rPr dirty="0" sz="2500" spc="-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should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be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considered.</a:t>
            </a:r>
            <a:endParaRPr sz="2500">
              <a:latin typeface="Microsoft Sans Serif"/>
              <a:cs typeface="Microsoft Sans Serif"/>
            </a:endParaRPr>
          </a:p>
          <a:p>
            <a:pPr lvl="4" marL="295910" marR="92075" indent="-283845">
              <a:lnSpc>
                <a:spcPts val="2400"/>
              </a:lnSpc>
              <a:spcBef>
                <a:spcPts val="58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500">
                <a:latin typeface="Microsoft Sans Serif"/>
                <a:cs typeface="Microsoft Sans Serif"/>
              </a:rPr>
              <a:t>In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kNN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algorithm,</a:t>
            </a:r>
            <a:r>
              <a:rPr dirty="0" sz="2500" spc="7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the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value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‘</a:t>
            </a:r>
            <a:r>
              <a:rPr dirty="0" sz="2500" i="1">
                <a:latin typeface="Arial"/>
                <a:cs typeface="Arial"/>
              </a:rPr>
              <a:t>k’</a:t>
            </a:r>
            <a:r>
              <a:rPr dirty="0" sz="2500" spc="-8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indicates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 spc="-25" i="1">
                <a:latin typeface="Arial"/>
                <a:cs typeface="Arial"/>
              </a:rPr>
              <a:t>the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number</a:t>
            </a:r>
            <a:r>
              <a:rPr dirty="0" sz="2500" spc="70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of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neighbours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that</a:t>
            </a:r>
            <a:r>
              <a:rPr dirty="0" sz="2500" spc="70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need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to</a:t>
            </a:r>
            <a:r>
              <a:rPr dirty="0" sz="2500" spc="6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be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considered.</a:t>
            </a:r>
            <a:endParaRPr sz="2500">
              <a:latin typeface="Microsoft Sans Serif"/>
              <a:cs typeface="Microsoft Sans Serif"/>
            </a:endParaRPr>
          </a:p>
          <a:p>
            <a:pPr lvl="4" marL="295910" marR="5080" indent="-283845">
              <a:lnSpc>
                <a:spcPts val="24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500">
                <a:latin typeface="Microsoft Sans Serif"/>
                <a:cs typeface="Microsoft Sans Serif"/>
              </a:rPr>
              <a:t>For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example,</a:t>
            </a:r>
            <a:r>
              <a:rPr dirty="0" sz="2500" spc="6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if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value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k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is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3,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only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spc="-10" i="1">
                <a:latin typeface="Arial"/>
                <a:cs typeface="Arial"/>
              </a:rPr>
              <a:t>three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nearest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neighbours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or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three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training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elements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closest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test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element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are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considered.</a:t>
            </a:r>
            <a:endParaRPr sz="2500">
              <a:latin typeface="Microsoft Sans Serif"/>
              <a:cs typeface="Microsoft Sans Serif"/>
            </a:endParaRPr>
          </a:p>
          <a:p>
            <a:pPr lvl="4" marL="295910" marR="76835" indent="-283845">
              <a:lnSpc>
                <a:spcPct val="80000"/>
              </a:lnSpc>
              <a:spcBef>
                <a:spcPts val="62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500">
                <a:latin typeface="Microsoft Sans Serif"/>
                <a:cs typeface="Microsoft Sans Serif"/>
              </a:rPr>
              <a:t>Out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three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elements,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class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which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Microsoft Sans Serif"/>
                <a:cs typeface="Microsoft Sans Serif"/>
              </a:rPr>
              <a:t>is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predominant</a:t>
            </a:r>
            <a:r>
              <a:rPr dirty="0" sz="2500" spc="1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is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considered</a:t>
            </a:r>
            <a:r>
              <a:rPr dirty="0" sz="2500" spc="1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as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class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label</a:t>
            </a:r>
            <a:r>
              <a:rPr dirty="0" sz="2500" spc="1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Microsoft Sans Serif"/>
                <a:cs typeface="Microsoft Sans Serif"/>
              </a:rPr>
              <a:t>be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assigned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test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data.</a:t>
            </a:r>
            <a:endParaRPr sz="2500">
              <a:latin typeface="Microsoft Sans Serif"/>
              <a:cs typeface="Microsoft Sans Serif"/>
            </a:endParaRPr>
          </a:p>
          <a:p>
            <a:pPr lvl="4" marL="295910" marR="37465" indent="-283845">
              <a:lnSpc>
                <a:spcPts val="2400"/>
              </a:lnSpc>
              <a:spcBef>
                <a:spcPts val="58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500">
                <a:latin typeface="Microsoft Sans Serif"/>
                <a:cs typeface="Microsoft Sans Serif"/>
              </a:rPr>
              <a:t>In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case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value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k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is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1,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only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closest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training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element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is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considered.</a:t>
            </a:r>
            <a:endParaRPr sz="2500">
              <a:latin typeface="Microsoft Sans Serif"/>
              <a:cs typeface="Microsoft Sans Serif"/>
            </a:endParaRPr>
          </a:p>
          <a:p>
            <a:pPr lvl="4" marL="295910" marR="695325" indent="-283845">
              <a:lnSpc>
                <a:spcPct val="80000"/>
              </a:lnSpc>
              <a:spcBef>
                <a:spcPts val="62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class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label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that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element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is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directly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assigned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test</a:t>
            </a:r>
            <a:r>
              <a:rPr dirty="0" sz="2500" spc="7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element.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4.4.1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 spc="-10"/>
              <a:t>k-</a:t>
            </a:r>
            <a:r>
              <a:rPr dirty="0"/>
              <a:t>Nearest</a:t>
            </a:r>
            <a:r>
              <a:rPr dirty="0" b="0">
                <a:latin typeface="Times New Roman"/>
                <a:cs typeface="Times New Roman"/>
              </a:rPr>
              <a:t> </a:t>
            </a:r>
            <a:r>
              <a:rPr dirty="0"/>
              <a:t>Neighbour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/>
              <a:t>(kNN)</a:t>
            </a:r>
            <a:r>
              <a:rPr dirty="0" spc="-90" b="0">
                <a:latin typeface="Times New Roman"/>
                <a:cs typeface="Times New Roman"/>
              </a:rPr>
              <a:t> </a:t>
            </a:r>
            <a:r>
              <a:rPr dirty="0" spc="-10"/>
              <a:t>Algorithm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1743455"/>
            <a:ext cx="9144000" cy="5572125"/>
            <a:chOff x="457200" y="1743455"/>
            <a:chExt cx="9144000" cy="5572125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29455" y="1743455"/>
              <a:ext cx="5571743" cy="214274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29455" y="3886199"/>
              <a:ext cx="5571743" cy="167030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535683" y="1337563"/>
            <a:ext cx="3755390" cy="4716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8125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Arial"/>
                <a:cs typeface="Arial"/>
              </a:rPr>
              <a:t>4.4.1.1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How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kNN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-10" b="1" i="1">
                <a:latin typeface="Arial"/>
                <a:cs typeface="Arial"/>
              </a:rPr>
              <a:t>works?</a:t>
            </a:r>
            <a:endParaRPr sz="2400">
              <a:latin typeface="Arial"/>
              <a:cs typeface="Arial"/>
            </a:endParaRPr>
          </a:p>
          <a:p>
            <a:pPr marL="12700" marR="1236345" indent="141605">
              <a:lnSpc>
                <a:spcPct val="100000"/>
              </a:lnSpc>
              <a:spcBef>
                <a:spcPts val="1655"/>
              </a:spcBef>
              <a:buChar char="•"/>
              <a:tabLst>
                <a:tab pos="154305" algn="l"/>
              </a:tabLst>
            </a:pPr>
            <a:r>
              <a:rPr dirty="0" sz="1800">
                <a:latin typeface="Microsoft Sans Serif"/>
                <a:cs typeface="Microsoft Sans Serif"/>
              </a:rPr>
              <a:t>when</a:t>
            </a:r>
            <a:r>
              <a:rPr dirty="0" sz="1800" spc="6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value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of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k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spc="-25" i="1">
                <a:latin typeface="Arial"/>
                <a:cs typeface="Arial"/>
              </a:rPr>
              <a:t>is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taken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as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 b="1" i="1">
                <a:latin typeface="Arial"/>
                <a:cs typeface="Arial"/>
              </a:rPr>
              <a:t>1</a:t>
            </a:r>
            <a:r>
              <a:rPr dirty="0" sz="1800" i="1">
                <a:latin typeface="Arial"/>
                <a:cs typeface="Arial"/>
              </a:rPr>
              <a:t>,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only</a:t>
            </a:r>
            <a:r>
              <a:rPr dirty="0" sz="1800" spc="45">
                <a:latin typeface="Times New Roman"/>
                <a:cs typeface="Times New Roman"/>
              </a:rPr>
              <a:t> </a:t>
            </a:r>
            <a:r>
              <a:rPr dirty="0" sz="1800" spc="-25" i="1">
                <a:latin typeface="Arial"/>
                <a:cs typeface="Arial"/>
              </a:rPr>
              <a:t>one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training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data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point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needs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to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be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considered.</a:t>
            </a:r>
            <a:endParaRPr sz="1800">
              <a:latin typeface="Microsoft Sans Serif"/>
              <a:cs typeface="Microsoft Sans Serif"/>
            </a:endParaRPr>
          </a:p>
          <a:p>
            <a:pPr algn="just" marL="12700" marR="1290320" indent="136525">
              <a:lnSpc>
                <a:spcPct val="100000"/>
              </a:lnSpc>
              <a:buChar char="•"/>
              <a:tabLst>
                <a:tab pos="149225" algn="l"/>
              </a:tabLst>
            </a:pP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training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record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Microsoft Sans Serif"/>
                <a:cs typeface="Microsoft Sans Serif"/>
              </a:rPr>
              <a:t>for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student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Gouri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is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closest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with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a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distance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of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Microsoft Sans Serif"/>
                <a:cs typeface="Microsoft Sans Serif"/>
              </a:rPr>
              <a:t>1.118.</a:t>
            </a:r>
            <a:endParaRPr sz="1800">
              <a:latin typeface="Microsoft Sans Serif"/>
              <a:cs typeface="Microsoft Sans Serif"/>
            </a:endParaRPr>
          </a:p>
          <a:p>
            <a:pPr algn="just" marL="12700" marR="1360805" indent="141605">
              <a:lnSpc>
                <a:spcPct val="100000"/>
              </a:lnSpc>
              <a:buChar char="•"/>
              <a:tabLst>
                <a:tab pos="154305" algn="l"/>
              </a:tabLst>
            </a:pPr>
            <a:r>
              <a:rPr dirty="0" sz="1800">
                <a:latin typeface="Microsoft Sans Serif"/>
                <a:cs typeface="Microsoft Sans Serif"/>
              </a:rPr>
              <a:t>Gouri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has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class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Microsoft Sans Serif"/>
                <a:cs typeface="Microsoft Sans Serif"/>
              </a:rPr>
              <a:t>value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‘Intel’.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So,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test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Microsoft Sans Serif"/>
                <a:cs typeface="Microsoft Sans Serif"/>
              </a:rPr>
              <a:t>data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point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is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also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assigned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Microsoft Sans Serif"/>
                <a:cs typeface="Microsoft Sans Serif"/>
              </a:rPr>
              <a:t>a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class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label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value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‘Intel’.</a:t>
            </a:r>
            <a:endParaRPr sz="1800">
              <a:latin typeface="Microsoft Sans Serif"/>
              <a:cs typeface="Microsoft Sans Serif"/>
            </a:endParaRPr>
          </a:p>
          <a:p>
            <a:pPr algn="just" marL="154305" indent="-141605">
              <a:lnSpc>
                <a:spcPct val="100000"/>
              </a:lnSpc>
              <a:buChar char="•"/>
              <a:tabLst>
                <a:tab pos="154305" algn="l"/>
              </a:tabLst>
            </a:pPr>
            <a:r>
              <a:rPr dirty="0" sz="1800">
                <a:latin typeface="Microsoft Sans Serif"/>
                <a:cs typeface="Microsoft Sans Serif"/>
              </a:rPr>
              <a:t>When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Microsoft Sans Serif"/>
                <a:cs typeface="Microsoft Sans Serif"/>
              </a:rPr>
              <a:t>the</a:t>
            </a:r>
            <a:endParaRPr sz="1800">
              <a:latin typeface="Microsoft Sans Serif"/>
              <a:cs typeface="Microsoft Sans Serif"/>
            </a:endParaRPr>
          </a:p>
          <a:p>
            <a:pPr marL="12700" marR="1310640">
              <a:lnSpc>
                <a:spcPct val="100000"/>
              </a:lnSpc>
            </a:pPr>
            <a:r>
              <a:rPr dirty="0" sz="1800">
                <a:latin typeface="Microsoft Sans Serif"/>
                <a:cs typeface="Microsoft Sans Serif"/>
              </a:rPr>
              <a:t>value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of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k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is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3,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 spc="-25" i="1">
                <a:latin typeface="Arial"/>
                <a:cs typeface="Arial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closest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neighbours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25" i="1">
                <a:latin typeface="Arial"/>
                <a:cs typeface="Arial"/>
              </a:rPr>
              <a:t>of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Josh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in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training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Microsoft Sans Serif"/>
                <a:cs typeface="Microsoft Sans Serif"/>
              </a:rPr>
              <a:t>data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35683" y="6028433"/>
            <a:ext cx="224536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Microsoft Sans Serif"/>
                <a:cs typeface="Microsoft Sans Serif"/>
              </a:rPr>
              <a:t>set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are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Gouri,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Susant,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and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Bobby.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51450" y="5865365"/>
            <a:ext cx="492633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0010" indent="141605">
              <a:lnSpc>
                <a:spcPct val="100000"/>
              </a:lnSpc>
              <a:spcBef>
                <a:spcPts val="100"/>
              </a:spcBef>
              <a:buChar char="•"/>
              <a:tabLst>
                <a:tab pos="154305" algn="l"/>
              </a:tabLst>
            </a:pPr>
            <a:r>
              <a:rPr dirty="0" sz="1800">
                <a:latin typeface="Microsoft Sans Serif"/>
                <a:cs typeface="Microsoft Sans Serif"/>
              </a:rPr>
              <a:t>In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this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case,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class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value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of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Josh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is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decided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by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majority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voting.</a:t>
            </a:r>
            <a:endParaRPr sz="1800">
              <a:latin typeface="Microsoft Sans Serif"/>
              <a:cs typeface="Microsoft Sans Serif"/>
            </a:endParaRPr>
          </a:p>
          <a:p>
            <a:pPr marL="12700" marR="5080" indent="141605">
              <a:lnSpc>
                <a:spcPct val="100000"/>
              </a:lnSpc>
              <a:buChar char="•"/>
              <a:tabLst>
                <a:tab pos="154305" algn="l"/>
              </a:tabLst>
            </a:pPr>
            <a:r>
              <a:rPr dirty="0" sz="1800">
                <a:latin typeface="Microsoft Sans Serif"/>
                <a:cs typeface="Microsoft Sans Serif"/>
              </a:rPr>
              <a:t>Because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class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value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of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‘Intel’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formed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Microsoft Sans Serif"/>
                <a:cs typeface="Microsoft Sans Serif"/>
              </a:rPr>
              <a:t>by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majority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of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neighbours,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class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value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Microsoft Sans Serif"/>
                <a:cs typeface="Microsoft Sans Serif"/>
              </a:rPr>
              <a:t>of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Josh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assigned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as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‘Intel’.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4.4.1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 spc="-10"/>
              <a:t>k-</a:t>
            </a:r>
            <a:r>
              <a:rPr dirty="0"/>
              <a:t>Nearest</a:t>
            </a:r>
            <a:r>
              <a:rPr dirty="0" b="0">
                <a:latin typeface="Times New Roman"/>
                <a:cs typeface="Times New Roman"/>
              </a:rPr>
              <a:t> </a:t>
            </a:r>
            <a:r>
              <a:rPr dirty="0"/>
              <a:t>Neighbour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/>
              <a:t>(kNN)</a:t>
            </a:r>
            <a:r>
              <a:rPr dirty="0" spc="-90" b="0">
                <a:latin typeface="Times New Roman"/>
                <a:cs typeface="Times New Roman"/>
              </a:rPr>
              <a:t> </a:t>
            </a:r>
            <a:r>
              <a:rPr dirty="0" spc="-10"/>
              <a:t>Algorithm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61235" y="1323847"/>
            <a:ext cx="7471409" cy="5354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lvl="3" marL="1196975" indent="-1184275">
              <a:lnSpc>
                <a:spcPts val="3325"/>
              </a:lnSpc>
              <a:spcBef>
                <a:spcPts val="95"/>
              </a:spcBef>
              <a:buAutoNum type="arabicPeriod"/>
              <a:tabLst>
                <a:tab pos="1196975" algn="l"/>
              </a:tabLst>
            </a:pPr>
            <a:r>
              <a:rPr dirty="0" sz="2800" b="1" i="1">
                <a:latin typeface="Arial"/>
                <a:cs typeface="Arial"/>
              </a:rPr>
              <a:t>How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Arial"/>
                <a:cs typeface="Arial"/>
              </a:rPr>
              <a:t>kNN</a:t>
            </a:r>
            <a:r>
              <a:rPr dirty="0" sz="2800" spc="40">
                <a:latin typeface="Times New Roman"/>
                <a:cs typeface="Times New Roman"/>
              </a:rPr>
              <a:t> </a:t>
            </a:r>
            <a:r>
              <a:rPr dirty="0" sz="2800" spc="-10" b="1" i="1">
                <a:latin typeface="Arial"/>
                <a:cs typeface="Arial"/>
              </a:rPr>
              <a:t>works?</a:t>
            </a:r>
            <a:endParaRPr sz="2800">
              <a:latin typeface="Arial"/>
              <a:cs typeface="Arial"/>
            </a:endParaRPr>
          </a:p>
          <a:p>
            <a:pPr lvl="4" marL="294640" marR="5080" indent="-292100">
              <a:lnSpc>
                <a:spcPts val="2690"/>
              </a:lnSpc>
              <a:spcBef>
                <a:spcPts val="61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800">
                <a:latin typeface="Microsoft Sans Serif"/>
                <a:cs typeface="Microsoft Sans Serif"/>
              </a:rPr>
              <a:t>It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is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often</a:t>
            </a:r>
            <a:r>
              <a:rPr dirty="0" sz="2800" spc="30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a</a:t>
            </a:r>
            <a:r>
              <a:rPr dirty="0" sz="2800" spc="45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tricky</a:t>
            </a:r>
            <a:r>
              <a:rPr dirty="0" sz="2800" spc="30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decision</a:t>
            </a:r>
            <a:r>
              <a:rPr dirty="0" sz="2800" spc="45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to</a:t>
            </a:r>
            <a:r>
              <a:rPr dirty="0" sz="2800" spc="30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decide</a:t>
            </a:r>
            <a:r>
              <a:rPr dirty="0" sz="2800" spc="40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the</a:t>
            </a:r>
            <a:r>
              <a:rPr dirty="0" sz="2800" spc="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Microsoft Sans Serif"/>
                <a:cs typeface="Microsoft Sans Serif"/>
              </a:rPr>
              <a:t>value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	</a:t>
            </a:r>
            <a:r>
              <a:rPr dirty="0" sz="2800">
                <a:latin typeface="Microsoft Sans Serif"/>
                <a:cs typeface="Microsoft Sans Serif"/>
              </a:rPr>
              <a:t>of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i="1">
                <a:latin typeface="Arial"/>
                <a:cs typeface="Arial"/>
              </a:rPr>
              <a:t>k.</a:t>
            </a:r>
            <a:r>
              <a:rPr dirty="0" sz="2800" spc="35">
                <a:latin typeface="Times New Roman"/>
                <a:cs typeface="Times New Roman"/>
              </a:rPr>
              <a:t> </a:t>
            </a:r>
            <a:r>
              <a:rPr dirty="0" sz="2800" i="1">
                <a:latin typeface="Arial"/>
                <a:cs typeface="Arial"/>
              </a:rPr>
              <a:t>The</a:t>
            </a:r>
            <a:r>
              <a:rPr dirty="0" sz="2800" spc="60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reasons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are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as</a:t>
            </a:r>
            <a:r>
              <a:rPr dirty="0" sz="2800" spc="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Microsoft Sans Serif"/>
                <a:cs typeface="Microsoft Sans Serif"/>
              </a:rPr>
              <a:t>follows:</a:t>
            </a:r>
            <a:endParaRPr sz="2800">
              <a:latin typeface="Microsoft Sans Serif"/>
              <a:cs typeface="Microsoft Sans Serif"/>
            </a:endParaRPr>
          </a:p>
          <a:p>
            <a:pPr lvl="5" marL="568960" marR="79375" indent="-236854">
              <a:lnSpc>
                <a:spcPct val="80000"/>
              </a:lnSpc>
              <a:spcBef>
                <a:spcPts val="635"/>
              </a:spcBef>
              <a:buClr>
                <a:srgbClr val="3791A7"/>
              </a:buClr>
              <a:buFont typeface="Verdana"/>
              <a:buChar char="◦"/>
              <a:tabLst>
                <a:tab pos="570230" algn="l"/>
              </a:tabLst>
            </a:pPr>
            <a:r>
              <a:rPr dirty="0" sz="2500" b="1">
                <a:latin typeface="Arial"/>
                <a:cs typeface="Arial"/>
              </a:rPr>
              <a:t>If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the</a:t>
            </a:r>
            <a:r>
              <a:rPr dirty="0" sz="2500" spc="65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value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of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k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is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very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large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(in</a:t>
            </a:r>
            <a:r>
              <a:rPr dirty="0" sz="2500" spc="6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the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 spc="-10" i="1">
                <a:latin typeface="Arial"/>
                <a:cs typeface="Arial"/>
              </a:rPr>
              <a:t>extreme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	</a:t>
            </a:r>
            <a:r>
              <a:rPr dirty="0" sz="2500" i="1">
                <a:latin typeface="Arial"/>
                <a:cs typeface="Arial"/>
              </a:rPr>
              <a:t>case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equal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to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the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total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number</a:t>
            </a:r>
            <a:r>
              <a:rPr dirty="0" sz="2500" spc="6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records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in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Microsoft Sans Serif"/>
                <a:cs typeface="Microsoft Sans Serif"/>
              </a:rPr>
              <a:t>the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	</a:t>
            </a:r>
            <a:r>
              <a:rPr dirty="0" sz="2500">
                <a:latin typeface="Microsoft Sans Serif"/>
                <a:cs typeface="Microsoft Sans Serif"/>
              </a:rPr>
              <a:t>training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data),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class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label</a:t>
            </a:r>
            <a:r>
              <a:rPr dirty="0" sz="2500" spc="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majority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	</a:t>
            </a:r>
            <a:r>
              <a:rPr dirty="0" sz="2500">
                <a:latin typeface="Microsoft Sans Serif"/>
                <a:cs typeface="Microsoft Sans Serif"/>
              </a:rPr>
              <a:t>class</a:t>
            </a:r>
            <a:r>
              <a:rPr dirty="0" sz="2500" spc="1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training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set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will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be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assigned</a:t>
            </a:r>
            <a:r>
              <a:rPr dirty="0" sz="2500" spc="1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Microsoft Sans Serif"/>
                <a:cs typeface="Microsoft Sans Serif"/>
              </a:rPr>
              <a:t>to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	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test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regardless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class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labels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Microsoft Sans Serif"/>
                <a:cs typeface="Microsoft Sans Serif"/>
              </a:rPr>
              <a:t>the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	</a:t>
            </a:r>
            <a:r>
              <a:rPr dirty="0" sz="2500">
                <a:latin typeface="Microsoft Sans Serif"/>
                <a:cs typeface="Microsoft Sans Serif"/>
              </a:rPr>
              <a:t>neighbours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nearest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test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data.</a:t>
            </a:r>
            <a:endParaRPr sz="2500">
              <a:latin typeface="Microsoft Sans Serif"/>
              <a:cs typeface="Microsoft Sans Serif"/>
            </a:endParaRPr>
          </a:p>
          <a:p>
            <a:pPr lvl="5" marL="568960" marR="204470" indent="-236854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Font typeface="Verdana"/>
              <a:buChar char="◦"/>
              <a:tabLst>
                <a:tab pos="570230" algn="l"/>
              </a:tabLst>
            </a:pPr>
            <a:r>
              <a:rPr dirty="0" sz="2500" b="1">
                <a:latin typeface="Arial"/>
                <a:cs typeface="Arial"/>
              </a:rPr>
              <a:t>If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the</a:t>
            </a:r>
            <a:r>
              <a:rPr dirty="0" sz="2500" spc="65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value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of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k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is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very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small</a:t>
            </a:r>
            <a:r>
              <a:rPr dirty="0" sz="2500" spc="6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(in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the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spc="-10" i="1">
                <a:latin typeface="Arial"/>
                <a:cs typeface="Arial"/>
              </a:rPr>
              <a:t>extreme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	</a:t>
            </a:r>
            <a:r>
              <a:rPr dirty="0" sz="2500" i="1">
                <a:latin typeface="Arial"/>
                <a:cs typeface="Arial"/>
              </a:rPr>
              <a:t>case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equal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to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1),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the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class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value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noisy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Microsoft Sans Serif"/>
                <a:cs typeface="Microsoft Sans Serif"/>
              </a:rPr>
              <a:t>data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	</a:t>
            </a:r>
            <a:r>
              <a:rPr dirty="0" sz="2500">
                <a:latin typeface="Microsoft Sans Serif"/>
                <a:cs typeface="Microsoft Sans Serif"/>
              </a:rPr>
              <a:t>or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outlier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in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training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set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which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is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Microsoft Sans Serif"/>
                <a:cs typeface="Microsoft Sans Serif"/>
              </a:rPr>
              <a:t>the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	</a:t>
            </a:r>
            <a:r>
              <a:rPr dirty="0" sz="2500">
                <a:latin typeface="Microsoft Sans Serif"/>
                <a:cs typeface="Microsoft Sans Serif"/>
              </a:rPr>
              <a:t>nearest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neighbour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test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data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will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Microsoft Sans Serif"/>
                <a:cs typeface="Microsoft Sans Serif"/>
              </a:rPr>
              <a:t>be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	</a:t>
            </a:r>
            <a:r>
              <a:rPr dirty="0" sz="2500">
                <a:latin typeface="Microsoft Sans Serif"/>
                <a:cs typeface="Microsoft Sans Serif"/>
              </a:rPr>
              <a:t>assigned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test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data.</a:t>
            </a:r>
            <a:endParaRPr sz="2500">
              <a:latin typeface="Microsoft Sans Serif"/>
              <a:cs typeface="Microsoft Sans Serif"/>
            </a:endParaRPr>
          </a:p>
          <a:p>
            <a:pPr lvl="4" marL="295910" marR="638810" indent="-283845">
              <a:lnSpc>
                <a:spcPct val="80000"/>
              </a:lnSpc>
              <a:spcBef>
                <a:spcPts val="595"/>
              </a:spcBef>
              <a:buClr>
                <a:srgbClr val="3791A7"/>
              </a:buClr>
              <a:buSzPct val="78260"/>
              <a:buFont typeface="Arial MT"/>
              <a:buChar char="⚫"/>
              <a:tabLst>
                <a:tab pos="295910" algn="l"/>
              </a:tabLst>
            </a:pPr>
            <a:r>
              <a:rPr dirty="0" sz="2300">
                <a:latin typeface="Microsoft Sans Serif"/>
                <a:cs typeface="Microsoft Sans Serif"/>
              </a:rPr>
              <a:t>The</a:t>
            </a:r>
            <a:r>
              <a:rPr dirty="0" sz="2300" spc="10">
                <a:latin typeface="Times New Roman"/>
                <a:cs typeface="Times New Roman"/>
              </a:rPr>
              <a:t> </a:t>
            </a:r>
            <a:r>
              <a:rPr dirty="0" sz="2300">
                <a:latin typeface="Microsoft Sans Serif"/>
                <a:cs typeface="Microsoft Sans Serif"/>
              </a:rPr>
              <a:t>best</a:t>
            </a:r>
            <a:r>
              <a:rPr dirty="0" sz="2300" spc="30">
                <a:latin typeface="Times New Roman"/>
                <a:cs typeface="Times New Roman"/>
              </a:rPr>
              <a:t> </a:t>
            </a:r>
            <a:r>
              <a:rPr dirty="0" sz="2300" i="1">
                <a:latin typeface="Arial"/>
                <a:cs typeface="Arial"/>
              </a:rPr>
              <a:t>k</a:t>
            </a:r>
            <a:r>
              <a:rPr dirty="0" sz="2300" spc="50">
                <a:latin typeface="Times New Roman"/>
                <a:cs typeface="Times New Roman"/>
              </a:rPr>
              <a:t> </a:t>
            </a:r>
            <a:r>
              <a:rPr dirty="0" sz="2300" i="1">
                <a:latin typeface="Arial"/>
                <a:cs typeface="Arial"/>
              </a:rPr>
              <a:t>value</a:t>
            </a:r>
            <a:r>
              <a:rPr dirty="0" sz="2300" spc="15">
                <a:latin typeface="Times New Roman"/>
                <a:cs typeface="Times New Roman"/>
              </a:rPr>
              <a:t> </a:t>
            </a:r>
            <a:r>
              <a:rPr dirty="0" sz="2300" i="1">
                <a:latin typeface="Arial"/>
                <a:cs typeface="Arial"/>
              </a:rPr>
              <a:t>is</a:t>
            </a:r>
            <a:r>
              <a:rPr dirty="0" sz="2300" spc="50">
                <a:latin typeface="Times New Roman"/>
                <a:cs typeface="Times New Roman"/>
              </a:rPr>
              <a:t> </a:t>
            </a:r>
            <a:r>
              <a:rPr dirty="0" sz="2300" i="1">
                <a:latin typeface="Arial"/>
                <a:cs typeface="Arial"/>
              </a:rPr>
              <a:t>somewhere</a:t>
            </a:r>
            <a:r>
              <a:rPr dirty="0" sz="2300" spc="40">
                <a:latin typeface="Times New Roman"/>
                <a:cs typeface="Times New Roman"/>
              </a:rPr>
              <a:t> </a:t>
            </a:r>
            <a:r>
              <a:rPr dirty="0" sz="2300" i="1">
                <a:latin typeface="Arial"/>
                <a:cs typeface="Arial"/>
              </a:rPr>
              <a:t>between</a:t>
            </a:r>
            <a:r>
              <a:rPr dirty="0" sz="2300" spc="5">
                <a:latin typeface="Times New Roman"/>
                <a:cs typeface="Times New Roman"/>
              </a:rPr>
              <a:t> </a:t>
            </a:r>
            <a:r>
              <a:rPr dirty="0" sz="2300" i="1">
                <a:latin typeface="Arial"/>
                <a:cs typeface="Arial"/>
              </a:rPr>
              <a:t>these</a:t>
            </a:r>
            <a:r>
              <a:rPr dirty="0" sz="2300" spc="10">
                <a:latin typeface="Times New Roman"/>
                <a:cs typeface="Times New Roman"/>
              </a:rPr>
              <a:t> </a:t>
            </a:r>
            <a:r>
              <a:rPr dirty="0" sz="2300" spc="-25" i="1">
                <a:latin typeface="Arial"/>
                <a:cs typeface="Arial"/>
              </a:rPr>
              <a:t>two</a:t>
            </a:r>
            <a:r>
              <a:rPr dirty="0" sz="2300" spc="-25">
                <a:latin typeface="Times New Roman"/>
                <a:cs typeface="Times New Roman"/>
              </a:rPr>
              <a:t> </a:t>
            </a:r>
            <a:r>
              <a:rPr dirty="0" sz="2300" spc="-10" i="1">
                <a:latin typeface="Arial"/>
                <a:cs typeface="Arial"/>
              </a:rPr>
              <a:t>extremes.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4.4.1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 spc="-10"/>
              <a:t>k-</a:t>
            </a:r>
            <a:r>
              <a:rPr dirty="0"/>
              <a:t>Nearest</a:t>
            </a:r>
            <a:r>
              <a:rPr dirty="0" b="0">
                <a:latin typeface="Times New Roman"/>
                <a:cs typeface="Times New Roman"/>
              </a:rPr>
              <a:t> </a:t>
            </a:r>
            <a:r>
              <a:rPr dirty="0"/>
              <a:t>Neighbour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/>
              <a:t>(kNN)</a:t>
            </a:r>
            <a:r>
              <a:rPr dirty="0" spc="-90" b="0">
                <a:latin typeface="Times New Roman"/>
                <a:cs typeface="Times New Roman"/>
              </a:rPr>
              <a:t> </a:t>
            </a:r>
            <a:r>
              <a:rPr dirty="0" spc="-10"/>
              <a:t>Algorithm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61235" y="1323847"/>
            <a:ext cx="7377430" cy="50984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lvl="3" marL="1196975" indent="-1184275">
              <a:lnSpc>
                <a:spcPts val="3325"/>
              </a:lnSpc>
              <a:spcBef>
                <a:spcPts val="95"/>
              </a:spcBef>
              <a:buAutoNum type="arabicPeriod"/>
              <a:tabLst>
                <a:tab pos="1196975" algn="l"/>
              </a:tabLst>
            </a:pPr>
            <a:r>
              <a:rPr dirty="0" sz="2800" b="1" i="1">
                <a:latin typeface="Arial"/>
                <a:cs typeface="Arial"/>
              </a:rPr>
              <a:t>How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Arial"/>
                <a:cs typeface="Arial"/>
              </a:rPr>
              <a:t>kNN</a:t>
            </a:r>
            <a:r>
              <a:rPr dirty="0" sz="2800" spc="40">
                <a:latin typeface="Times New Roman"/>
                <a:cs typeface="Times New Roman"/>
              </a:rPr>
              <a:t> </a:t>
            </a:r>
            <a:r>
              <a:rPr dirty="0" sz="2800" spc="-10" b="1" i="1">
                <a:latin typeface="Arial"/>
                <a:cs typeface="Arial"/>
              </a:rPr>
              <a:t>works?</a:t>
            </a:r>
            <a:endParaRPr sz="2800">
              <a:latin typeface="Arial"/>
              <a:cs typeface="Arial"/>
            </a:endParaRPr>
          </a:p>
          <a:p>
            <a:pPr lvl="4" marL="294640" marR="125730" indent="-292100">
              <a:lnSpc>
                <a:spcPts val="2690"/>
              </a:lnSpc>
              <a:spcBef>
                <a:spcPts val="61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800">
                <a:latin typeface="Microsoft Sans Serif"/>
                <a:cs typeface="Microsoft Sans Serif"/>
              </a:rPr>
              <a:t>Few</a:t>
            </a:r>
            <a:r>
              <a:rPr dirty="0" sz="2800" spc="30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strategies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that</a:t>
            </a:r>
            <a:r>
              <a:rPr dirty="0" sz="2800" spc="35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can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be</a:t>
            </a:r>
            <a:r>
              <a:rPr dirty="0" sz="2800" spc="40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adopted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to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Microsoft Sans Serif"/>
                <a:cs typeface="Microsoft Sans Serif"/>
              </a:rPr>
              <a:t>arrive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	</a:t>
            </a:r>
            <a:r>
              <a:rPr dirty="0" sz="2800">
                <a:latin typeface="Microsoft Sans Serif"/>
                <a:cs typeface="Microsoft Sans Serif"/>
              </a:rPr>
              <a:t>at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a</a:t>
            </a:r>
            <a:r>
              <a:rPr dirty="0" sz="2800" spc="55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value</a:t>
            </a:r>
            <a:r>
              <a:rPr dirty="0" sz="2800" spc="60">
                <a:latin typeface="Times New Roman"/>
                <a:cs typeface="Times New Roman"/>
              </a:rPr>
              <a:t> </a:t>
            </a:r>
            <a:r>
              <a:rPr dirty="0" sz="2800">
                <a:latin typeface="Microsoft Sans Serif"/>
                <a:cs typeface="Microsoft Sans Serif"/>
              </a:rPr>
              <a:t>for</a:t>
            </a:r>
            <a:r>
              <a:rPr dirty="0" sz="2800" spc="50">
                <a:latin typeface="Times New Roman"/>
                <a:cs typeface="Times New Roman"/>
              </a:rPr>
              <a:t> </a:t>
            </a:r>
            <a:r>
              <a:rPr dirty="0" sz="2800" spc="-25" i="1">
                <a:latin typeface="Arial"/>
                <a:cs typeface="Arial"/>
              </a:rPr>
              <a:t>k.</a:t>
            </a:r>
            <a:endParaRPr sz="2800">
              <a:latin typeface="Arial"/>
              <a:cs typeface="Arial"/>
            </a:endParaRPr>
          </a:p>
          <a:p>
            <a:pPr lvl="5" marL="568960" marR="514350" indent="-236854">
              <a:lnSpc>
                <a:spcPts val="2400"/>
              </a:lnSpc>
              <a:spcBef>
                <a:spcPts val="615"/>
              </a:spcBef>
              <a:buClr>
                <a:srgbClr val="3791A7"/>
              </a:buClr>
              <a:buFont typeface="Verdana"/>
              <a:buChar char="◦"/>
              <a:tabLst>
                <a:tab pos="570230" algn="l"/>
              </a:tabLst>
            </a:pPr>
            <a:r>
              <a:rPr dirty="0" sz="2500">
                <a:latin typeface="Microsoft Sans Serif"/>
                <a:cs typeface="Microsoft Sans Serif"/>
              </a:rPr>
              <a:t>One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common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practice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is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set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k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equal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 i="1">
                <a:latin typeface="Arial"/>
                <a:cs typeface="Arial"/>
              </a:rPr>
              <a:t>to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spc="-25" i="1">
                <a:latin typeface="Arial"/>
                <a:cs typeface="Arial"/>
              </a:rPr>
              <a:t>the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	</a:t>
            </a:r>
            <a:r>
              <a:rPr dirty="0" sz="2500" b="1" i="1">
                <a:latin typeface="Arial"/>
                <a:cs typeface="Arial"/>
              </a:rPr>
              <a:t>square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root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of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the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number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of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 spc="-10" b="1">
                <a:latin typeface="Arial"/>
                <a:cs typeface="Arial"/>
              </a:rPr>
              <a:t>training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	</a:t>
            </a:r>
            <a:r>
              <a:rPr dirty="0" sz="2500" spc="-10" b="1">
                <a:latin typeface="Arial"/>
                <a:cs typeface="Arial"/>
              </a:rPr>
              <a:t>records</a:t>
            </a:r>
            <a:r>
              <a:rPr dirty="0" sz="2500" spc="-10">
                <a:latin typeface="Microsoft Sans Serif"/>
                <a:cs typeface="Microsoft Sans Serif"/>
              </a:rPr>
              <a:t>.</a:t>
            </a:r>
            <a:endParaRPr sz="2500">
              <a:latin typeface="Microsoft Sans Serif"/>
              <a:cs typeface="Microsoft Sans Serif"/>
            </a:endParaRPr>
          </a:p>
          <a:p>
            <a:pPr lvl="5" marL="568960" marR="675640" indent="-236854">
              <a:lnSpc>
                <a:spcPct val="80000"/>
              </a:lnSpc>
              <a:spcBef>
                <a:spcPts val="620"/>
              </a:spcBef>
              <a:buClr>
                <a:srgbClr val="3791A7"/>
              </a:buClr>
              <a:buFont typeface="Verdana"/>
              <a:buChar char="◦"/>
              <a:tabLst>
                <a:tab pos="570230" algn="l"/>
              </a:tabLst>
            </a:pPr>
            <a:r>
              <a:rPr dirty="0" sz="2500">
                <a:latin typeface="Microsoft Sans Serif"/>
                <a:cs typeface="Microsoft Sans Serif"/>
              </a:rPr>
              <a:t>An</a:t>
            </a:r>
            <a:r>
              <a:rPr dirty="0" sz="2500" spc="1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alternative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approach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is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test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several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 spc="-50" b="1" i="1">
                <a:latin typeface="Arial"/>
                <a:cs typeface="Arial"/>
              </a:rPr>
              <a:t>k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 spc="-50">
                <a:latin typeface="Times New Roman"/>
                <a:cs typeface="Times New Roman"/>
              </a:rPr>
              <a:t>	</a:t>
            </a:r>
            <a:r>
              <a:rPr dirty="0" sz="2500" b="1" i="1">
                <a:latin typeface="Arial"/>
                <a:cs typeface="Arial"/>
              </a:rPr>
              <a:t>values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on</a:t>
            </a:r>
            <a:r>
              <a:rPr dirty="0" sz="2500" spc="55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a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variety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of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test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data</a:t>
            </a:r>
            <a:r>
              <a:rPr dirty="0" sz="2500" spc="60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sets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spc="-25" b="1">
                <a:latin typeface="Arial"/>
                <a:cs typeface="Arial"/>
              </a:rPr>
              <a:t>and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	</a:t>
            </a:r>
            <a:r>
              <a:rPr dirty="0" sz="2500" b="1">
                <a:latin typeface="Arial"/>
                <a:cs typeface="Arial"/>
              </a:rPr>
              <a:t>choose</a:t>
            </a:r>
            <a:r>
              <a:rPr dirty="0" sz="2500" spc="5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the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one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that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delivers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the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spc="-20" b="1">
                <a:latin typeface="Arial"/>
                <a:cs typeface="Arial"/>
              </a:rPr>
              <a:t>best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	</a:t>
            </a:r>
            <a:r>
              <a:rPr dirty="0" sz="2500" spc="-10" b="1">
                <a:latin typeface="Arial"/>
                <a:cs typeface="Arial"/>
              </a:rPr>
              <a:t>performance.</a:t>
            </a:r>
            <a:endParaRPr sz="2500">
              <a:latin typeface="Arial"/>
              <a:cs typeface="Arial"/>
            </a:endParaRPr>
          </a:p>
          <a:p>
            <a:pPr lvl="5" marL="568960" marR="5080" indent="-236854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Font typeface="Verdana"/>
              <a:buChar char="◦"/>
              <a:tabLst>
                <a:tab pos="570230" algn="l"/>
              </a:tabLst>
            </a:pPr>
            <a:r>
              <a:rPr dirty="0" sz="2500">
                <a:latin typeface="Microsoft Sans Serif"/>
                <a:cs typeface="Microsoft Sans Serif"/>
              </a:rPr>
              <a:t>Another</a:t>
            </a:r>
            <a:r>
              <a:rPr dirty="0" sz="2500" spc="-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interesting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approach</a:t>
            </a:r>
            <a:r>
              <a:rPr dirty="0" sz="2500" spc="1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is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choose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 spc="-50" b="1">
                <a:latin typeface="Arial"/>
                <a:cs typeface="Arial"/>
              </a:rPr>
              <a:t>a</a:t>
            </a:r>
            <a:r>
              <a:rPr dirty="0" sz="2500" spc="-50">
                <a:latin typeface="Times New Roman"/>
                <a:cs typeface="Times New Roman"/>
              </a:rPr>
              <a:t> </a:t>
            </a:r>
            <a:r>
              <a:rPr dirty="0" sz="2500" spc="-50">
                <a:latin typeface="Times New Roman"/>
                <a:cs typeface="Times New Roman"/>
              </a:rPr>
              <a:t>	</a:t>
            </a:r>
            <a:r>
              <a:rPr dirty="0" sz="2500" b="1">
                <a:latin typeface="Arial"/>
                <a:cs typeface="Arial"/>
              </a:rPr>
              <a:t>larger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value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of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k,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but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apply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b="1" i="1">
                <a:latin typeface="Arial"/>
                <a:cs typeface="Arial"/>
              </a:rPr>
              <a:t>a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weighted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 spc="-10" b="1">
                <a:latin typeface="Arial"/>
                <a:cs typeface="Arial"/>
              </a:rPr>
              <a:t>voting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	</a:t>
            </a:r>
            <a:r>
              <a:rPr dirty="0" sz="2500" b="1">
                <a:latin typeface="Arial"/>
                <a:cs typeface="Arial"/>
              </a:rPr>
              <a:t>process</a:t>
            </a:r>
            <a:r>
              <a:rPr dirty="0" sz="2500" spc="15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in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which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the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vote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b="1">
                <a:latin typeface="Arial"/>
                <a:cs typeface="Arial"/>
              </a:rPr>
              <a:t>of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 spc="-10" b="1">
                <a:latin typeface="Arial"/>
                <a:cs typeface="Arial"/>
              </a:rPr>
              <a:t>close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	</a:t>
            </a:r>
            <a:r>
              <a:rPr dirty="0" sz="2500" b="1">
                <a:latin typeface="Arial"/>
                <a:cs typeface="Arial"/>
              </a:rPr>
              <a:t>neighbours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is</a:t>
            </a:r>
            <a:r>
              <a:rPr dirty="0" sz="2500" spc="-1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considered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more</a:t>
            </a:r>
            <a:r>
              <a:rPr dirty="0" sz="2500" spc="-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influential</a:t>
            </a:r>
            <a:r>
              <a:rPr dirty="0" sz="2500" spc="-30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Microsoft Sans Serif"/>
                <a:cs typeface="Microsoft Sans Serif"/>
              </a:rPr>
              <a:t>than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 spc="-20">
                <a:latin typeface="Times New Roman"/>
                <a:cs typeface="Times New Roman"/>
              </a:rPr>
              <a:t>	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vote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distant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neighbours.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4.4.1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 spc="-10"/>
              <a:t>k-</a:t>
            </a:r>
            <a:r>
              <a:rPr dirty="0"/>
              <a:t>Nearest</a:t>
            </a:r>
            <a:r>
              <a:rPr dirty="0" b="0">
                <a:latin typeface="Times New Roman"/>
                <a:cs typeface="Times New Roman"/>
              </a:rPr>
              <a:t> </a:t>
            </a:r>
            <a:r>
              <a:rPr dirty="0"/>
              <a:t>Neighbour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/>
              <a:t>(kNN)</a:t>
            </a:r>
            <a:r>
              <a:rPr dirty="0" spc="-90" b="0">
                <a:latin typeface="Times New Roman"/>
                <a:cs typeface="Times New Roman"/>
              </a:rPr>
              <a:t> </a:t>
            </a:r>
            <a:r>
              <a:rPr dirty="0" spc="-10"/>
              <a:t>Algorithm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61235" y="1337563"/>
            <a:ext cx="7406005" cy="4896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Arial"/>
                <a:cs typeface="Arial"/>
              </a:rPr>
              <a:t>4.4.1.2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kNN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spc="-10" b="1" i="1">
                <a:latin typeface="Arial"/>
                <a:cs typeface="Arial"/>
              </a:rPr>
              <a:t>Algorithm</a:t>
            </a:r>
            <a:endParaRPr sz="2400">
              <a:latin typeface="Arial"/>
              <a:cs typeface="Arial"/>
            </a:endParaRPr>
          </a:p>
          <a:p>
            <a:pPr marL="295910" marR="47625" indent="-283845">
              <a:lnSpc>
                <a:spcPts val="2020"/>
              </a:lnSpc>
              <a:spcBef>
                <a:spcPts val="580"/>
              </a:spcBef>
            </a:pPr>
            <a:r>
              <a:rPr dirty="0" sz="2100" b="1">
                <a:latin typeface="Arial"/>
                <a:cs typeface="Arial"/>
              </a:rPr>
              <a:t>Input: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Training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set,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test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set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(or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points),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value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of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‘</a:t>
            </a:r>
            <a:r>
              <a:rPr dirty="0" sz="2100" i="1">
                <a:latin typeface="Arial"/>
                <a:cs typeface="Arial"/>
              </a:rPr>
              <a:t>k’</a:t>
            </a:r>
            <a:r>
              <a:rPr dirty="0" sz="2100" spc="-10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(i.e.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number</a:t>
            </a:r>
            <a:r>
              <a:rPr dirty="0" sz="2100" spc="5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of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nearest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neighbours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to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be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10" i="1">
                <a:latin typeface="Arial"/>
                <a:cs typeface="Arial"/>
              </a:rPr>
              <a:t>considered)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10" b="1">
                <a:latin typeface="Arial"/>
                <a:cs typeface="Arial"/>
              </a:rPr>
              <a:t>Steps:</a:t>
            </a:r>
            <a:endParaRPr sz="2100">
              <a:latin typeface="Arial"/>
              <a:cs typeface="Arial"/>
            </a:endParaRPr>
          </a:p>
          <a:p>
            <a:pPr marL="234950">
              <a:lnSpc>
                <a:spcPct val="100000"/>
              </a:lnSpc>
              <a:spcBef>
                <a:spcPts val="95"/>
              </a:spcBef>
            </a:pPr>
            <a:r>
              <a:rPr dirty="0" sz="2100" b="1">
                <a:latin typeface="Arial"/>
                <a:cs typeface="Arial"/>
              </a:rPr>
              <a:t>Do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for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all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test</a:t>
            </a:r>
            <a:r>
              <a:rPr dirty="0" sz="2100" spc="5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data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Arial"/>
                <a:cs typeface="Arial"/>
              </a:rPr>
              <a:t>points</a:t>
            </a:r>
            <a:endParaRPr sz="2100">
              <a:latin typeface="Arial"/>
              <a:cs typeface="Arial"/>
            </a:endParaRPr>
          </a:p>
          <a:p>
            <a:pPr marL="570230" marR="238760" indent="-238125">
              <a:lnSpc>
                <a:spcPct val="79400"/>
              </a:lnSpc>
              <a:spcBef>
                <a:spcPts val="625"/>
              </a:spcBef>
              <a:buClr>
                <a:srgbClr val="3791A7"/>
              </a:buClr>
              <a:buFont typeface="Verdana"/>
              <a:buChar char="◦"/>
              <a:tabLst>
                <a:tab pos="570230" algn="l"/>
              </a:tabLst>
            </a:pPr>
            <a:r>
              <a:rPr dirty="0" sz="1900">
                <a:latin typeface="Microsoft Sans Serif"/>
                <a:cs typeface="Microsoft Sans Serif"/>
              </a:rPr>
              <a:t>Calculate</a:t>
            </a:r>
            <a:r>
              <a:rPr dirty="0" sz="1900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the</a:t>
            </a:r>
            <a:r>
              <a:rPr dirty="0" sz="1900" spc="-10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distance</a:t>
            </a:r>
            <a:r>
              <a:rPr dirty="0" sz="1900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(usually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Euclidean</a:t>
            </a:r>
            <a:r>
              <a:rPr dirty="0" sz="1900" spc="20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distance)</a:t>
            </a:r>
            <a:r>
              <a:rPr dirty="0" sz="1900" spc="5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of</a:t>
            </a:r>
            <a:r>
              <a:rPr dirty="0" sz="1900" spc="-20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the</a:t>
            </a:r>
            <a:r>
              <a:rPr dirty="0" sz="1900" spc="-5">
                <a:latin typeface="Times New Roman"/>
                <a:cs typeface="Times New Roman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test</a:t>
            </a:r>
            <a:r>
              <a:rPr dirty="0" sz="1900" spc="-20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data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point</a:t>
            </a:r>
            <a:r>
              <a:rPr dirty="0" sz="1900" spc="30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from</a:t>
            </a:r>
            <a:r>
              <a:rPr dirty="0" sz="19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different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training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points.</a:t>
            </a:r>
            <a:endParaRPr sz="2100">
              <a:latin typeface="Microsoft Sans Serif"/>
              <a:cs typeface="Microsoft Sans Serif"/>
            </a:endParaRPr>
          </a:p>
          <a:p>
            <a:pPr marL="568960" marR="106680" indent="-236854">
              <a:lnSpc>
                <a:spcPts val="2020"/>
              </a:lnSpc>
              <a:spcBef>
                <a:spcPts val="580"/>
              </a:spcBef>
              <a:buClr>
                <a:srgbClr val="3791A7"/>
              </a:buClr>
              <a:buFont typeface="Verdana"/>
              <a:buChar char="◦"/>
              <a:tabLst>
                <a:tab pos="570230" algn="l"/>
              </a:tabLst>
            </a:pPr>
            <a:r>
              <a:rPr dirty="0" sz="2100">
                <a:latin typeface="Microsoft Sans Serif"/>
                <a:cs typeface="Microsoft Sans Serif"/>
              </a:rPr>
              <a:t>Find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closest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‘</a:t>
            </a:r>
            <a:r>
              <a:rPr dirty="0" sz="2100" i="1">
                <a:latin typeface="Arial"/>
                <a:cs typeface="Arial"/>
              </a:rPr>
              <a:t>k’</a:t>
            </a:r>
            <a:r>
              <a:rPr dirty="0" sz="2100" spc="-8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training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data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points,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i.e.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training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20" i="1">
                <a:latin typeface="Arial"/>
                <a:cs typeface="Arial"/>
              </a:rPr>
              <a:t>data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Times New Roman"/>
                <a:cs typeface="Times New Roman"/>
              </a:rPr>
              <a:t>	</a:t>
            </a:r>
            <a:r>
              <a:rPr dirty="0" sz="2100" i="1">
                <a:latin typeface="Arial"/>
                <a:cs typeface="Arial"/>
              </a:rPr>
              <a:t>points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whose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distances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are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least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from</a:t>
            </a:r>
            <a:r>
              <a:rPr dirty="0" sz="2100" spc="5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test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point.</a:t>
            </a:r>
            <a:endParaRPr sz="2100">
              <a:latin typeface="Microsoft Sans Serif"/>
              <a:cs typeface="Microsoft Sans Serif"/>
            </a:endParaRPr>
          </a:p>
          <a:p>
            <a:pPr marL="384175">
              <a:lnSpc>
                <a:spcPct val="100000"/>
              </a:lnSpc>
              <a:spcBef>
                <a:spcPts val="105"/>
              </a:spcBef>
            </a:pPr>
            <a:r>
              <a:rPr dirty="0" sz="2100" b="1">
                <a:latin typeface="Arial"/>
                <a:cs typeface="Arial"/>
              </a:rPr>
              <a:t>If</a:t>
            </a:r>
            <a:r>
              <a:rPr dirty="0" sz="2100" spc="50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k</a:t>
            </a:r>
            <a:r>
              <a:rPr dirty="0" sz="2100" spc="50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=</a:t>
            </a:r>
            <a:r>
              <a:rPr dirty="0" sz="2100" spc="55">
                <a:latin typeface="Times New Roman"/>
                <a:cs typeface="Times New Roman"/>
              </a:rPr>
              <a:t> </a:t>
            </a:r>
            <a:r>
              <a:rPr dirty="0" sz="2100" spc="-50" b="1" i="1">
                <a:latin typeface="Arial"/>
                <a:cs typeface="Arial"/>
              </a:rPr>
              <a:t>1</a:t>
            </a:r>
            <a:endParaRPr sz="2100">
              <a:latin typeface="Arial"/>
              <a:cs typeface="Arial"/>
            </a:endParaRPr>
          </a:p>
          <a:p>
            <a:pPr marL="570230" marR="5080" indent="-238125">
              <a:lnSpc>
                <a:spcPct val="80000"/>
              </a:lnSpc>
              <a:spcBef>
                <a:spcPts val="610"/>
              </a:spcBef>
              <a:buClr>
                <a:srgbClr val="3791A7"/>
              </a:buClr>
              <a:buFont typeface="Verdana"/>
              <a:buChar char="◦"/>
              <a:tabLst>
                <a:tab pos="570230" algn="l"/>
              </a:tabLst>
            </a:pPr>
            <a:r>
              <a:rPr dirty="0" sz="1900" b="1">
                <a:latin typeface="Arial"/>
                <a:cs typeface="Arial"/>
              </a:rPr>
              <a:t>Then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 b="1">
                <a:latin typeface="Arial"/>
                <a:cs typeface="Arial"/>
              </a:rPr>
              <a:t>assign</a:t>
            </a:r>
            <a:r>
              <a:rPr dirty="0" sz="1900" spc="40">
                <a:latin typeface="Times New Roman"/>
                <a:cs typeface="Times New Roman"/>
              </a:rPr>
              <a:t> </a:t>
            </a:r>
            <a:r>
              <a:rPr dirty="0" sz="1900" b="1">
                <a:latin typeface="Arial"/>
                <a:cs typeface="Arial"/>
              </a:rPr>
              <a:t>class</a:t>
            </a:r>
            <a:r>
              <a:rPr dirty="0" sz="1900" spc="30">
                <a:latin typeface="Times New Roman"/>
                <a:cs typeface="Times New Roman"/>
              </a:rPr>
              <a:t> </a:t>
            </a:r>
            <a:r>
              <a:rPr dirty="0" sz="1900" b="1">
                <a:latin typeface="Arial"/>
                <a:cs typeface="Arial"/>
              </a:rPr>
              <a:t>label</a:t>
            </a:r>
            <a:r>
              <a:rPr dirty="0" sz="1900" spc="35">
                <a:latin typeface="Times New Roman"/>
                <a:cs typeface="Times New Roman"/>
              </a:rPr>
              <a:t> </a:t>
            </a:r>
            <a:r>
              <a:rPr dirty="0" sz="1900" b="1">
                <a:latin typeface="Arial"/>
                <a:cs typeface="Arial"/>
              </a:rPr>
              <a:t>of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 b="1">
                <a:latin typeface="Arial"/>
                <a:cs typeface="Arial"/>
              </a:rPr>
              <a:t>the</a:t>
            </a:r>
            <a:r>
              <a:rPr dirty="0" sz="1900" spc="35">
                <a:latin typeface="Times New Roman"/>
                <a:cs typeface="Times New Roman"/>
              </a:rPr>
              <a:t> </a:t>
            </a:r>
            <a:r>
              <a:rPr dirty="0" sz="1900" b="1">
                <a:latin typeface="Arial"/>
                <a:cs typeface="Arial"/>
              </a:rPr>
              <a:t>training</a:t>
            </a:r>
            <a:r>
              <a:rPr dirty="0" sz="1900" spc="20">
                <a:latin typeface="Times New Roman"/>
                <a:cs typeface="Times New Roman"/>
              </a:rPr>
              <a:t> </a:t>
            </a:r>
            <a:r>
              <a:rPr dirty="0" sz="1900" b="1">
                <a:latin typeface="Arial"/>
                <a:cs typeface="Arial"/>
              </a:rPr>
              <a:t>data</a:t>
            </a:r>
            <a:r>
              <a:rPr dirty="0" sz="1900" spc="35">
                <a:latin typeface="Times New Roman"/>
                <a:cs typeface="Times New Roman"/>
              </a:rPr>
              <a:t> </a:t>
            </a:r>
            <a:r>
              <a:rPr dirty="0" sz="1900" b="1">
                <a:latin typeface="Arial"/>
                <a:cs typeface="Arial"/>
              </a:rPr>
              <a:t>point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 b="1">
                <a:latin typeface="Arial"/>
                <a:cs typeface="Arial"/>
              </a:rPr>
              <a:t>to</a:t>
            </a:r>
            <a:r>
              <a:rPr dirty="0" sz="1900" spc="20">
                <a:latin typeface="Times New Roman"/>
                <a:cs typeface="Times New Roman"/>
              </a:rPr>
              <a:t> </a:t>
            </a:r>
            <a:r>
              <a:rPr dirty="0" sz="1900" b="1">
                <a:latin typeface="Arial"/>
                <a:cs typeface="Arial"/>
              </a:rPr>
              <a:t>the</a:t>
            </a:r>
            <a:r>
              <a:rPr dirty="0" sz="1900" spc="20">
                <a:latin typeface="Times New Roman"/>
                <a:cs typeface="Times New Roman"/>
              </a:rPr>
              <a:t> </a:t>
            </a:r>
            <a:r>
              <a:rPr dirty="0" sz="1900" spc="-20" b="1">
                <a:latin typeface="Arial"/>
                <a:cs typeface="Arial"/>
              </a:rPr>
              <a:t>test</a:t>
            </a:r>
            <a:r>
              <a:rPr dirty="0" sz="1900" spc="-20">
                <a:latin typeface="Times New Roman"/>
                <a:cs typeface="Times New Roman"/>
              </a:rPr>
              <a:t> </a:t>
            </a:r>
            <a:r>
              <a:rPr dirty="0" sz="1900" b="1">
                <a:latin typeface="Arial"/>
                <a:cs typeface="Arial"/>
              </a:rPr>
              <a:t>data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 spc="-20" b="1">
                <a:latin typeface="Arial"/>
                <a:cs typeface="Arial"/>
              </a:rPr>
              <a:t>point</a:t>
            </a:r>
            <a:endParaRPr sz="1900">
              <a:latin typeface="Arial"/>
              <a:cs typeface="Arial"/>
            </a:endParaRPr>
          </a:p>
          <a:p>
            <a:pPr marL="384175">
              <a:lnSpc>
                <a:spcPct val="100000"/>
              </a:lnSpc>
              <a:spcBef>
                <a:spcPts val="90"/>
              </a:spcBef>
            </a:pPr>
            <a:r>
              <a:rPr dirty="0" sz="2100" spc="-20" b="1">
                <a:latin typeface="Arial"/>
                <a:cs typeface="Arial"/>
              </a:rPr>
              <a:t>Else</a:t>
            </a:r>
            <a:endParaRPr sz="2100">
              <a:latin typeface="Arial"/>
              <a:cs typeface="Arial"/>
            </a:endParaRPr>
          </a:p>
          <a:p>
            <a:pPr marL="570230" marR="267970" indent="-238125">
              <a:lnSpc>
                <a:spcPct val="79400"/>
              </a:lnSpc>
              <a:spcBef>
                <a:spcPts val="620"/>
              </a:spcBef>
              <a:buClr>
                <a:srgbClr val="3791A7"/>
              </a:buClr>
              <a:buFont typeface="Verdana"/>
              <a:buChar char="◦"/>
              <a:tabLst>
                <a:tab pos="570230" algn="l"/>
              </a:tabLst>
            </a:pPr>
            <a:r>
              <a:rPr dirty="0" sz="1900">
                <a:latin typeface="Microsoft Sans Serif"/>
                <a:cs typeface="Microsoft Sans Serif"/>
              </a:rPr>
              <a:t>Whichever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class</a:t>
            </a:r>
            <a:r>
              <a:rPr dirty="0" sz="1900" spc="-5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label</a:t>
            </a:r>
            <a:r>
              <a:rPr dirty="0" sz="1900" spc="5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is</a:t>
            </a:r>
            <a:r>
              <a:rPr dirty="0" sz="1900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predominantly</a:t>
            </a:r>
            <a:r>
              <a:rPr dirty="0" sz="1900" spc="30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present</a:t>
            </a:r>
            <a:r>
              <a:rPr dirty="0" sz="1900" spc="5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in</a:t>
            </a:r>
            <a:r>
              <a:rPr dirty="0" sz="1900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the</a:t>
            </a:r>
            <a:r>
              <a:rPr dirty="0" sz="1900" spc="-20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training</a:t>
            </a:r>
            <a:r>
              <a:rPr dirty="0" sz="1900" spc="-10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data</a:t>
            </a:r>
            <a:r>
              <a:rPr dirty="0" sz="1900" spc="30">
                <a:latin typeface="Times New Roman"/>
                <a:cs typeface="Times New Roman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points,</a:t>
            </a:r>
            <a:r>
              <a:rPr dirty="0" sz="1900" spc="5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assign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that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class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label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test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point</a:t>
            </a:r>
            <a:endParaRPr sz="2100">
              <a:latin typeface="Microsoft Sans Serif"/>
              <a:cs typeface="Microsoft Sans Serif"/>
            </a:endParaRPr>
          </a:p>
          <a:p>
            <a:pPr marL="234950">
              <a:lnSpc>
                <a:spcPct val="100000"/>
              </a:lnSpc>
              <a:spcBef>
                <a:spcPts val="95"/>
              </a:spcBef>
            </a:pPr>
            <a:r>
              <a:rPr dirty="0" sz="2100" b="1">
                <a:latin typeface="Arial"/>
                <a:cs typeface="Arial"/>
              </a:rPr>
              <a:t>End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25" b="1">
                <a:latin typeface="Arial"/>
                <a:cs typeface="Arial"/>
              </a:rPr>
              <a:t>do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4.4.1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 spc="-10"/>
              <a:t>k-</a:t>
            </a:r>
            <a:r>
              <a:rPr dirty="0"/>
              <a:t>Nearest</a:t>
            </a:r>
            <a:r>
              <a:rPr dirty="0" b="0">
                <a:latin typeface="Times New Roman"/>
                <a:cs typeface="Times New Roman"/>
              </a:rPr>
              <a:t> </a:t>
            </a:r>
            <a:r>
              <a:rPr dirty="0"/>
              <a:t>Neighbour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/>
              <a:t>(kNN)</a:t>
            </a:r>
            <a:r>
              <a:rPr dirty="0" spc="-90" b="0">
                <a:latin typeface="Times New Roman"/>
                <a:cs typeface="Times New Roman"/>
              </a:rPr>
              <a:t> </a:t>
            </a:r>
            <a:r>
              <a:rPr dirty="0" spc="-10"/>
              <a:t>Algorithm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61235" y="1346707"/>
            <a:ext cx="7294245" cy="4719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 i="1">
                <a:latin typeface="Arial"/>
                <a:cs typeface="Arial"/>
              </a:rPr>
              <a:t>Strengths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of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the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kNN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10" b="1" i="1">
                <a:latin typeface="Arial"/>
                <a:cs typeface="Arial"/>
              </a:rPr>
              <a:t>algorithm:</a:t>
            </a:r>
            <a:endParaRPr sz="210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95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Extremely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simple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algorithm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550">
                <a:latin typeface="Microsoft Sans Serif"/>
                <a:cs typeface="Microsoft Sans Serif"/>
              </a:rPr>
              <a:t>–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easy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understand</a:t>
            </a:r>
            <a:endParaRPr sz="2100">
              <a:latin typeface="Microsoft Sans Serif"/>
              <a:cs typeface="Microsoft Sans Serif"/>
            </a:endParaRPr>
          </a:p>
          <a:p>
            <a:pPr marL="295910" marR="346710" indent="-283845">
              <a:lnSpc>
                <a:spcPts val="2020"/>
              </a:lnSpc>
              <a:spcBef>
                <a:spcPts val="58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Very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effective</a:t>
            </a:r>
            <a:r>
              <a:rPr dirty="0" sz="2100" spc="-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-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certain</a:t>
            </a:r>
            <a:r>
              <a:rPr dirty="0" sz="2100" spc="-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situations,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e.g.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for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recommender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system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design</a:t>
            </a:r>
            <a:endParaRPr sz="2100">
              <a:latin typeface="Microsoft Sans Serif"/>
              <a:cs typeface="Microsoft Sans Serif"/>
            </a:endParaRPr>
          </a:p>
          <a:p>
            <a:pPr marL="295910" indent="-283210">
              <a:lnSpc>
                <a:spcPct val="100000"/>
              </a:lnSpc>
              <a:spcBef>
                <a:spcPts val="105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Very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fast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or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almost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no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time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required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for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training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phase</a:t>
            </a:r>
            <a:endParaRPr sz="2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 i="1">
                <a:latin typeface="Arial"/>
                <a:cs typeface="Arial"/>
              </a:rPr>
              <a:t>Weaknesses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of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kNN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 b="1" i="1">
                <a:latin typeface="Arial"/>
                <a:cs typeface="Arial"/>
              </a:rPr>
              <a:t>algorithm</a:t>
            </a:r>
            <a:endParaRPr sz="2100">
              <a:latin typeface="Arial"/>
              <a:cs typeface="Arial"/>
            </a:endParaRPr>
          </a:p>
          <a:p>
            <a:pPr marL="295910" marR="508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Does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not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learn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anything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real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sense.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Classification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is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done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completely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on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basis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of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training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data.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So,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has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heavy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reliance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on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training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data.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If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training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Microsoft Sans Serif"/>
                <a:cs typeface="Microsoft Sans Serif"/>
              </a:rPr>
              <a:t>data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does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not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represent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problem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domain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comprehensively,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algorithm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fails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make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effective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classification.</a:t>
            </a:r>
            <a:endParaRPr sz="2100">
              <a:latin typeface="Microsoft Sans Serif"/>
              <a:cs typeface="Microsoft Sans Serif"/>
            </a:endParaRPr>
          </a:p>
          <a:p>
            <a:pPr marL="295910" marR="635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Because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there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no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model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trained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real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sense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and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the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classification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done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completely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on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basis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of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training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data,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classification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process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very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slow.</a:t>
            </a:r>
            <a:endParaRPr sz="2100">
              <a:latin typeface="Microsoft Sans Serif"/>
              <a:cs typeface="Microsoft Sans Serif"/>
            </a:endParaRPr>
          </a:p>
          <a:p>
            <a:pPr marL="295910" marR="12573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Also,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large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amount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of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computational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space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required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to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load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training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for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classification.</a:t>
            </a:r>
            <a:endParaRPr sz="2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4.4.1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 spc="-10"/>
              <a:t>k-</a:t>
            </a:r>
            <a:r>
              <a:rPr dirty="0"/>
              <a:t>Nearest</a:t>
            </a:r>
            <a:r>
              <a:rPr dirty="0" b="0">
                <a:latin typeface="Times New Roman"/>
                <a:cs typeface="Times New Roman"/>
              </a:rPr>
              <a:t> </a:t>
            </a:r>
            <a:r>
              <a:rPr dirty="0"/>
              <a:t>Neighbour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/>
              <a:t>(kNN)</a:t>
            </a:r>
            <a:r>
              <a:rPr dirty="0" spc="-90" b="0">
                <a:latin typeface="Times New Roman"/>
                <a:cs typeface="Times New Roman"/>
              </a:rPr>
              <a:t> </a:t>
            </a:r>
            <a:r>
              <a:rPr dirty="0" spc="-10"/>
              <a:t>Algorithm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Arial"/>
                <a:cs typeface="Arial"/>
              </a:rPr>
              <a:t>Application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of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the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kNN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-10" b="1" i="1">
                <a:latin typeface="Arial"/>
                <a:cs typeface="Arial"/>
              </a:rPr>
              <a:t>algorithm</a:t>
            </a:r>
            <a:endParaRPr sz="2400">
              <a:latin typeface="Arial"/>
              <a:cs typeface="Arial"/>
            </a:endParaRPr>
          </a:p>
          <a:p>
            <a:pPr marL="294640" marR="289560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One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most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popular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areas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in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machine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learning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where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kNN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algorithm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is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widely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adopted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25" i="1">
                <a:latin typeface="Arial"/>
                <a:cs typeface="Arial"/>
              </a:rPr>
              <a:t>is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 b="1" i="1">
                <a:latin typeface="Arial"/>
                <a:cs typeface="Arial"/>
              </a:rPr>
              <a:t>recommender</a:t>
            </a:r>
            <a:r>
              <a:rPr dirty="0" sz="2400" spc="-80">
                <a:latin typeface="Times New Roman"/>
                <a:cs typeface="Times New Roman"/>
              </a:rPr>
              <a:t> </a:t>
            </a:r>
            <a:r>
              <a:rPr dirty="0" sz="2400" spc="-10" b="1" i="1">
                <a:latin typeface="Arial"/>
                <a:cs typeface="Arial"/>
              </a:rPr>
              <a:t>systems.</a:t>
            </a:r>
            <a:endParaRPr sz="2400">
              <a:latin typeface="Arial"/>
              <a:cs typeface="Arial"/>
            </a:endParaRPr>
          </a:p>
          <a:p>
            <a:pPr marL="294640" marR="109220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 i="1">
                <a:latin typeface="Arial"/>
                <a:cs typeface="Arial"/>
              </a:rPr>
              <a:t>As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know,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recommender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systems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recommend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users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different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items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which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similar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particular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item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that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user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seems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to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like.</a:t>
            </a:r>
            <a:endParaRPr sz="2400">
              <a:latin typeface="Microsoft Sans Serif"/>
              <a:cs typeface="Microsoft Sans Serif"/>
            </a:endParaRPr>
          </a:p>
          <a:p>
            <a:pPr marL="294640" marR="200025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liking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pattern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may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revealed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from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past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purchases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browsing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history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similar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items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are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identified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using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kNN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0" i="1">
                <a:latin typeface="Arial"/>
                <a:cs typeface="Arial"/>
              </a:rPr>
              <a:t>algorithm.</a:t>
            </a:r>
            <a:endParaRPr sz="2400">
              <a:latin typeface="Arial"/>
              <a:cs typeface="Arial"/>
            </a:endParaRPr>
          </a:p>
          <a:p>
            <a:pPr marL="294640" marR="5080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Another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area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where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there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widespread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adoption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of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 i="1">
                <a:latin typeface="Arial"/>
                <a:cs typeface="Arial"/>
              </a:rPr>
              <a:t>kNN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is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b="1"/>
              <a:t>searching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b="1"/>
              <a:t>documents/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b="1"/>
              <a:t>contents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similar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Microsoft Sans Serif"/>
                <a:cs typeface="Microsoft Sans Serif"/>
              </a:rPr>
              <a:t>a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given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document/content.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This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core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area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under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information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retrieval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and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known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 b="1"/>
              <a:t>concept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 spc="-10" b="1"/>
              <a:t>search.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Ensemble</a:t>
            </a:r>
            <a:r>
              <a:rPr dirty="0" sz="3200" spc="-40" b="0">
                <a:latin typeface="Times New Roman"/>
                <a:cs typeface="Times New Roman"/>
              </a:rPr>
              <a:t> </a:t>
            </a:r>
            <a:r>
              <a:rPr dirty="0" sz="3200" spc="-10"/>
              <a:t>Learning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61235" y="1678939"/>
            <a:ext cx="7411720" cy="441452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295910" marR="35052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Ensemble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learning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machine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learning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technique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combining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multiple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individual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models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create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stronger,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more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accurate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predictive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model.</a:t>
            </a:r>
            <a:endParaRPr sz="2100">
              <a:latin typeface="Microsoft Sans Serif"/>
              <a:cs typeface="Microsoft Sans Serif"/>
            </a:endParaRPr>
          </a:p>
          <a:p>
            <a:pPr marL="295910" marR="508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Ensemble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learning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aims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mitigate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errors,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enhance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performance,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and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increase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overall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robustness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of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predictions,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leading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improved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results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across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various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tasks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machine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learning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and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analysis.</a:t>
            </a:r>
            <a:endParaRPr sz="2100">
              <a:latin typeface="Microsoft Sans Serif"/>
              <a:cs typeface="Microsoft Sans Serif"/>
            </a:endParaRPr>
          </a:p>
          <a:p>
            <a:pPr marL="295910" marR="38735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-9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problem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machine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learning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that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individual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models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Microsoft Sans Serif"/>
                <a:cs typeface="Microsoft Sans Serif"/>
              </a:rPr>
              <a:t>tend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perform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poorly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i.e,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they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tend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have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low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prediction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accuracy.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 spc="-75">
                <a:latin typeface="Microsoft Sans Serif"/>
                <a:cs typeface="Microsoft Sans Serif"/>
              </a:rPr>
              <a:t>To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mitigate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this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problem,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we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combine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multiple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models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get</a:t>
            </a:r>
            <a:r>
              <a:rPr dirty="0" sz="2100" spc="5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one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with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better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performance.</a:t>
            </a:r>
            <a:endParaRPr sz="2100">
              <a:latin typeface="Microsoft Sans Serif"/>
              <a:cs typeface="Microsoft Sans Serif"/>
            </a:endParaRPr>
          </a:p>
          <a:p>
            <a:pPr marL="295910" marR="52069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individual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models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that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combine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are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known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as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spc="-20" b="1">
                <a:latin typeface="Arial"/>
                <a:cs typeface="Arial"/>
              </a:rPr>
              <a:t>weak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learners</a:t>
            </a:r>
            <a:r>
              <a:rPr dirty="0" sz="2100">
                <a:latin typeface="Microsoft Sans Serif"/>
                <a:cs typeface="Microsoft Sans Serif"/>
              </a:rPr>
              <a:t>.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call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them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weak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learners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because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they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either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have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high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bias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or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high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variance.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Because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they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either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Microsoft Sans Serif"/>
                <a:cs typeface="Microsoft Sans Serif"/>
              </a:rPr>
              <a:t>have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high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bias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or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variance,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weak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learners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cannot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learn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efficiently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and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perform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poorly.</a:t>
            </a:r>
            <a:endParaRPr sz="2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Ensemble</a:t>
            </a:r>
            <a:r>
              <a:rPr dirty="0" sz="3200" spc="-40" b="0">
                <a:latin typeface="Times New Roman"/>
                <a:cs typeface="Times New Roman"/>
              </a:rPr>
              <a:t> </a:t>
            </a:r>
            <a:r>
              <a:rPr dirty="0" sz="3200" spc="-10"/>
              <a:t>Learning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61235" y="1337563"/>
            <a:ext cx="7374890" cy="2592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latin typeface="Arial"/>
                <a:cs typeface="Arial"/>
              </a:rPr>
              <a:t>High-</a:t>
            </a:r>
            <a:r>
              <a:rPr dirty="0" sz="2400" b="1">
                <a:latin typeface="Arial"/>
                <a:cs typeface="Arial"/>
              </a:rPr>
              <a:t>bias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and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Arial"/>
                <a:cs typeface="Arial"/>
              </a:rPr>
              <a:t>High-</a:t>
            </a:r>
            <a:r>
              <a:rPr dirty="0" sz="2400" b="1">
                <a:latin typeface="Arial"/>
                <a:cs typeface="Arial"/>
              </a:rPr>
              <a:t>variance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Arial"/>
                <a:cs typeface="Arial"/>
              </a:rPr>
              <a:t>Models</a:t>
            </a:r>
            <a:endParaRPr sz="2400">
              <a:latin typeface="Arial"/>
              <a:cs typeface="Arial"/>
            </a:endParaRPr>
          </a:p>
          <a:p>
            <a:pPr marL="294640" marR="5080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-14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high-</a:t>
            </a:r>
            <a:r>
              <a:rPr dirty="0" sz="2400">
                <a:latin typeface="Microsoft Sans Serif"/>
                <a:cs typeface="Microsoft Sans Serif"/>
              </a:rPr>
              <a:t>bias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model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results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from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not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learning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data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well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enough.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not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related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to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distribution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data.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Hence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future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predictions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will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unrelated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to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data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and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thus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incorrect.</a:t>
            </a:r>
            <a:endParaRPr sz="2400">
              <a:latin typeface="Microsoft Sans Serif"/>
              <a:cs typeface="Microsoft Sans Serif"/>
            </a:endParaRPr>
          </a:p>
          <a:p>
            <a:pPr marL="294640" marR="35560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-15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high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variance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model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results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from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learning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too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well.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varies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with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each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data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point.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Hence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it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is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impossible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to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predict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next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point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accurately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1827" y="4172712"/>
              <a:ext cx="3858767" cy="222351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43955" y="4244340"/>
              <a:ext cx="2857499" cy="20878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Ensemble</a:t>
            </a:r>
            <a:r>
              <a:rPr dirty="0" sz="3200" spc="-40" b="0">
                <a:latin typeface="Times New Roman"/>
                <a:cs typeface="Times New Roman"/>
              </a:rPr>
              <a:t> </a:t>
            </a:r>
            <a:r>
              <a:rPr dirty="0" sz="3200" spc="-10"/>
              <a:t>Learning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61235" y="1346707"/>
            <a:ext cx="7339965" cy="2290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Arial"/>
                <a:cs typeface="Arial"/>
              </a:rPr>
              <a:t>Reducing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Variance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with</a:t>
            </a:r>
            <a:r>
              <a:rPr dirty="0" sz="2100" spc="-55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Arial"/>
                <a:cs typeface="Arial"/>
              </a:rPr>
              <a:t>Bagging</a:t>
            </a:r>
            <a:endParaRPr sz="2100">
              <a:latin typeface="Arial"/>
              <a:cs typeface="Arial"/>
            </a:endParaRPr>
          </a:p>
          <a:p>
            <a:pPr marL="295910" marR="33274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We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use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bagging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for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combining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weak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learners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of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Microsoft Sans Serif"/>
                <a:cs typeface="Microsoft Sans Serif"/>
              </a:rPr>
              <a:t>high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variance.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Bagging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aims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produce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model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with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lower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variance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than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individual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weak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models.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These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Microsoft Sans Serif"/>
                <a:cs typeface="Microsoft Sans Serif"/>
              </a:rPr>
              <a:t>weak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learners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are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homogenous,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meaning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they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are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of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Microsoft Sans Serif"/>
                <a:cs typeface="Microsoft Sans Serif"/>
              </a:rPr>
              <a:t>same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type.</a:t>
            </a:r>
            <a:endParaRPr sz="2100">
              <a:latin typeface="Microsoft Sans Serif"/>
              <a:cs typeface="Microsoft Sans Serif"/>
            </a:endParaRPr>
          </a:p>
          <a:p>
            <a:pPr marL="295910" marR="508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Bagging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also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known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as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Bootstrap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aggregating.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It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consists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of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two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steps: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bootstrapping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and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aggregation.</a:t>
            </a:r>
            <a:endParaRPr sz="21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7200" y="3669791"/>
            <a:ext cx="9144000" cy="3645535"/>
            <a:chOff x="457200" y="3669791"/>
            <a:chExt cx="9144000" cy="364553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8340" y="3669791"/>
              <a:ext cx="6554723" cy="21640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58340" y="3886199"/>
              <a:ext cx="6554723" cy="32080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4.4.2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/>
              <a:t>Random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/>
              <a:t>Forest</a:t>
            </a:r>
            <a:r>
              <a:rPr dirty="0" spc="30" b="0">
                <a:latin typeface="Times New Roman"/>
                <a:cs typeface="Times New Roman"/>
              </a:rPr>
              <a:t> </a:t>
            </a:r>
            <a:r>
              <a:rPr dirty="0" spc="-10"/>
              <a:t>Model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95275" indent="-292100">
              <a:lnSpc>
                <a:spcPts val="3025"/>
              </a:lnSpc>
              <a:spcBef>
                <a:spcPts val="95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275" algn="l"/>
              </a:tabLst>
            </a:pPr>
            <a:r>
              <a:rPr dirty="0">
                <a:latin typeface="Microsoft Sans Serif"/>
                <a:cs typeface="Microsoft Sans Serif"/>
              </a:rPr>
              <a:t>Random</a:t>
            </a:r>
            <a:r>
              <a:rPr dirty="0" spc="25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forest</a:t>
            </a:r>
            <a:r>
              <a:rPr dirty="0" spc="10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is</a:t>
            </a:r>
            <a:r>
              <a:rPr dirty="0" spc="5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an</a:t>
            </a:r>
            <a:r>
              <a:rPr dirty="0" spc="25">
                <a:latin typeface="Times New Roman"/>
                <a:cs typeface="Times New Roman"/>
              </a:rPr>
              <a:t> </a:t>
            </a:r>
            <a:r>
              <a:rPr dirty="0" b="1"/>
              <a:t>ensemble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 spc="-10" b="1"/>
              <a:t>classifier</a:t>
            </a:r>
            <a:r>
              <a:rPr dirty="0" spc="-10">
                <a:latin typeface="Microsoft Sans Serif"/>
                <a:cs typeface="Microsoft Sans Serif"/>
              </a:rPr>
              <a:t>,</a:t>
            </a:r>
          </a:p>
          <a:p>
            <a:pPr marL="295910" marR="757555">
              <a:lnSpc>
                <a:spcPts val="2690"/>
              </a:lnSpc>
              <a:spcBef>
                <a:spcPts val="310"/>
              </a:spcBef>
            </a:pPr>
            <a:r>
              <a:rPr dirty="0">
                <a:latin typeface="Microsoft Sans Serif"/>
                <a:cs typeface="Microsoft Sans Serif"/>
              </a:rPr>
              <a:t>i.e.</a:t>
            </a:r>
            <a:r>
              <a:rPr dirty="0" spc="-5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</a:t>
            </a:r>
            <a:r>
              <a:rPr dirty="0" spc="25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combining</a:t>
            </a:r>
            <a:r>
              <a:rPr dirty="0" spc="30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classifier</a:t>
            </a:r>
            <a:r>
              <a:rPr dirty="0" spc="15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that</a:t>
            </a:r>
            <a:r>
              <a:rPr dirty="0" spc="10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uses</a:t>
            </a:r>
            <a:r>
              <a:rPr dirty="0" spc="25">
                <a:latin typeface="Times New Roman"/>
                <a:cs typeface="Times New Roman"/>
              </a:rPr>
              <a:t> </a:t>
            </a:r>
            <a:r>
              <a:rPr dirty="0" spc="-25">
                <a:latin typeface="Microsoft Sans Serif"/>
                <a:cs typeface="Microsoft Sans Serif"/>
              </a:rPr>
              <a:t>and</a:t>
            </a:r>
            <a:r>
              <a:rPr dirty="0" spc="-25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combines</a:t>
            </a:r>
            <a:r>
              <a:rPr dirty="0" spc="5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many</a:t>
            </a:r>
            <a:r>
              <a:rPr dirty="0" spc="5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decision</a:t>
            </a:r>
            <a:r>
              <a:rPr dirty="0" spc="5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tree</a:t>
            </a:r>
            <a:r>
              <a:rPr dirty="0" spc="5">
                <a:latin typeface="Times New Roman"/>
                <a:cs typeface="Times New Roman"/>
              </a:rPr>
              <a:t> </a:t>
            </a:r>
            <a:r>
              <a:rPr dirty="0" spc="-10">
                <a:latin typeface="Microsoft Sans Serif"/>
                <a:cs typeface="Microsoft Sans Serif"/>
              </a:rPr>
              <a:t>classifiers.</a:t>
            </a:r>
          </a:p>
          <a:p>
            <a:pPr marL="294640" marR="691515" indent="-292100">
              <a:lnSpc>
                <a:spcPct val="80000"/>
              </a:lnSpc>
              <a:spcBef>
                <a:spcPts val="62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>
                <a:latin typeface="Microsoft Sans Serif"/>
                <a:cs typeface="Microsoft Sans Serif"/>
              </a:rPr>
              <a:t>Ensembling</a:t>
            </a:r>
            <a:r>
              <a:rPr dirty="0" spc="5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is</a:t>
            </a:r>
            <a:r>
              <a:rPr dirty="0" spc="10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usually</a:t>
            </a:r>
            <a:r>
              <a:rPr dirty="0" spc="10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done</a:t>
            </a:r>
            <a:r>
              <a:rPr dirty="0" spc="10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using</a:t>
            </a:r>
            <a:r>
              <a:rPr dirty="0" spc="10">
                <a:latin typeface="Times New Roman"/>
                <a:cs typeface="Times New Roman"/>
              </a:rPr>
              <a:t> </a:t>
            </a:r>
            <a:r>
              <a:rPr dirty="0" spc="-25">
                <a:latin typeface="Microsoft Sans Serif"/>
                <a:cs typeface="Microsoft Sans Serif"/>
              </a:rPr>
              <a:t>the</a:t>
            </a:r>
            <a:r>
              <a:rPr dirty="0" spc="-25">
                <a:latin typeface="Times New Roman"/>
                <a:cs typeface="Times New Roman"/>
              </a:rPr>
              <a:t> </a:t>
            </a:r>
            <a:r>
              <a:rPr dirty="0" spc="-25">
                <a:latin typeface="Times New Roman"/>
                <a:cs typeface="Times New Roman"/>
              </a:rPr>
              <a:t>	</a:t>
            </a:r>
            <a:r>
              <a:rPr dirty="0">
                <a:latin typeface="Microsoft Sans Serif"/>
                <a:cs typeface="Microsoft Sans Serif"/>
              </a:rPr>
              <a:t>concept</a:t>
            </a:r>
            <a:r>
              <a:rPr dirty="0" spc="-20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of</a:t>
            </a:r>
            <a:r>
              <a:rPr dirty="0" spc="10">
                <a:latin typeface="Times New Roman"/>
                <a:cs typeface="Times New Roman"/>
              </a:rPr>
              <a:t> </a:t>
            </a:r>
            <a:r>
              <a:rPr dirty="0" b="1"/>
              <a:t>bagging</a:t>
            </a:r>
            <a:r>
              <a:rPr dirty="0" spc="35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with</a:t>
            </a:r>
            <a:r>
              <a:rPr dirty="0" spc="10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different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dirty="0" spc="-10">
                <a:latin typeface="Microsoft Sans Serif"/>
                <a:cs typeface="Microsoft Sans Serif"/>
              </a:rPr>
              <a:t>feature</a:t>
            </a:r>
            <a:r>
              <a:rPr dirty="0" spc="-10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	</a:t>
            </a:r>
            <a:r>
              <a:rPr dirty="0" spc="-10">
                <a:latin typeface="Microsoft Sans Serif"/>
                <a:cs typeface="Microsoft Sans Serif"/>
              </a:rPr>
              <a:t>sets.</a:t>
            </a:r>
          </a:p>
          <a:p>
            <a:pPr marL="294640" marR="5080" indent="-292100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>
                <a:latin typeface="Microsoft Sans Serif"/>
                <a:cs typeface="Microsoft Sans Serif"/>
              </a:rPr>
              <a:t>The</a:t>
            </a:r>
            <a:r>
              <a:rPr dirty="0" spc="30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reason</a:t>
            </a:r>
            <a:r>
              <a:rPr dirty="0" spc="35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for</a:t>
            </a:r>
            <a:r>
              <a:rPr dirty="0" spc="25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using</a:t>
            </a:r>
            <a:r>
              <a:rPr dirty="0" spc="35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large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number</a:t>
            </a:r>
            <a:r>
              <a:rPr dirty="0" spc="45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of</a:t>
            </a:r>
            <a:r>
              <a:rPr dirty="0" spc="30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trees</a:t>
            </a:r>
            <a:r>
              <a:rPr dirty="0" spc="20">
                <a:latin typeface="Times New Roman"/>
                <a:cs typeface="Times New Roman"/>
              </a:rPr>
              <a:t> </a:t>
            </a:r>
            <a:r>
              <a:rPr dirty="0" spc="-25">
                <a:latin typeface="Microsoft Sans Serif"/>
                <a:cs typeface="Microsoft Sans Serif"/>
              </a:rPr>
              <a:t>in</a:t>
            </a:r>
            <a:r>
              <a:rPr dirty="0" spc="-25">
                <a:latin typeface="Times New Roman"/>
                <a:cs typeface="Times New Roman"/>
              </a:rPr>
              <a:t> </a:t>
            </a:r>
            <a:r>
              <a:rPr dirty="0" spc="-25">
                <a:latin typeface="Times New Roman"/>
                <a:cs typeface="Times New Roman"/>
              </a:rPr>
              <a:t>	</a:t>
            </a:r>
            <a:r>
              <a:rPr dirty="0">
                <a:latin typeface="Microsoft Sans Serif"/>
                <a:cs typeface="Microsoft Sans Serif"/>
              </a:rPr>
              <a:t>random</a:t>
            </a:r>
            <a:r>
              <a:rPr dirty="0" spc="30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forest</a:t>
            </a:r>
            <a:r>
              <a:rPr dirty="0" spc="30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is</a:t>
            </a:r>
            <a:r>
              <a:rPr dirty="0" spc="45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to</a:t>
            </a:r>
            <a:r>
              <a:rPr dirty="0" spc="30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train</a:t>
            </a:r>
            <a:r>
              <a:rPr dirty="0" spc="40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the</a:t>
            </a:r>
            <a:r>
              <a:rPr dirty="0" spc="30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trees</a:t>
            </a:r>
            <a:r>
              <a:rPr dirty="0" spc="45">
                <a:latin typeface="Times New Roman"/>
                <a:cs typeface="Times New Roman"/>
              </a:rPr>
              <a:t> </a:t>
            </a:r>
            <a:r>
              <a:rPr dirty="0" spc="-10">
                <a:latin typeface="Microsoft Sans Serif"/>
                <a:cs typeface="Microsoft Sans Serif"/>
              </a:rPr>
              <a:t>enough</a:t>
            </a:r>
            <a:r>
              <a:rPr dirty="0" spc="-10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	</a:t>
            </a:r>
            <a:r>
              <a:rPr dirty="0">
                <a:latin typeface="Microsoft Sans Serif"/>
                <a:cs typeface="Microsoft Sans Serif"/>
              </a:rPr>
              <a:t>such</a:t>
            </a:r>
            <a:r>
              <a:rPr dirty="0" spc="-5">
                <a:latin typeface="Times New Roman"/>
                <a:cs typeface="Times New Roman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that</a:t>
            </a:r>
            <a:r>
              <a:rPr dirty="0" spc="5">
                <a:latin typeface="Times New Roman"/>
                <a:cs typeface="Times New Roman"/>
              </a:rPr>
              <a:t> </a:t>
            </a:r>
            <a:r>
              <a:rPr dirty="0" b="1"/>
              <a:t>contribution</a:t>
            </a:r>
            <a:r>
              <a:rPr dirty="0" spc="50">
                <a:latin typeface="Times New Roman"/>
                <a:cs typeface="Times New Roman"/>
              </a:rPr>
              <a:t> </a:t>
            </a:r>
            <a:r>
              <a:rPr dirty="0" b="1"/>
              <a:t>from</a:t>
            </a:r>
            <a:r>
              <a:rPr dirty="0" spc="10">
                <a:latin typeface="Times New Roman"/>
                <a:cs typeface="Times New Roman"/>
              </a:rPr>
              <a:t> </a:t>
            </a:r>
            <a:r>
              <a:rPr dirty="0" b="1"/>
              <a:t>each</a:t>
            </a:r>
            <a:r>
              <a:rPr dirty="0" spc="20">
                <a:latin typeface="Times New Roman"/>
                <a:cs typeface="Times New Roman"/>
              </a:rPr>
              <a:t> </a:t>
            </a:r>
            <a:r>
              <a:rPr dirty="0" spc="-10" b="1"/>
              <a:t>feature</a:t>
            </a:r>
            <a:r>
              <a:rPr dirty="0" spc="-10">
                <a:latin typeface="Times New Roman"/>
                <a:cs typeface="Times New Roman"/>
              </a:rPr>
              <a:t> </a:t>
            </a:r>
            <a:r>
              <a:rPr dirty="0" spc="-10">
                <a:latin typeface="Times New Roman"/>
                <a:cs typeface="Times New Roman"/>
              </a:rPr>
              <a:t>	</a:t>
            </a:r>
            <a:r>
              <a:rPr dirty="0" b="1"/>
              <a:t>comes</a:t>
            </a:r>
            <a:r>
              <a:rPr dirty="0" spc="20">
                <a:latin typeface="Times New Roman"/>
                <a:cs typeface="Times New Roman"/>
              </a:rPr>
              <a:t> </a:t>
            </a:r>
            <a:r>
              <a:rPr dirty="0" b="1"/>
              <a:t>in</a:t>
            </a:r>
            <a:r>
              <a:rPr dirty="0" spc="25">
                <a:latin typeface="Times New Roman"/>
                <a:cs typeface="Times New Roman"/>
              </a:rPr>
              <a:t> </a:t>
            </a:r>
            <a:r>
              <a:rPr dirty="0" b="1"/>
              <a:t>a</a:t>
            </a:r>
            <a:r>
              <a:rPr dirty="0" spc="30">
                <a:latin typeface="Times New Roman"/>
                <a:cs typeface="Times New Roman"/>
              </a:rPr>
              <a:t> </a:t>
            </a:r>
            <a:r>
              <a:rPr dirty="0" b="1"/>
              <a:t>number</a:t>
            </a:r>
            <a:r>
              <a:rPr dirty="0" spc="55">
                <a:latin typeface="Times New Roman"/>
                <a:cs typeface="Times New Roman"/>
              </a:rPr>
              <a:t> </a:t>
            </a:r>
            <a:r>
              <a:rPr dirty="0" b="1"/>
              <a:t>of</a:t>
            </a:r>
            <a:r>
              <a:rPr dirty="0" spc="30">
                <a:latin typeface="Times New Roman"/>
                <a:cs typeface="Times New Roman"/>
              </a:rPr>
              <a:t> </a:t>
            </a:r>
            <a:r>
              <a:rPr dirty="0" spc="-10" b="1"/>
              <a:t>models.</a:t>
            </a:r>
          </a:p>
          <a:p>
            <a:pPr marL="295910" marR="90170" indent="-283845">
              <a:lnSpc>
                <a:spcPct val="80000"/>
              </a:lnSpc>
              <a:spcBef>
                <a:spcPts val="615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500">
                <a:latin typeface="Microsoft Sans Serif"/>
                <a:cs typeface="Microsoft Sans Serif"/>
              </a:rPr>
              <a:t>After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random</a:t>
            </a:r>
            <a:r>
              <a:rPr dirty="0" sz="2500" spc="4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forest</a:t>
            </a:r>
            <a:r>
              <a:rPr dirty="0" sz="2500" spc="7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is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generated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by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combining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trees,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majority</a:t>
            </a:r>
            <a:r>
              <a:rPr dirty="0" sz="2500" spc="4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vote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is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applied</a:t>
            </a:r>
            <a:r>
              <a:rPr dirty="0" sz="250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to</a:t>
            </a:r>
            <a:r>
              <a:rPr dirty="0" sz="2500" spc="2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combine</a:t>
            </a:r>
            <a:r>
              <a:rPr dirty="0" sz="2500" spc="2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Microsoft Sans Serif"/>
                <a:cs typeface="Microsoft Sans Serif"/>
              </a:rPr>
              <a:t>the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output</a:t>
            </a:r>
            <a:r>
              <a:rPr dirty="0" sz="2500" spc="1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of</a:t>
            </a:r>
            <a:r>
              <a:rPr dirty="0" sz="2500" spc="5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the</a:t>
            </a:r>
            <a:r>
              <a:rPr dirty="0" sz="2500" spc="30">
                <a:latin typeface="Times New Roman"/>
                <a:cs typeface="Times New Roman"/>
              </a:rPr>
              <a:t> </a:t>
            </a:r>
            <a:r>
              <a:rPr dirty="0" sz="2500">
                <a:latin typeface="Microsoft Sans Serif"/>
                <a:cs typeface="Microsoft Sans Serif"/>
              </a:rPr>
              <a:t>different</a:t>
            </a:r>
            <a:r>
              <a:rPr dirty="0" sz="2500" spc="3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Microsoft Sans Serif"/>
                <a:cs typeface="Microsoft Sans Serif"/>
              </a:rPr>
              <a:t>trees.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4.4.2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/>
              <a:t>Random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/>
              <a:t>Forest</a:t>
            </a:r>
            <a:r>
              <a:rPr dirty="0" spc="30" b="0">
                <a:latin typeface="Times New Roman"/>
                <a:cs typeface="Times New Roman"/>
              </a:rPr>
              <a:t> </a:t>
            </a:r>
            <a:r>
              <a:rPr dirty="0" spc="-10"/>
              <a:t>Model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1458468"/>
            <a:ext cx="9144000" cy="5857240"/>
            <a:chOff x="457200" y="1458468"/>
            <a:chExt cx="9144000" cy="585724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86583" y="1458468"/>
              <a:ext cx="6591300" cy="242773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86583" y="3886199"/>
              <a:ext cx="6591300" cy="275844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464810" y="6698993"/>
            <a:ext cx="2373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Random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forest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4.4.2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/>
              <a:t>Random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/>
              <a:t>Forest</a:t>
            </a:r>
            <a:r>
              <a:rPr dirty="0" spc="30" b="0">
                <a:latin typeface="Times New Roman"/>
                <a:cs typeface="Times New Roman"/>
              </a:rPr>
              <a:t> </a:t>
            </a:r>
            <a:r>
              <a:rPr dirty="0" spc="-10"/>
              <a:t>Model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61235" y="1337563"/>
            <a:ext cx="7446645" cy="5408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3" marL="1026160" indent="-101346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026160" algn="l"/>
              </a:tabLst>
            </a:pPr>
            <a:r>
              <a:rPr dirty="0" sz="2400" b="1" i="1">
                <a:latin typeface="Arial"/>
                <a:cs typeface="Arial"/>
              </a:rPr>
              <a:t>Working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of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a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Random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Forest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10" b="1" i="1">
                <a:latin typeface="Arial"/>
                <a:cs typeface="Arial"/>
              </a:rPr>
              <a:t>Model</a:t>
            </a:r>
            <a:endParaRPr sz="2400">
              <a:latin typeface="Arial"/>
              <a:cs typeface="Arial"/>
            </a:endParaRPr>
          </a:p>
          <a:p>
            <a:pPr lvl="4" marL="469265" marR="5080" indent="-379730">
              <a:lnSpc>
                <a:spcPct val="80000"/>
              </a:lnSpc>
              <a:spcBef>
                <a:spcPts val="2540"/>
              </a:spcBef>
              <a:buClr>
                <a:srgbClr val="3791A7"/>
              </a:buClr>
              <a:buSzPct val="79166"/>
              <a:buAutoNum type="arabicPeriod"/>
              <a:tabLst>
                <a:tab pos="469265" algn="l"/>
              </a:tabLst>
            </a:pPr>
            <a:r>
              <a:rPr dirty="0" sz="2400">
                <a:latin typeface="Microsoft Sans Serif"/>
                <a:cs typeface="Microsoft Sans Serif"/>
              </a:rPr>
              <a:t>If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there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are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N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variables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or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features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in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the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input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-20" i="1">
                <a:latin typeface="Arial"/>
                <a:cs typeface="Arial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set,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select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a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subset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‘</a:t>
            </a:r>
            <a:r>
              <a:rPr dirty="0" sz="2400" b="1" i="1">
                <a:latin typeface="Arial"/>
                <a:cs typeface="Arial"/>
              </a:rPr>
              <a:t>m’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(m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&lt;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N)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features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-25" b="1" i="1">
                <a:latin typeface="Arial"/>
                <a:cs typeface="Arial"/>
              </a:rPr>
              <a:t>at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random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out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of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the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features.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Also,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-25" i="1">
                <a:latin typeface="Arial"/>
                <a:cs typeface="Arial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observations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or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instances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should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picked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randomly.</a:t>
            </a:r>
            <a:endParaRPr sz="2400">
              <a:latin typeface="Microsoft Sans Serif"/>
              <a:cs typeface="Microsoft Sans Serif"/>
            </a:endParaRPr>
          </a:p>
          <a:p>
            <a:pPr lvl="4" marL="469265" marR="26034" indent="-379730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AutoNum type="arabicPeriod"/>
              <a:tabLst>
                <a:tab pos="469265" algn="l"/>
              </a:tabLst>
            </a:pPr>
            <a:r>
              <a:rPr dirty="0" sz="2400">
                <a:latin typeface="Microsoft Sans Serif"/>
                <a:cs typeface="Microsoft Sans Serif"/>
              </a:rPr>
              <a:t>Use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best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split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principle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on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these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‘</a:t>
            </a:r>
            <a:r>
              <a:rPr dirty="0" sz="2400" b="1" i="1">
                <a:latin typeface="Arial"/>
                <a:cs typeface="Arial"/>
              </a:rPr>
              <a:t>m’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 spc="-10" b="1" i="1">
                <a:latin typeface="Arial"/>
                <a:cs typeface="Arial"/>
              </a:rPr>
              <a:t>features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to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calculate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the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number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nodes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Arial"/>
                <a:cs typeface="Arial"/>
              </a:rPr>
              <a:t>‘</a:t>
            </a:r>
            <a:r>
              <a:rPr dirty="0" sz="2400" spc="-20" b="1" i="1">
                <a:latin typeface="Arial"/>
                <a:cs typeface="Arial"/>
              </a:rPr>
              <a:t>d’.</a:t>
            </a:r>
            <a:endParaRPr sz="2400">
              <a:latin typeface="Arial"/>
              <a:cs typeface="Arial"/>
            </a:endParaRPr>
          </a:p>
          <a:p>
            <a:pPr lvl="4" marL="469265" marR="407034" indent="-379730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AutoNum type="arabicPeriod"/>
              <a:tabLst>
                <a:tab pos="469265" algn="l"/>
              </a:tabLst>
            </a:pPr>
            <a:r>
              <a:rPr dirty="0" sz="2400" b="1">
                <a:latin typeface="Arial"/>
                <a:cs typeface="Arial"/>
              </a:rPr>
              <a:t>Keep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splitting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the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nodes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to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child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nodes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till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tree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grown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to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maximum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possible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Arial"/>
                <a:cs typeface="Arial"/>
              </a:rPr>
              <a:t>extent.</a:t>
            </a:r>
            <a:endParaRPr sz="2400">
              <a:latin typeface="Arial"/>
              <a:cs typeface="Arial"/>
            </a:endParaRPr>
          </a:p>
          <a:p>
            <a:pPr lvl="4" marL="469265" marR="97790" indent="-379730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AutoNum type="arabicPeriod"/>
              <a:tabLst>
                <a:tab pos="469265" algn="l"/>
              </a:tabLst>
            </a:pPr>
            <a:r>
              <a:rPr dirty="0" sz="2400" b="1">
                <a:latin typeface="Arial"/>
                <a:cs typeface="Arial"/>
              </a:rPr>
              <a:t>Select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a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different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subset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the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training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Arial"/>
                <a:cs typeface="Arial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‘with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Arial"/>
                <a:cs typeface="Arial"/>
              </a:rPr>
              <a:t>replacement</a:t>
            </a:r>
            <a:r>
              <a:rPr dirty="0" sz="2400" spc="-10">
                <a:latin typeface="Microsoft Sans Serif"/>
                <a:cs typeface="Microsoft Sans Serif"/>
              </a:rPr>
              <a:t>’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to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train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another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decision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tree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following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steps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(1)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to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(3).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Repeat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this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to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build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Arial"/>
                <a:cs typeface="Arial"/>
              </a:rPr>
              <a:t>and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train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‘</a:t>
            </a:r>
            <a:r>
              <a:rPr dirty="0" sz="2400" b="1" i="1">
                <a:latin typeface="Arial"/>
                <a:cs typeface="Arial"/>
              </a:rPr>
              <a:t>n’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decision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10" b="1" i="1">
                <a:latin typeface="Arial"/>
                <a:cs typeface="Arial"/>
              </a:rPr>
              <a:t>trees.</a:t>
            </a:r>
            <a:endParaRPr sz="2400">
              <a:latin typeface="Arial"/>
              <a:cs typeface="Arial"/>
            </a:endParaRPr>
          </a:p>
          <a:p>
            <a:pPr lvl="4" marL="469265" marR="239395" indent="-379730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AutoNum type="arabicPeriod"/>
              <a:tabLst>
                <a:tab pos="469265" algn="l"/>
              </a:tabLst>
            </a:pPr>
            <a:r>
              <a:rPr dirty="0" sz="2400">
                <a:latin typeface="Microsoft Sans Serif"/>
                <a:cs typeface="Microsoft Sans Serif"/>
              </a:rPr>
              <a:t>Final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class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assignment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done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basis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majority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votes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from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‘</a:t>
            </a:r>
            <a:r>
              <a:rPr dirty="0" sz="2400" i="1">
                <a:latin typeface="Arial"/>
                <a:cs typeface="Arial"/>
              </a:rPr>
              <a:t>n’</a:t>
            </a:r>
            <a:r>
              <a:rPr dirty="0" sz="2400" spc="-100">
                <a:latin typeface="Times New Roman"/>
                <a:cs typeface="Times New Roman"/>
              </a:rPr>
              <a:t> </a:t>
            </a:r>
            <a:r>
              <a:rPr dirty="0" sz="2400" spc="-10" i="1">
                <a:latin typeface="Arial"/>
                <a:cs typeface="Arial"/>
              </a:rPr>
              <a:t>trees.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4.4.2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/>
              <a:t>Random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/>
              <a:t>Forest</a:t>
            </a:r>
            <a:r>
              <a:rPr dirty="0" spc="30" b="0">
                <a:latin typeface="Times New Roman"/>
                <a:cs typeface="Times New Roman"/>
              </a:rPr>
              <a:t> </a:t>
            </a:r>
            <a:r>
              <a:rPr dirty="0" spc="-10"/>
              <a:t>Model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61235" y="1329943"/>
            <a:ext cx="7443470" cy="4855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 i="1">
                <a:latin typeface="Arial"/>
                <a:cs typeface="Arial"/>
              </a:rPr>
              <a:t>4.4.2.2</a:t>
            </a:r>
            <a:r>
              <a:rPr dirty="0" sz="2600" spc="50">
                <a:latin typeface="Times New Roman"/>
                <a:cs typeface="Times New Roman"/>
              </a:rPr>
              <a:t> </a:t>
            </a:r>
            <a:r>
              <a:rPr dirty="0" sz="2600" spc="-10" b="1" i="1">
                <a:latin typeface="Arial"/>
                <a:cs typeface="Arial"/>
              </a:rPr>
              <a:t>Out-of-</a:t>
            </a:r>
            <a:r>
              <a:rPr dirty="0" sz="2600" b="1" i="1">
                <a:latin typeface="Arial"/>
                <a:cs typeface="Arial"/>
              </a:rPr>
              <a:t>bag</a:t>
            </a:r>
            <a:r>
              <a:rPr dirty="0" sz="2600" spc="20">
                <a:latin typeface="Times New Roman"/>
                <a:cs typeface="Times New Roman"/>
              </a:rPr>
              <a:t> </a:t>
            </a:r>
            <a:r>
              <a:rPr dirty="0" sz="2600" b="1" i="1">
                <a:latin typeface="Arial"/>
                <a:cs typeface="Arial"/>
              </a:rPr>
              <a:t>(OOB)</a:t>
            </a:r>
            <a:r>
              <a:rPr dirty="0" sz="2600" spc="40">
                <a:latin typeface="Times New Roman"/>
                <a:cs typeface="Times New Roman"/>
              </a:rPr>
              <a:t> </a:t>
            </a:r>
            <a:r>
              <a:rPr dirty="0" sz="2600" b="1" i="1">
                <a:latin typeface="Arial"/>
                <a:cs typeface="Arial"/>
              </a:rPr>
              <a:t>error</a:t>
            </a:r>
            <a:r>
              <a:rPr dirty="0" sz="2600" spc="40">
                <a:latin typeface="Times New Roman"/>
                <a:cs typeface="Times New Roman"/>
              </a:rPr>
              <a:t> </a:t>
            </a:r>
            <a:r>
              <a:rPr dirty="0" sz="2600" b="1" i="1">
                <a:latin typeface="Arial"/>
                <a:cs typeface="Arial"/>
              </a:rPr>
              <a:t>in</a:t>
            </a:r>
            <a:r>
              <a:rPr dirty="0" sz="2600" spc="60">
                <a:latin typeface="Times New Roman"/>
                <a:cs typeface="Times New Roman"/>
              </a:rPr>
              <a:t> </a:t>
            </a:r>
            <a:r>
              <a:rPr dirty="0" sz="2600" b="1" i="1">
                <a:latin typeface="Arial"/>
                <a:cs typeface="Arial"/>
              </a:rPr>
              <a:t>random</a:t>
            </a:r>
            <a:r>
              <a:rPr dirty="0" sz="2600" spc="35">
                <a:latin typeface="Times New Roman"/>
                <a:cs typeface="Times New Roman"/>
              </a:rPr>
              <a:t> </a:t>
            </a:r>
            <a:r>
              <a:rPr dirty="0" sz="2600" spc="-10" b="1" i="1">
                <a:latin typeface="Arial"/>
                <a:cs typeface="Arial"/>
              </a:rPr>
              <a:t>forest</a:t>
            </a:r>
            <a:endParaRPr sz="2600">
              <a:latin typeface="Arial"/>
              <a:cs typeface="Arial"/>
            </a:endParaRPr>
          </a:p>
          <a:p>
            <a:pPr marL="294640" marR="295910" indent="-282575">
              <a:lnSpc>
                <a:spcPct val="80000"/>
              </a:lnSpc>
              <a:spcBef>
                <a:spcPts val="2555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In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random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forests,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each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tree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constructed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using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Microsoft Sans Serif"/>
                <a:cs typeface="Microsoft Sans Serif"/>
              </a:rPr>
              <a:t>a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different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bootstrap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sample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from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original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data.</a:t>
            </a:r>
            <a:endParaRPr sz="2400">
              <a:latin typeface="Microsoft Sans Serif"/>
              <a:cs typeface="Microsoft Sans Serif"/>
            </a:endParaRPr>
          </a:p>
          <a:p>
            <a:pPr marL="294640" marR="24765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samples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left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out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bootstrap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and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not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used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in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construction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i-</a:t>
            </a:r>
            <a:r>
              <a:rPr dirty="0" sz="2400">
                <a:latin typeface="Microsoft Sans Serif"/>
                <a:cs typeface="Microsoft Sans Serif"/>
              </a:rPr>
              <a:t>th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tree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can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be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used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to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measure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performance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model.</a:t>
            </a:r>
            <a:endParaRPr sz="2400">
              <a:latin typeface="Microsoft Sans Serif"/>
              <a:cs typeface="Microsoft Sans Serif"/>
            </a:endParaRPr>
          </a:p>
          <a:p>
            <a:pPr marL="294640" marR="105410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At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end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run,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predictions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for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each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such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sample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evaluated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each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time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are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tallied,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and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final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prediction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that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sample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obtained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by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taking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Microsoft Sans Serif"/>
                <a:cs typeface="Microsoft Sans Serif"/>
              </a:rPr>
              <a:t>a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Microsoft Sans Serif"/>
                <a:cs typeface="Microsoft Sans Serif"/>
              </a:rPr>
              <a:t>vote.</a:t>
            </a:r>
            <a:endParaRPr sz="2400">
              <a:latin typeface="Microsoft Sans Serif"/>
              <a:cs typeface="Microsoft Sans Serif"/>
            </a:endParaRPr>
          </a:p>
          <a:p>
            <a:pPr marL="294640" marR="24765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total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error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rate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predictions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for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such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samples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is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termed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as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Arial"/>
                <a:cs typeface="Arial"/>
              </a:rPr>
              <a:t>out-of-</a:t>
            </a:r>
            <a:r>
              <a:rPr dirty="0" sz="2400" b="1">
                <a:latin typeface="Arial"/>
                <a:cs typeface="Arial"/>
              </a:rPr>
              <a:t>bag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(OOB)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error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Arial"/>
                <a:cs typeface="Arial"/>
              </a:rPr>
              <a:t>rate.</a:t>
            </a:r>
            <a:endParaRPr sz="2400">
              <a:latin typeface="Arial"/>
              <a:cs typeface="Arial"/>
            </a:endParaRPr>
          </a:p>
          <a:p>
            <a:pPr marL="294640" marR="107314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error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rate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shown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confusion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matrix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reflects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OOB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error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rate.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4.4.2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/>
              <a:t>Random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/>
              <a:t>Forest</a:t>
            </a:r>
            <a:r>
              <a:rPr dirty="0" spc="30" b="0">
                <a:latin typeface="Times New Roman"/>
                <a:cs typeface="Times New Roman"/>
              </a:rPr>
              <a:t> </a:t>
            </a:r>
            <a:r>
              <a:rPr dirty="0" spc="-10"/>
              <a:t>Model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61235" y="1337563"/>
            <a:ext cx="7461884" cy="5606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Arial"/>
                <a:cs typeface="Arial"/>
              </a:rPr>
              <a:t>4.4.2.3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Strengths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of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Random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Forest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10" b="1" i="1">
                <a:latin typeface="Arial"/>
                <a:cs typeface="Arial"/>
              </a:rPr>
              <a:t>Model</a:t>
            </a:r>
            <a:endParaRPr sz="2400">
              <a:latin typeface="Arial"/>
              <a:cs typeface="Arial"/>
            </a:endParaRPr>
          </a:p>
          <a:p>
            <a:pPr marL="295275" indent="-282575">
              <a:lnSpc>
                <a:spcPct val="100000"/>
              </a:lnSpc>
              <a:spcBef>
                <a:spcPts val="2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275" algn="l"/>
              </a:tabLst>
            </a:pPr>
            <a:r>
              <a:rPr dirty="0" sz="2400">
                <a:latin typeface="Microsoft Sans Serif"/>
                <a:cs typeface="Microsoft Sans Serif"/>
              </a:rPr>
              <a:t>It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runs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efficiently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large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expansive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data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sets.</a:t>
            </a:r>
            <a:endParaRPr sz="2400">
              <a:latin typeface="Microsoft Sans Serif"/>
              <a:cs typeface="Microsoft Sans Serif"/>
            </a:endParaRPr>
          </a:p>
          <a:p>
            <a:pPr marL="294640" marR="323215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It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has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robust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method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estimating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missing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and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maintains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precision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when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large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proportion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of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data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absent.</a:t>
            </a:r>
            <a:endParaRPr sz="2400">
              <a:latin typeface="Microsoft Sans Serif"/>
              <a:cs typeface="Microsoft Sans Serif"/>
            </a:endParaRPr>
          </a:p>
          <a:p>
            <a:pPr marL="294640" marR="327025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It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has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powerful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techniques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balancing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errors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Microsoft Sans Serif"/>
                <a:cs typeface="Microsoft Sans Serif"/>
              </a:rPr>
              <a:t>a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class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population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unbalanced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data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sets.</a:t>
            </a:r>
            <a:endParaRPr sz="2400">
              <a:latin typeface="Microsoft Sans Serif"/>
              <a:cs typeface="Microsoft Sans Serif"/>
            </a:endParaRPr>
          </a:p>
          <a:p>
            <a:pPr marL="294640" marR="366395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It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gives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estimates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(or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assessments)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about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which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features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are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most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important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ones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overall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Microsoft Sans Serif"/>
                <a:cs typeface="Microsoft Sans Serif"/>
              </a:rPr>
              <a:t>classification.</a:t>
            </a:r>
            <a:endParaRPr sz="2400">
              <a:latin typeface="Microsoft Sans Serif"/>
              <a:cs typeface="Microsoft Sans Serif"/>
            </a:endParaRPr>
          </a:p>
          <a:p>
            <a:pPr marL="294640" marR="5080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It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generates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internal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unbiased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estimate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(gauge)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of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generalization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error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forest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generation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Microsoft Sans Serif"/>
                <a:cs typeface="Microsoft Sans Serif"/>
              </a:rPr>
              <a:t>progresses.</a:t>
            </a:r>
            <a:endParaRPr sz="2400">
              <a:latin typeface="Microsoft Sans Serif"/>
              <a:cs typeface="Microsoft Sans Serif"/>
            </a:endParaRPr>
          </a:p>
          <a:p>
            <a:pPr marL="294640" marR="518795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Generated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forests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can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be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saved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for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future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use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on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other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data.</a:t>
            </a:r>
            <a:endParaRPr sz="2400">
              <a:latin typeface="Microsoft Sans Serif"/>
              <a:cs typeface="Microsoft Sans Serif"/>
            </a:endParaRPr>
          </a:p>
          <a:p>
            <a:pPr marL="294640" marR="403225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 spc="-10">
                <a:latin typeface="Microsoft Sans Serif"/>
                <a:cs typeface="Microsoft Sans Serif"/>
              </a:rPr>
              <a:t>Lastly,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random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forest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algorithm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used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to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solve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both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classification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and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regression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problems.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4.4.2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/>
              <a:t>Random</a:t>
            </a:r>
            <a:r>
              <a:rPr dirty="0" spc="25" b="0">
                <a:latin typeface="Times New Roman"/>
                <a:cs typeface="Times New Roman"/>
              </a:rPr>
              <a:t> </a:t>
            </a:r>
            <a:r>
              <a:rPr dirty="0"/>
              <a:t>Forest</a:t>
            </a:r>
            <a:r>
              <a:rPr dirty="0" spc="30" b="0">
                <a:latin typeface="Times New Roman"/>
                <a:cs typeface="Times New Roman"/>
              </a:rPr>
              <a:t> </a:t>
            </a:r>
            <a:r>
              <a:rPr dirty="0" spc="-10"/>
              <a:t>Model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50567" y="1337563"/>
            <a:ext cx="7467600" cy="5168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Arial"/>
                <a:cs typeface="Arial"/>
              </a:rPr>
              <a:t>4.4.2.4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Weakness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Random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Forest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0" b="1" i="1">
                <a:latin typeface="Arial"/>
                <a:cs typeface="Arial"/>
              </a:rPr>
              <a:t>Model</a:t>
            </a:r>
            <a:endParaRPr sz="2400">
              <a:latin typeface="Arial"/>
              <a:cs typeface="Arial"/>
            </a:endParaRPr>
          </a:p>
          <a:p>
            <a:pPr marL="305435" marR="376555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306705" algn="l"/>
              </a:tabLst>
            </a:pPr>
            <a:r>
              <a:rPr dirty="0" sz="2400">
                <a:latin typeface="Microsoft Sans Serif"/>
                <a:cs typeface="Microsoft Sans Serif"/>
              </a:rPr>
              <a:t>This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model,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because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combines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number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of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decision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tree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models,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not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as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easy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to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understand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as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decision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tree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model.</a:t>
            </a:r>
            <a:endParaRPr sz="2400">
              <a:latin typeface="Microsoft Sans Serif"/>
              <a:cs typeface="Microsoft Sans Serif"/>
            </a:endParaRPr>
          </a:p>
          <a:p>
            <a:pPr marL="305435" marR="476250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306705" algn="l"/>
              </a:tabLst>
            </a:pPr>
            <a:r>
              <a:rPr dirty="0" sz="2400">
                <a:latin typeface="Microsoft Sans Serif"/>
                <a:cs typeface="Microsoft Sans Serif"/>
              </a:rPr>
              <a:t>It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computationally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much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more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expensive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than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Microsoft Sans Serif"/>
                <a:cs typeface="Microsoft Sans Serif"/>
              </a:rPr>
              <a:t>a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simple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model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like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decision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tree.</a:t>
            </a:r>
            <a:endParaRPr sz="2400">
              <a:latin typeface="Microsoft Sans Serif"/>
              <a:cs typeface="Microsoft Sans Serif"/>
            </a:endParaRPr>
          </a:p>
          <a:p>
            <a:pPr marL="94615">
              <a:lnSpc>
                <a:spcPct val="100000"/>
              </a:lnSpc>
              <a:spcBef>
                <a:spcPts val="1860"/>
              </a:spcBef>
            </a:pPr>
            <a:r>
              <a:rPr dirty="0" sz="2400" b="1" i="1">
                <a:latin typeface="Arial"/>
                <a:cs typeface="Arial"/>
              </a:rPr>
              <a:t>4.4.2.5</a:t>
            </a:r>
            <a:r>
              <a:rPr dirty="0" sz="2400" spc="-11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Applications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Random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Forest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 b="1" i="1">
                <a:latin typeface="Arial"/>
                <a:cs typeface="Arial"/>
              </a:rPr>
              <a:t>Model</a:t>
            </a:r>
            <a:endParaRPr sz="2400">
              <a:latin typeface="Arial"/>
              <a:cs typeface="Arial"/>
            </a:endParaRPr>
          </a:p>
          <a:p>
            <a:pPr marL="12700" marR="229235" indent="273685">
              <a:lnSpc>
                <a:spcPct val="100000"/>
              </a:lnSpc>
              <a:buChar char="•"/>
              <a:tabLst>
                <a:tab pos="286385" algn="l"/>
              </a:tabLst>
            </a:pPr>
            <a:r>
              <a:rPr dirty="0" sz="2400">
                <a:latin typeface="Microsoft Sans Serif"/>
                <a:cs typeface="Microsoft Sans Serif"/>
              </a:rPr>
              <a:t>Random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forest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very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powerful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classifier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which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combines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versatility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many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decision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tree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models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into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single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model.</a:t>
            </a:r>
            <a:endParaRPr sz="2400">
              <a:latin typeface="Microsoft Sans Serif"/>
              <a:cs typeface="Microsoft Sans Serif"/>
            </a:endParaRPr>
          </a:p>
          <a:p>
            <a:pPr marL="12700" marR="5080" indent="273685">
              <a:lnSpc>
                <a:spcPct val="100000"/>
              </a:lnSpc>
              <a:buChar char="•"/>
              <a:tabLst>
                <a:tab pos="286385" algn="l"/>
              </a:tabLst>
            </a:pPr>
            <a:r>
              <a:rPr dirty="0" sz="2400">
                <a:latin typeface="Microsoft Sans Serif"/>
                <a:cs typeface="Microsoft Sans Serif"/>
              </a:rPr>
              <a:t>Because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superior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results,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this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ensemble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model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gaining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wide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adoption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and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popularity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amongst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machine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learning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practitioners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to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solve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wide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range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of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classification</a:t>
            </a:r>
            <a:r>
              <a:rPr dirty="0" sz="2400" spc="-1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problems.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4.4.3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/>
              <a:t>Support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/>
              <a:t>Vector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/>
              <a:t>Machines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61235" y="1337563"/>
            <a:ext cx="7444105" cy="494538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94640" marR="5080" indent="-282575">
              <a:lnSpc>
                <a:spcPct val="80000"/>
              </a:lnSpc>
              <a:spcBef>
                <a:spcPts val="675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SVM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model,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which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can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linear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classification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as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well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regression.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85"/>
              </a:spcBef>
              <a:buClr>
                <a:srgbClr val="3791A7"/>
              </a:buClr>
              <a:buFont typeface="Arial MT"/>
              <a:buChar char="⚫"/>
            </a:pPr>
            <a:endParaRPr sz="2400">
              <a:latin typeface="Microsoft Sans Serif"/>
              <a:cs typeface="Microsoft Sans Serif"/>
            </a:endParaRPr>
          </a:p>
          <a:p>
            <a:pPr marL="294640" marR="141605" indent="-282575">
              <a:lnSpc>
                <a:spcPct val="80000"/>
              </a:lnSpc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SVM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based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concept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surface,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called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Microsoft Sans Serif"/>
                <a:cs typeface="Microsoft Sans Serif"/>
              </a:rPr>
              <a:t>a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50">
                <a:latin typeface="Times New Roman"/>
                <a:cs typeface="Times New Roman"/>
              </a:rPr>
              <a:t>	</a:t>
            </a:r>
            <a:r>
              <a:rPr dirty="0" sz="2400" b="1">
                <a:latin typeface="Arial"/>
                <a:cs typeface="Arial"/>
              </a:rPr>
              <a:t>hyperplane</a:t>
            </a:r>
            <a:r>
              <a:rPr dirty="0" sz="2400">
                <a:latin typeface="Microsoft Sans Serif"/>
                <a:cs typeface="Microsoft Sans Serif"/>
              </a:rPr>
              <a:t>,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which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draws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boundary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between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instances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plotted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multi-</a:t>
            </a:r>
            <a:r>
              <a:rPr dirty="0" sz="2400">
                <a:latin typeface="Microsoft Sans Serif"/>
                <a:cs typeface="Microsoft Sans Serif"/>
              </a:rPr>
              <a:t>dimensional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feature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 spc="-10">
                <a:latin typeface="Microsoft Sans Serif"/>
                <a:cs typeface="Microsoft Sans Serif"/>
              </a:rPr>
              <a:t>space.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90"/>
              </a:spcBef>
              <a:buClr>
                <a:srgbClr val="3791A7"/>
              </a:buClr>
              <a:buFont typeface="Arial MT"/>
              <a:buChar char="⚫"/>
            </a:pPr>
            <a:endParaRPr sz="2400">
              <a:latin typeface="Microsoft Sans Serif"/>
              <a:cs typeface="Microsoft Sans Serif"/>
            </a:endParaRPr>
          </a:p>
          <a:p>
            <a:pPr marL="294640" marR="34925" indent="-282575">
              <a:lnSpc>
                <a:spcPct val="80000"/>
              </a:lnSpc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output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prediction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an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SVM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one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two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conceivable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classes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which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are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already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defined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training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data.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785"/>
              </a:spcBef>
              <a:buClr>
                <a:srgbClr val="3791A7"/>
              </a:buClr>
              <a:buFont typeface="Arial MT"/>
              <a:buChar char="⚫"/>
            </a:pPr>
            <a:endParaRPr sz="2400">
              <a:latin typeface="Microsoft Sans Serif"/>
              <a:cs typeface="Microsoft Sans Serif"/>
            </a:endParaRPr>
          </a:p>
          <a:p>
            <a:pPr marL="294640" marR="208279" indent="-282575">
              <a:lnSpc>
                <a:spcPct val="80000"/>
              </a:lnSpc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SVM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algorithm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builds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N-</a:t>
            </a:r>
            <a:r>
              <a:rPr dirty="0" sz="2400">
                <a:latin typeface="Microsoft Sans Serif"/>
                <a:cs typeface="Microsoft Sans Serif"/>
              </a:rPr>
              <a:t>dimensional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hyperplane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model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that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assigns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future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instances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into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one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two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possible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output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classes.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633475"/>
            <a:ext cx="555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4.4.3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/>
              <a:t>Support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/>
              <a:t>Vector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/>
              <a:t>Machines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244338" y="4548493"/>
            <a:ext cx="74295" cy="298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20"/>
              </a:lnSpc>
            </a:pPr>
            <a:r>
              <a:rPr dirty="0" sz="2100" spc="-60">
                <a:latin typeface="Microsoft Sans Serif"/>
                <a:cs typeface="Microsoft Sans Serif"/>
              </a:rPr>
              <a:t>.</a:t>
            </a:r>
            <a:endParaRPr sz="2100">
              <a:latin typeface="Microsoft Sans Serif"/>
              <a:cs typeface="Microsoft Sans Serif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44340" y="4600955"/>
            <a:ext cx="5143500" cy="253136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761235" y="1133347"/>
            <a:ext cx="7468234" cy="4914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3" marL="897255" indent="-88455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897255" algn="l"/>
              </a:tabLst>
            </a:pPr>
            <a:r>
              <a:rPr dirty="0" sz="2100" b="1">
                <a:latin typeface="Arial"/>
                <a:cs typeface="Arial"/>
              </a:rPr>
              <a:t>Classification</a:t>
            </a:r>
            <a:r>
              <a:rPr dirty="0" sz="2100" spc="-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using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Arial"/>
                <a:cs typeface="Arial"/>
              </a:rPr>
              <a:t>hyperplanes</a:t>
            </a:r>
            <a:endParaRPr sz="2100">
              <a:latin typeface="Arial"/>
              <a:cs typeface="Arial"/>
            </a:endParaRPr>
          </a:p>
          <a:p>
            <a:pPr lvl="4" marL="295910" marR="337185" indent="-283845">
              <a:lnSpc>
                <a:spcPts val="2020"/>
              </a:lnSpc>
              <a:spcBef>
                <a:spcPts val="58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SVM,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model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built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discriminate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instances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belonging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different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classes.</a:t>
            </a:r>
            <a:endParaRPr sz="2100">
              <a:latin typeface="Microsoft Sans Serif"/>
              <a:cs typeface="Microsoft Sans Serif"/>
            </a:endParaRPr>
          </a:p>
          <a:p>
            <a:pPr lvl="4" marL="295910" marR="5080" indent="-283845">
              <a:lnSpc>
                <a:spcPct val="80000"/>
              </a:lnSpc>
              <a:spcBef>
                <a:spcPts val="61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For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simplicity,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assume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that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instances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are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linearly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separable.</a:t>
            </a:r>
            <a:endParaRPr sz="2100">
              <a:latin typeface="Microsoft Sans Serif"/>
              <a:cs typeface="Microsoft Sans Serif"/>
            </a:endParaRPr>
          </a:p>
          <a:p>
            <a:pPr lvl="4" marL="295910" marR="19558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this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case,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when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mapped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two-</a:t>
            </a:r>
            <a:r>
              <a:rPr dirty="0" sz="2100">
                <a:latin typeface="Microsoft Sans Serif"/>
                <a:cs typeface="Microsoft Sans Serif"/>
              </a:rPr>
              <a:t>dimensional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space,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the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instances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belonging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different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classes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fall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different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sides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of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straight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line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drawn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two-</a:t>
            </a:r>
            <a:r>
              <a:rPr dirty="0" sz="2100">
                <a:latin typeface="Microsoft Sans Serif"/>
                <a:cs typeface="Microsoft Sans Serif"/>
              </a:rPr>
              <a:t>dimensional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space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shown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figure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Microsoft Sans Serif"/>
                <a:cs typeface="Microsoft Sans Serif"/>
              </a:rPr>
              <a:t>(a).</a:t>
            </a:r>
            <a:endParaRPr sz="2100">
              <a:latin typeface="Microsoft Sans Serif"/>
              <a:cs typeface="Microsoft Sans Serif"/>
            </a:endParaRPr>
          </a:p>
          <a:p>
            <a:pPr lvl="4" marL="295910" marR="127635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If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same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concept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extended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multidimensional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feature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space,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straight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line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dividing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instances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belonging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different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classes</a:t>
            </a:r>
            <a:r>
              <a:rPr dirty="0" sz="2100" spc="-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transforms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hyperplane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as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shown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figure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(b)</a:t>
            </a:r>
            <a:endParaRPr sz="2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2100">
              <a:latin typeface="Microsoft Sans Serif"/>
              <a:cs typeface="Microsoft Sans Serif"/>
            </a:endParaRPr>
          </a:p>
          <a:p>
            <a:pPr marL="358140" marR="5501640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latin typeface="Arial"/>
                <a:cs typeface="Arial"/>
              </a:rPr>
              <a:t>FIG: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Arial"/>
                <a:cs typeface="Arial"/>
              </a:rPr>
              <a:t>Linearly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separable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Arial"/>
                <a:cs typeface="Arial"/>
              </a:rPr>
              <a:t>data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Arial"/>
                <a:cs typeface="Arial"/>
              </a:rPr>
              <a:t>instances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633475"/>
            <a:ext cx="555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4.4.3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/>
              <a:t>Support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/>
              <a:t>Vector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/>
              <a:t>Machines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61235" y="1133347"/>
            <a:ext cx="7462520" cy="5130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3" marL="897255" indent="-88455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897255" algn="l"/>
              </a:tabLst>
            </a:pPr>
            <a:r>
              <a:rPr dirty="0" sz="2100" b="1">
                <a:latin typeface="Arial"/>
                <a:cs typeface="Arial"/>
              </a:rPr>
              <a:t>Classification</a:t>
            </a:r>
            <a:r>
              <a:rPr dirty="0" sz="2100" spc="-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using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Arial"/>
                <a:cs typeface="Arial"/>
              </a:rPr>
              <a:t>hyperplanes</a:t>
            </a:r>
            <a:endParaRPr sz="2100">
              <a:latin typeface="Arial"/>
              <a:cs typeface="Arial"/>
            </a:endParaRPr>
          </a:p>
          <a:p>
            <a:pPr lvl="4" marL="295910" marR="527050" indent="-283845">
              <a:lnSpc>
                <a:spcPts val="2020"/>
              </a:lnSpc>
              <a:spcBef>
                <a:spcPts val="58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Training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sets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which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have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substantial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grouping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Microsoft Sans Serif"/>
                <a:cs typeface="Microsoft Sans Serif"/>
              </a:rPr>
              <a:t>will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function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well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with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Microsoft Sans Serif"/>
                <a:cs typeface="Microsoft Sans Serif"/>
              </a:rPr>
              <a:t>SVM.</a:t>
            </a:r>
            <a:endParaRPr sz="2100">
              <a:latin typeface="Microsoft Sans Serif"/>
              <a:cs typeface="Microsoft Sans Serif"/>
            </a:endParaRPr>
          </a:p>
          <a:p>
            <a:pPr lvl="4" marL="295910" marR="145415" indent="-283845">
              <a:lnSpc>
                <a:spcPct val="80000"/>
              </a:lnSpc>
              <a:spcBef>
                <a:spcPts val="61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 b="1">
                <a:latin typeface="Arial"/>
                <a:cs typeface="Arial"/>
              </a:rPr>
              <a:t>Generalization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error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SVM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measure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of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how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accurately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and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precisely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this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SVM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model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can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predict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values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for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previously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unseen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(new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data).</a:t>
            </a:r>
            <a:endParaRPr sz="2100">
              <a:latin typeface="Microsoft Sans Serif"/>
              <a:cs typeface="Microsoft Sans Serif"/>
            </a:endParaRPr>
          </a:p>
          <a:p>
            <a:pPr lvl="4" marL="295910" marR="57150" indent="-283845">
              <a:lnSpc>
                <a:spcPts val="2020"/>
              </a:lnSpc>
              <a:spcBef>
                <a:spcPts val="58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-8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hard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margin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SVM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means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that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SVM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model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is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inflexible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classification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and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tries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work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exceptionally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fit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in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training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set,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thereby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causing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Arial"/>
                <a:cs typeface="Arial"/>
              </a:rPr>
              <a:t>overfitting</a:t>
            </a:r>
            <a:r>
              <a:rPr dirty="0" sz="2100" spc="-10">
                <a:latin typeface="Microsoft Sans Serif"/>
                <a:cs typeface="Microsoft Sans Serif"/>
              </a:rPr>
              <a:t>.</a:t>
            </a:r>
            <a:endParaRPr sz="2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900" b="1">
                <a:latin typeface="Arial"/>
                <a:cs typeface="Arial"/>
              </a:rPr>
              <a:t>Important</a:t>
            </a:r>
            <a:r>
              <a:rPr dirty="0" sz="1900" spc="-20">
                <a:latin typeface="Times New Roman"/>
                <a:cs typeface="Times New Roman"/>
              </a:rPr>
              <a:t> </a:t>
            </a:r>
            <a:r>
              <a:rPr dirty="0" sz="1900" spc="-10" b="1">
                <a:latin typeface="Arial"/>
                <a:cs typeface="Arial"/>
              </a:rPr>
              <a:t>Terminology</a:t>
            </a:r>
            <a:r>
              <a:rPr dirty="0" sz="1900" spc="-10">
                <a:latin typeface="Times New Roman"/>
                <a:cs typeface="Times New Roman"/>
              </a:rPr>
              <a:t> </a:t>
            </a:r>
            <a:r>
              <a:rPr dirty="0" sz="1900" b="1">
                <a:latin typeface="Arial"/>
                <a:cs typeface="Arial"/>
              </a:rPr>
              <a:t>in</a:t>
            </a:r>
            <a:r>
              <a:rPr dirty="0" sz="1900" spc="-25">
                <a:latin typeface="Times New Roman"/>
                <a:cs typeface="Times New Roman"/>
              </a:rPr>
              <a:t> </a:t>
            </a:r>
            <a:r>
              <a:rPr dirty="0" sz="1900" spc="-20" b="1">
                <a:latin typeface="Arial"/>
                <a:cs typeface="Arial"/>
              </a:rPr>
              <a:t>SVM:</a:t>
            </a:r>
            <a:endParaRPr sz="1900">
              <a:latin typeface="Arial"/>
              <a:cs typeface="Arial"/>
            </a:endParaRPr>
          </a:p>
          <a:p>
            <a:pPr lvl="4" marL="295910" marR="149860" indent="-283845">
              <a:lnSpc>
                <a:spcPct val="80000"/>
              </a:lnSpc>
              <a:spcBef>
                <a:spcPts val="59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 b="1">
                <a:latin typeface="Arial"/>
                <a:cs typeface="Arial"/>
              </a:rPr>
              <a:t>Support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Vectors: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These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are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data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points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(representing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classes),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critical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component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set,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which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are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near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the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identified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set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of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lines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(hyperplane).</a:t>
            </a:r>
            <a:r>
              <a:rPr dirty="0" sz="2100" spc="6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If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support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vectors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are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removed,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they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will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alter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position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of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the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dividing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hyperplane</a:t>
            </a:r>
            <a:r>
              <a:rPr dirty="0" sz="2100" spc="-10" b="1"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  <a:p>
            <a:pPr lvl="4" marL="295910" marR="508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 b="1">
                <a:latin typeface="Arial"/>
                <a:cs typeface="Arial"/>
              </a:rPr>
              <a:t>Hyperplane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and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Margin: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For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N-</a:t>
            </a:r>
            <a:r>
              <a:rPr dirty="0" sz="2100">
                <a:latin typeface="Microsoft Sans Serif"/>
                <a:cs typeface="Microsoft Sans Serif"/>
              </a:rPr>
              <a:t>dimensional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feature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space,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hyperplane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flat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subspace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of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dimension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(N−1)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Microsoft Sans Serif"/>
                <a:cs typeface="Microsoft Sans Serif"/>
              </a:rPr>
              <a:t>that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separates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and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classifies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set</a:t>
            </a:r>
            <a:r>
              <a:rPr dirty="0" sz="2100" spc="5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of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data.</a:t>
            </a:r>
            <a:endParaRPr sz="2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633475"/>
            <a:ext cx="555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4.4.3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/>
              <a:t>Support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/>
              <a:t>Vector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/>
              <a:t>Machines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672335" y="1133347"/>
            <a:ext cx="7579359" cy="529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3" marL="986155" indent="-88455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986155" algn="l"/>
              </a:tabLst>
            </a:pPr>
            <a:r>
              <a:rPr dirty="0" sz="2100" b="1">
                <a:latin typeface="Arial"/>
                <a:cs typeface="Arial"/>
              </a:rPr>
              <a:t>Classification</a:t>
            </a:r>
            <a:r>
              <a:rPr dirty="0" sz="2100" spc="-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using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Arial"/>
                <a:cs typeface="Arial"/>
              </a:rPr>
              <a:t>Hyperplanes</a:t>
            </a:r>
            <a:endParaRPr sz="210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95"/>
              </a:spcBef>
            </a:pPr>
            <a:r>
              <a:rPr dirty="0" sz="2100">
                <a:latin typeface="Microsoft Sans Serif"/>
                <a:cs typeface="Microsoft Sans Serif"/>
              </a:rPr>
              <a:t>For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example,</a:t>
            </a:r>
            <a:endParaRPr sz="2100">
              <a:latin typeface="Microsoft Sans Serif"/>
              <a:cs typeface="Microsoft Sans Serif"/>
            </a:endParaRPr>
          </a:p>
          <a:p>
            <a:pPr lvl="4" marL="384810" marR="38227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384810" algn="l"/>
              </a:tabLst>
            </a:pP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two-</a:t>
            </a:r>
            <a:r>
              <a:rPr dirty="0" sz="2100">
                <a:latin typeface="Microsoft Sans Serif"/>
                <a:cs typeface="Microsoft Sans Serif"/>
              </a:rPr>
              <a:t>dimensional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feature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space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(data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set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having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two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features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and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class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variable),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hyperplane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will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be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Microsoft Sans Serif"/>
                <a:cs typeface="Microsoft Sans Serif"/>
              </a:rPr>
              <a:t>one-</a:t>
            </a:r>
            <a:r>
              <a:rPr dirty="0" sz="2100">
                <a:latin typeface="Microsoft Sans Serif"/>
                <a:cs typeface="Microsoft Sans Serif"/>
              </a:rPr>
              <a:t>dimensional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subspace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or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straight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line.</a:t>
            </a:r>
            <a:endParaRPr sz="2100">
              <a:latin typeface="Microsoft Sans Serif"/>
              <a:cs typeface="Microsoft Sans Serif"/>
            </a:endParaRPr>
          </a:p>
          <a:p>
            <a:pPr lvl="4" marL="384810" marR="10668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384810" algn="l"/>
              </a:tabLst>
            </a:pPr>
            <a:r>
              <a:rPr dirty="0" sz="2100" spc="-10">
                <a:latin typeface="Microsoft Sans Serif"/>
                <a:cs typeface="Microsoft Sans Serif"/>
              </a:rPr>
              <a:t>Mathematically,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two-</a:t>
            </a:r>
            <a:r>
              <a:rPr dirty="0" sz="2100">
                <a:latin typeface="Microsoft Sans Serif"/>
                <a:cs typeface="Microsoft Sans Serif"/>
              </a:rPr>
              <a:t>dimensional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space,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hyperplane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can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defined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by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equation:</a:t>
            </a:r>
            <a:endParaRPr sz="2100">
              <a:latin typeface="Microsoft Sans Serif"/>
              <a:cs typeface="Microsoft Sans Serif"/>
            </a:endParaRPr>
          </a:p>
          <a:p>
            <a:pPr algn="ctr" marL="425450">
              <a:lnSpc>
                <a:spcPct val="100000"/>
              </a:lnSpc>
              <a:spcBef>
                <a:spcPts val="125"/>
              </a:spcBef>
            </a:pPr>
            <a:r>
              <a:rPr dirty="0" sz="2000" i="1">
                <a:latin typeface="Arial"/>
                <a:cs typeface="Arial"/>
              </a:rPr>
              <a:t>c</a:t>
            </a:r>
            <a:r>
              <a:rPr dirty="0" baseline="-21367" sz="1950" i="1">
                <a:latin typeface="Arial"/>
                <a:cs typeface="Arial"/>
              </a:rPr>
              <a:t>0</a:t>
            </a:r>
            <a:r>
              <a:rPr dirty="0" baseline="-21367" sz="1950" spc="330">
                <a:latin typeface="Times New Roman"/>
                <a:cs typeface="Times New Roman"/>
              </a:rPr>
              <a:t> </a:t>
            </a:r>
            <a:r>
              <a:rPr dirty="0" sz="2000" i="1">
                <a:latin typeface="Arial"/>
                <a:cs typeface="Arial"/>
              </a:rPr>
              <a:t>+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i="1">
                <a:latin typeface="Arial"/>
                <a:cs typeface="Arial"/>
              </a:rPr>
              <a:t>c</a:t>
            </a:r>
            <a:r>
              <a:rPr dirty="0" baseline="-21367" sz="1950" i="1">
                <a:latin typeface="Arial"/>
                <a:cs typeface="Arial"/>
              </a:rPr>
              <a:t>1</a:t>
            </a:r>
            <a:r>
              <a:rPr dirty="0" baseline="-21367" sz="1950" spc="330">
                <a:latin typeface="Times New Roman"/>
                <a:cs typeface="Times New Roman"/>
              </a:rPr>
              <a:t> </a:t>
            </a:r>
            <a:r>
              <a:rPr dirty="0" sz="2000" i="1">
                <a:latin typeface="Arial"/>
                <a:cs typeface="Arial"/>
              </a:rPr>
              <a:t>X</a:t>
            </a:r>
            <a:r>
              <a:rPr dirty="0" baseline="-21367" sz="1950" i="1">
                <a:latin typeface="Arial"/>
                <a:cs typeface="Arial"/>
              </a:rPr>
              <a:t>1</a:t>
            </a:r>
            <a:r>
              <a:rPr dirty="0" baseline="-21367" sz="1950" spc="359">
                <a:latin typeface="Times New Roman"/>
                <a:cs typeface="Times New Roman"/>
              </a:rPr>
              <a:t> </a:t>
            </a:r>
            <a:r>
              <a:rPr dirty="0" sz="2000" i="1">
                <a:latin typeface="Arial"/>
                <a:cs typeface="Arial"/>
              </a:rPr>
              <a:t>+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 i="1">
                <a:latin typeface="Arial"/>
                <a:cs typeface="Arial"/>
              </a:rPr>
              <a:t>c</a:t>
            </a:r>
            <a:r>
              <a:rPr dirty="0" baseline="-21367" sz="1950" i="1">
                <a:latin typeface="Arial"/>
                <a:cs typeface="Arial"/>
              </a:rPr>
              <a:t>2</a:t>
            </a:r>
            <a:r>
              <a:rPr dirty="0" baseline="-21367" sz="1950" spc="315">
                <a:latin typeface="Times New Roman"/>
                <a:cs typeface="Times New Roman"/>
              </a:rPr>
              <a:t> </a:t>
            </a:r>
            <a:r>
              <a:rPr dirty="0" sz="2000" i="1">
                <a:latin typeface="Arial"/>
                <a:cs typeface="Arial"/>
              </a:rPr>
              <a:t>X</a:t>
            </a:r>
            <a:r>
              <a:rPr dirty="0" baseline="-21367" sz="1950" i="1">
                <a:latin typeface="Arial"/>
                <a:cs typeface="Arial"/>
              </a:rPr>
              <a:t>2</a:t>
            </a:r>
            <a:r>
              <a:rPr dirty="0" baseline="-21367" sz="1950" spc="352">
                <a:latin typeface="Times New Roman"/>
                <a:cs typeface="Times New Roman"/>
              </a:rPr>
              <a:t> </a:t>
            </a:r>
            <a:r>
              <a:rPr dirty="0" sz="2000" i="1">
                <a:latin typeface="Arial"/>
                <a:cs typeface="Arial"/>
              </a:rPr>
              <a:t>=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 spc="-50" i="1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lvl="4" marL="384810" marR="142875" indent="-283845">
              <a:lnSpc>
                <a:spcPct val="80000"/>
              </a:lnSpc>
              <a:spcBef>
                <a:spcPts val="595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384810" algn="l"/>
              </a:tabLst>
            </a:pPr>
            <a:r>
              <a:rPr dirty="0" sz="2100" i="1">
                <a:latin typeface="Arial"/>
                <a:cs typeface="Arial"/>
              </a:rPr>
              <a:t>In</a:t>
            </a:r>
            <a:r>
              <a:rPr dirty="0" sz="2100" spc="35">
                <a:latin typeface="Times New Roman"/>
                <a:cs typeface="Times New Roman"/>
              </a:rPr>
              <a:t> 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three-</a:t>
            </a:r>
            <a:r>
              <a:rPr dirty="0" sz="2100">
                <a:latin typeface="Microsoft Sans Serif"/>
                <a:cs typeface="Microsoft Sans Serif"/>
              </a:rPr>
              <a:t>dimensional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feature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space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(data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set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having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three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features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and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class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variable),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hyperplane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Microsoft Sans Serif"/>
                <a:cs typeface="Microsoft Sans Serif"/>
              </a:rPr>
              <a:t>two-</a:t>
            </a:r>
            <a:r>
              <a:rPr dirty="0" sz="2100">
                <a:latin typeface="Microsoft Sans Serif"/>
                <a:cs typeface="Microsoft Sans Serif"/>
              </a:rPr>
              <a:t>dimensional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subspace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or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simple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plane.</a:t>
            </a:r>
            <a:endParaRPr sz="2100">
              <a:latin typeface="Microsoft Sans Serif"/>
              <a:cs typeface="Microsoft Sans Serif"/>
            </a:endParaRPr>
          </a:p>
          <a:p>
            <a:pPr lvl="4" marL="384810" marR="39878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384810" algn="l"/>
              </a:tabLst>
            </a:pP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N-</a:t>
            </a:r>
            <a:r>
              <a:rPr dirty="0" sz="2100">
                <a:latin typeface="Microsoft Sans Serif"/>
                <a:cs typeface="Microsoft Sans Serif"/>
              </a:rPr>
              <a:t>dimensional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space,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hyperplane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can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defined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by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equation:</a:t>
            </a:r>
            <a:endParaRPr sz="2100">
              <a:latin typeface="Microsoft Sans Serif"/>
              <a:cs typeface="Microsoft Sans Serif"/>
            </a:endParaRPr>
          </a:p>
          <a:p>
            <a:pPr marL="1216660">
              <a:lnSpc>
                <a:spcPct val="100000"/>
              </a:lnSpc>
              <a:spcBef>
                <a:spcPts val="95"/>
              </a:spcBef>
            </a:pPr>
            <a:r>
              <a:rPr dirty="0" sz="2000" i="1">
                <a:latin typeface="Arial"/>
                <a:cs typeface="Arial"/>
              </a:rPr>
              <a:t>c</a:t>
            </a:r>
            <a:r>
              <a:rPr dirty="0" baseline="-21367" sz="1950" i="1">
                <a:latin typeface="Arial"/>
                <a:cs typeface="Arial"/>
              </a:rPr>
              <a:t>0</a:t>
            </a:r>
            <a:r>
              <a:rPr dirty="0" baseline="-21367" sz="1950" spc="330">
                <a:latin typeface="Times New Roman"/>
                <a:cs typeface="Times New Roman"/>
              </a:rPr>
              <a:t> </a:t>
            </a:r>
            <a:r>
              <a:rPr dirty="0" sz="2000" i="1">
                <a:latin typeface="Arial"/>
                <a:cs typeface="Arial"/>
              </a:rPr>
              <a:t>+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 i="1">
                <a:latin typeface="Arial"/>
                <a:cs typeface="Arial"/>
              </a:rPr>
              <a:t>c</a:t>
            </a:r>
            <a:r>
              <a:rPr dirty="0" baseline="-21367" sz="1950" i="1">
                <a:latin typeface="Arial"/>
                <a:cs typeface="Arial"/>
              </a:rPr>
              <a:t>1</a:t>
            </a:r>
            <a:r>
              <a:rPr dirty="0" baseline="-21367" sz="1950" spc="315">
                <a:latin typeface="Times New Roman"/>
                <a:cs typeface="Times New Roman"/>
              </a:rPr>
              <a:t> </a:t>
            </a:r>
            <a:r>
              <a:rPr dirty="0" sz="2000" i="1">
                <a:latin typeface="Arial"/>
                <a:cs typeface="Arial"/>
              </a:rPr>
              <a:t>X</a:t>
            </a:r>
            <a:r>
              <a:rPr dirty="0" baseline="-21367" sz="1950" i="1">
                <a:latin typeface="Arial"/>
                <a:cs typeface="Arial"/>
              </a:rPr>
              <a:t>1</a:t>
            </a:r>
            <a:r>
              <a:rPr dirty="0" baseline="-21367" sz="1950" spc="359">
                <a:latin typeface="Times New Roman"/>
                <a:cs typeface="Times New Roman"/>
              </a:rPr>
              <a:t> </a:t>
            </a:r>
            <a:r>
              <a:rPr dirty="0" sz="2000" i="1">
                <a:latin typeface="Arial"/>
                <a:cs typeface="Arial"/>
              </a:rPr>
              <a:t>+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 i="1">
                <a:latin typeface="Arial"/>
                <a:cs typeface="Arial"/>
              </a:rPr>
              <a:t>c</a:t>
            </a:r>
            <a:r>
              <a:rPr dirty="0" baseline="-21367" sz="1950" i="1">
                <a:latin typeface="Arial"/>
                <a:cs typeface="Arial"/>
              </a:rPr>
              <a:t>2</a:t>
            </a:r>
            <a:r>
              <a:rPr dirty="0" baseline="-21367" sz="1950" spc="315">
                <a:latin typeface="Times New Roman"/>
                <a:cs typeface="Times New Roman"/>
              </a:rPr>
              <a:t> </a:t>
            </a:r>
            <a:r>
              <a:rPr dirty="0" sz="2000" i="1">
                <a:latin typeface="Arial"/>
                <a:cs typeface="Arial"/>
              </a:rPr>
              <a:t>X</a:t>
            </a:r>
            <a:r>
              <a:rPr dirty="0" baseline="-21367" sz="1950" i="1">
                <a:latin typeface="Arial"/>
                <a:cs typeface="Arial"/>
              </a:rPr>
              <a:t>2</a:t>
            </a:r>
            <a:r>
              <a:rPr dirty="0" baseline="-21367" sz="1950" spc="359">
                <a:latin typeface="Times New Roman"/>
                <a:cs typeface="Times New Roman"/>
              </a:rPr>
              <a:t> </a:t>
            </a:r>
            <a:r>
              <a:rPr dirty="0" sz="2000" i="1">
                <a:latin typeface="Arial"/>
                <a:cs typeface="Arial"/>
              </a:rPr>
              <a:t>+……+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 i="1">
                <a:latin typeface="Arial"/>
                <a:cs typeface="Arial"/>
              </a:rPr>
              <a:t>c</a:t>
            </a:r>
            <a:r>
              <a:rPr dirty="0" baseline="-21367" sz="1950" i="1">
                <a:latin typeface="Arial"/>
                <a:cs typeface="Arial"/>
              </a:rPr>
              <a:t>n</a:t>
            </a:r>
            <a:r>
              <a:rPr dirty="0" baseline="-21367" sz="1950" spc="330">
                <a:latin typeface="Times New Roman"/>
                <a:cs typeface="Times New Roman"/>
              </a:rPr>
              <a:t> </a:t>
            </a:r>
            <a:r>
              <a:rPr dirty="0" sz="2000" i="1">
                <a:latin typeface="Arial"/>
                <a:cs typeface="Arial"/>
              </a:rPr>
              <a:t>X</a:t>
            </a:r>
            <a:r>
              <a:rPr dirty="0" baseline="-21367" sz="1950" i="1">
                <a:latin typeface="Arial"/>
                <a:cs typeface="Arial"/>
              </a:rPr>
              <a:t>n</a:t>
            </a:r>
            <a:r>
              <a:rPr dirty="0" sz="2000" i="1">
                <a:latin typeface="Arial"/>
                <a:cs typeface="Arial"/>
              </a:rPr>
              <a:t>=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i="1">
                <a:latin typeface="Arial"/>
                <a:cs typeface="Arial"/>
              </a:rPr>
              <a:t>0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100" spc="-20" i="1">
                <a:latin typeface="Arial"/>
                <a:cs typeface="Arial"/>
              </a:rPr>
              <a:t>(or)</a:t>
            </a:r>
            <a:endParaRPr sz="2100">
              <a:latin typeface="Arial"/>
              <a:cs typeface="Arial"/>
            </a:endParaRPr>
          </a:p>
          <a:p>
            <a:pPr lvl="4" marL="384810" marR="12573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384810" algn="l"/>
              </a:tabLst>
            </a:pPr>
            <a:r>
              <a:rPr dirty="0" sz="2100" i="1">
                <a:latin typeface="Arial"/>
                <a:cs typeface="Arial"/>
              </a:rPr>
              <a:t>When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a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new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testing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data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point/data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set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is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added,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the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side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25" i="1">
                <a:latin typeface="Arial"/>
                <a:cs typeface="Arial"/>
              </a:rPr>
              <a:t>of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hyperplane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it</a:t>
            </a:r>
            <a:r>
              <a:rPr dirty="0" sz="2100" spc="5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lands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on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will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decide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the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class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that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spc="-25" i="1">
                <a:latin typeface="Arial"/>
                <a:cs typeface="Arial"/>
              </a:rPr>
              <a:t>we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assign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to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it.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The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distance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between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hyperplane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and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spc="-20" i="1">
                <a:latin typeface="Arial"/>
                <a:cs typeface="Arial"/>
              </a:rPr>
              <a:t>data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points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is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known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as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 spc="-10" b="1" i="1">
                <a:latin typeface="Arial"/>
                <a:cs typeface="Arial"/>
              </a:rPr>
              <a:t>margin</a:t>
            </a:r>
            <a:r>
              <a:rPr dirty="0" sz="2100" spc="-10" i="1">
                <a:latin typeface="Arial"/>
                <a:cs typeface="Arial"/>
              </a:rPr>
              <a:t>.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58456" y="4887467"/>
            <a:ext cx="1429511" cy="47548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633475"/>
            <a:ext cx="555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4.4.3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/>
              <a:t>Support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/>
              <a:t>Vector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/>
              <a:t>Machines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61235" y="1133347"/>
            <a:ext cx="7426959" cy="3619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Arial"/>
                <a:cs typeface="Arial"/>
              </a:rPr>
              <a:t>4.4.3.2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Identifying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the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correct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hyperplane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in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25" b="1" i="1">
                <a:latin typeface="Arial"/>
                <a:cs typeface="Arial"/>
              </a:rPr>
              <a:t>SVM</a:t>
            </a:r>
            <a:endParaRPr sz="2100">
              <a:latin typeface="Arial"/>
              <a:cs typeface="Arial"/>
            </a:endParaRPr>
          </a:p>
          <a:p>
            <a:pPr marL="295910" marR="230504" indent="-283845">
              <a:lnSpc>
                <a:spcPts val="2020"/>
              </a:lnSpc>
              <a:spcBef>
                <a:spcPts val="58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There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may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multiple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options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for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hyperplanes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dividing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the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instances</a:t>
            </a:r>
            <a:r>
              <a:rPr dirty="0" sz="2100" spc="-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belonging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different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classes.</a:t>
            </a:r>
            <a:endParaRPr sz="2100">
              <a:latin typeface="Microsoft Sans Serif"/>
              <a:cs typeface="Microsoft Sans Serif"/>
            </a:endParaRPr>
          </a:p>
          <a:p>
            <a:pPr marL="295910" marR="1104265" indent="-283845">
              <a:lnSpc>
                <a:spcPct val="80000"/>
              </a:lnSpc>
              <a:spcBef>
                <a:spcPts val="61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We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need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identify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which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one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will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result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Microsoft Sans Serif"/>
                <a:cs typeface="Microsoft Sans Serif"/>
              </a:rPr>
              <a:t>best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classification.</a:t>
            </a:r>
            <a:endParaRPr sz="2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00" b="1">
                <a:latin typeface="Arial"/>
                <a:cs typeface="Arial"/>
              </a:rPr>
              <a:t>Scenario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 spc="-25" b="1">
                <a:latin typeface="Arial"/>
                <a:cs typeface="Arial"/>
              </a:rPr>
              <a:t>1:</a:t>
            </a:r>
            <a:endParaRPr sz="2100">
              <a:latin typeface="Arial"/>
              <a:cs typeface="Arial"/>
            </a:endParaRPr>
          </a:p>
          <a:p>
            <a:pPr algn="just" marL="295275" indent="-282575">
              <a:lnSpc>
                <a:spcPct val="100000"/>
              </a:lnSpc>
              <a:spcBef>
                <a:spcPts val="95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275" algn="l"/>
              </a:tabLst>
            </a:pP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this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scenario,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we</a:t>
            </a:r>
            <a:r>
              <a:rPr dirty="0" sz="2100" spc="5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have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three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hyperplanes:</a:t>
            </a:r>
            <a:r>
              <a:rPr dirty="0" sz="2100" spc="-7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A,</a:t>
            </a:r>
            <a:r>
              <a:rPr dirty="0" sz="2100" spc="5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B,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and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C.</a:t>
            </a:r>
            <a:endParaRPr sz="2100">
              <a:latin typeface="Microsoft Sans Serif"/>
              <a:cs typeface="Microsoft Sans Serif"/>
            </a:endParaRPr>
          </a:p>
          <a:p>
            <a:pPr algn="just" marL="294640" marR="5080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Now,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need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identify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correct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hyperplane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which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better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	</a:t>
            </a:r>
            <a:r>
              <a:rPr dirty="0" sz="2100">
                <a:latin typeface="Microsoft Sans Serif"/>
                <a:cs typeface="Microsoft Sans Serif"/>
              </a:rPr>
              <a:t>segregates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two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classes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represented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by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triangles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and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	</a:t>
            </a:r>
            <a:r>
              <a:rPr dirty="0" sz="2100" spc="-10">
                <a:latin typeface="Microsoft Sans Serif"/>
                <a:cs typeface="Microsoft Sans Serif"/>
              </a:rPr>
              <a:t>circles.</a:t>
            </a:r>
            <a:endParaRPr sz="2100">
              <a:latin typeface="Microsoft Sans Serif"/>
              <a:cs typeface="Microsoft Sans Serif"/>
            </a:endParaRPr>
          </a:p>
          <a:p>
            <a:pPr algn="just" marL="294640" marR="422275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We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can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see,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hyperplane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35">
                <a:latin typeface="Microsoft Sans Serif"/>
                <a:cs typeface="Microsoft Sans Serif"/>
              </a:rPr>
              <a:t>‘A’</a:t>
            </a:r>
            <a:r>
              <a:rPr dirty="0" sz="2100" spc="-6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has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performed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this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task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quite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	</a:t>
            </a:r>
            <a:r>
              <a:rPr dirty="0" sz="2100" spc="-10">
                <a:latin typeface="Microsoft Sans Serif"/>
                <a:cs typeface="Microsoft Sans Serif"/>
              </a:rPr>
              <a:t>well.</a:t>
            </a:r>
            <a:endParaRPr sz="2100">
              <a:latin typeface="Microsoft Sans Serif"/>
              <a:cs typeface="Microsoft Sans Serif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44467" y="4672584"/>
            <a:ext cx="2561844" cy="242011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394193" y="5699249"/>
            <a:ext cx="22466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Support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Arial"/>
                <a:cs typeface="Arial"/>
              </a:rPr>
              <a:t>vector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machine: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Scenario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50" b="1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633475"/>
            <a:ext cx="555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4.4.3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/>
              <a:t>Support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/>
              <a:t>Vector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/>
              <a:t>Machines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61235" y="1133347"/>
            <a:ext cx="7408545" cy="3543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Arial"/>
                <a:cs typeface="Arial"/>
              </a:rPr>
              <a:t>4.4.3.2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Identifying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the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correct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hyperplane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in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25" b="1" i="1">
                <a:latin typeface="Arial"/>
                <a:cs typeface="Arial"/>
              </a:rPr>
              <a:t>SVM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00" b="1">
                <a:latin typeface="Arial"/>
                <a:cs typeface="Arial"/>
              </a:rPr>
              <a:t>Scenario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 spc="-25" b="1">
                <a:latin typeface="Arial"/>
                <a:cs typeface="Arial"/>
              </a:rPr>
              <a:t>2:</a:t>
            </a:r>
            <a:endParaRPr sz="210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95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this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scenario,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we</a:t>
            </a:r>
            <a:r>
              <a:rPr dirty="0" sz="2100" spc="5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have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three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hyperplanes:</a:t>
            </a:r>
            <a:r>
              <a:rPr dirty="0" sz="2100" spc="-7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A,</a:t>
            </a:r>
            <a:r>
              <a:rPr dirty="0" sz="2100" spc="5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B,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and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C.</a:t>
            </a:r>
            <a:endParaRPr sz="2100">
              <a:latin typeface="Microsoft Sans Serif"/>
              <a:cs typeface="Microsoft Sans Serif"/>
            </a:endParaRPr>
          </a:p>
          <a:p>
            <a:pPr marL="295910" marR="208915" indent="-283845">
              <a:lnSpc>
                <a:spcPts val="2020"/>
              </a:lnSpc>
              <a:spcBef>
                <a:spcPts val="58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We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have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identify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correct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hyperplane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which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classifies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triangles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and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circles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best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possible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Microsoft Sans Serif"/>
                <a:cs typeface="Microsoft Sans Serif"/>
              </a:rPr>
              <a:t>way.</a:t>
            </a:r>
            <a:endParaRPr sz="2100">
              <a:latin typeface="Microsoft Sans Serif"/>
              <a:cs typeface="Microsoft Sans Serif"/>
            </a:endParaRPr>
          </a:p>
          <a:p>
            <a:pPr marL="295910" marR="123825" indent="-283845">
              <a:lnSpc>
                <a:spcPct val="80000"/>
              </a:lnSpc>
              <a:spcBef>
                <a:spcPts val="61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Here,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maximizing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distances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between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the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Arial"/>
                <a:cs typeface="Arial"/>
              </a:rPr>
              <a:t>nearest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data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points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of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both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classes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and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hyperplane</a:t>
            </a:r>
            <a:r>
              <a:rPr dirty="0" sz="2100" spc="5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will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Microsoft Sans Serif"/>
                <a:cs typeface="Microsoft Sans Serif"/>
              </a:rPr>
              <a:t>help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us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decide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correct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hyperplane.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This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distance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called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as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Arial"/>
                <a:cs typeface="Arial"/>
              </a:rPr>
              <a:t>margin.</a:t>
            </a:r>
            <a:endParaRPr sz="2100">
              <a:latin typeface="Arial"/>
              <a:cs typeface="Arial"/>
            </a:endParaRPr>
          </a:p>
          <a:p>
            <a:pPr marL="295910" marR="508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 i="1">
                <a:latin typeface="Arial"/>
                <a:cs typeface="Arial"/>
              </a:rPr>
              <a:t>In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below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figure,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the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margin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for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hyperplane</a:t>
            </a:r>
            <a:r>
              <a:rPr dirty="0" sz="2100" spc="-5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A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is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high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25" i="1">
                <a:latin typeface="Arial"/>
                <a:cs typeface="Arial"/>
              </a:rPr>
              <a:t>as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compared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to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those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for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both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B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and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C.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Hence,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hyperplane</a:t>
            </a:r>
            <a:r>
              <a:rPr dirty="0" sz="2100" spc="-5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A</a:t>
            </a:r>
            <a:r>
              <a:rPr dirty="0" sz="2100" spc="-35">
                <a:latin typeface="Times New Roman"/>
                <a:cs typeface="Times New Roman"/>
              </a:rPr>
              <a:t> </a:t>
            </a:r>
            <a:r>
              <a:rPr dirty="0" sz="2100" spc="-25" i="1">
                <a:latin typeface="Arial"/>
                <a:cs typeface="Arial"/>
              </a:rPr>
              <a:t>is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the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correct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10" i="1">
                <a:latin typeface="Arial"/>
                <a:cs typeface="Arial"/>
              </a:rPr>
              <a:t>hyperplane.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37320" y="5627621"/>
            <a:ext cx="22466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Support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Arial"/>
                <a:cs typeface="Arial"/>
              </a:rPr>
              <a:t>vector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machine: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Scenario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50" b="1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00200" y="4672584"/>
            <a:ext cx="5286755" cy="2496311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633475"/>
            <a:ext cx="555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4.4.3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/>
              <a:t>Support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/>
              <a:t>Vector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/>
              <a:t>Machines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61235" y="1133347"/>
            <a:ext cx="7239000" cy="3210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Arial"/>
                <a:cs typeface="Arial"/>
              </a:rPr>
              <a:t>4.4.3.2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Identifying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the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correct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hyperplane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in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25" b="1" i="1">
                <a:latin typeface="Arial"/>
                <a:cs typeface="Arial"/>
              </a:rPr>
              <a:t>SVM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00" b="1">
                <a:latin typeface="Arial"/>
                <a:cs typeface="Arial"/>
              </a:rPr>
              <a:t>Scenario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 spc="-25" b="1">
                <a:latin typeface="Arial"/>
                <a:cs typeface="Arial"/>
              </a:rPr>
              <a:t>3:</a:t>
            </a:r>
            <a:endParaRPr sz="2100">
              <a:latin typeface="Arial"/>
              <a:cs typeface="Arial"/>
            </a:endParaRPr>
          </a:p>
          <a:p>
            <a:pPr marL="295910" marR="15748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If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we</a:t>
            </a:r>
            <a:r>
              <a:rPr dirty="0" sz="2100" spc="5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use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5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rules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as</a:t>
            </a:r>
            <a:r>
              <a:rPr dirty="0" sz="2100" spc="5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discussed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scenario-</a:t>
            </a:r>
            <a:r>
              <a:rPr dirty="0" sz="2100">
                <a:latin typeface="Microsoft Sans Serif"/>
                <a:cs typeface="Microsoft Sans Serif"/>
              </a:rPr>
              <a:t>2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identify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the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correct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hyperplane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below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figure,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might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Microsoft Sans Serif"/>
                <a:cs typeface="Microsoft Sans Serif"/>
              </a:rPr>
              <a:t>have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selected</a:t>
            </a:r>
            <a:r>
              <a:rPr dirty="0" sz="2100" spc="-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hyperplane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as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it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has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higher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margin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(distance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from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class)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than</a:t>
            </a:r>
            <a:r>
              <a:rPr dirty="0" sz="2100" spc="-8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A.</a:t>
            </a:r>
            <a:endParaRPr sz="2100">
              <a:latin typeface="Microsoft Sans Serif"/>
              <a:cs typeface="Microsoft Sans Serif"/>
            </a:endParaRPr>
          </a:p>
          <a:p>
            <a:pPr algn="just" marL="294640" marR="5080" indent="-282575">
              <a:lnSpc>
                <a:spcPts val="2020"/>
              </a:lnSpc>
              <a:spcBef>
                <a:spcPts val="58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 i="1">
                <a:latin typeface="Arial"/>
                <a:cs typeface="Arial"/>
              </a:rPr>
              <a:t>SVM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selects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hyperplane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which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classifies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the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spc="-10" b="1" i="1">
                <a:latin typeface="Arial"/>
                <a:cs typeface="Arial"/>
              </a:rPr>
              <a:t>classes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	</a:t>
            </a:r>
            <a:r>
              <a:rPr dirty="0" sz="2100" b="1" i="1">
                <a:latin typeface="Arial"/>
                <a:cs typeface="Arial"/>
              </a:rPr>
              <a:t>accurately</a:t>
            </a:r>
            <a:r>
              <a:rPr dirty="0" sz="2100" spc="-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before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maximizing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the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 i="1">
                <a:latin typeface="Arial"/>
                <a:cs typeface="Arial"/>
              </a:rPr>
              <a:t>margin.</a:t>
            </a:r>
            <a:endParaRPr sz="2100">
              <a:latin typeface="Arial"/>
              <a:cs typeface="Arial"/>
            </a:endParaRPr>
          </a:p>
          <a:p>
            <a:pPr algn="just" marL="294640" marR="327660" indent="-282575">
              <a:lnSpc>
                <a:spcPts val="2020"/>
              </a:lnSpc>
              <a:spcBef>
                <a:spcPts val="59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 i="1">
                <a:latin typeface="Arial"/>
                <a:cs typeface="Arial"/>
              </a:rPr>
              <a:t>Here,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hyperplane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B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has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a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classification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error,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and</a:t>
            </a:r>
            <a:r>
              <a:rPr dirty="0" sz="2100" spc="-6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A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 spc="-25" i="1">
                <a:latin typeface="Arial"/>
                <a:cs typeface="Arial"/>
              </a:rPr>
              <a:t>has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	</a:t>
            </a:r>
            <a:r>
              <a:rPr dirty="0" sz="2100" i="1">
                <a:latin typeface="Arial"/>
                <a:cs typeface="Arial"/>
              </a:rPr>
              <a:t>classified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all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data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instances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 i="1">
                <a:latin typeface="Arial"/>
                <a:cs typeface="Arial"/>
              </a:rPr>
              <a:t>correctly.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Therefore,</a:t>
            </a:r>
            <a:r>
              <a:rPr dirty="0" sz="2100" spc="-30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A</a:t>
            </a:r>
            <a:r>
              <a:rPr dirty="0" sz="2100" spc="-45">
                <a:latin typeface="Times New Roman"/>
                <a:cs typeface="Times New Roman"/>
              </a:rPr>
              <a:t> </a:t>
            </a:r>
            <a:r>
              <a:rPr dirty="0" sz="2100" i="1">
                <a:latin typeface="Arial"/>
                <a:cs typeface="Arial"/>
              </a:rPr>
              <a:t>is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25" i="1">
                <a:latin typeface="Arial"/>
                <a:cs typeface="Arial"/>
              </a:rPr>
              <a:t>the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	</a:t>
            </a:r>
            <a:r>
              <a:rPr dirty="0" sz="2100" i="1">
                <a:latin typeface="Arial"/>
                <a:cs typeface="Arial"/>
              </a:rPr>
              <a:t>correct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10" i="1">
                <a:latin typeface="Arial"/>
                <a:cs typeface="Arial"/>
              </a:rPr>
              <a:t>hyperplane.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37320" y="5627621"/>
            <a:ext cx="22466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Support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Arial"/>
                <a:cs typeface="Arial"/>
              </a:rPr>
              <a:t>vector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machine: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Scenario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50" b="1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29584" y="4457700"/>
            <a:ext cx="3000755" cy="22479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633475"/>
            <a:ext cx="555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4.4.3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/>
              <a:t>Support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/>
              <a:t>Vector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/>
              <a:t>Machines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61235" y="1133347"/>
            <a:ext cx="7411720" cy="2954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Arial"/>
                <a:cs typeface="Arial"/>
              </a:rPr>
              <a:t>4.4.3.2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Identifying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the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correct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hyperplane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in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25" b="1" i="1">
                <a:latin typeface="Arial"/>
                <a:cs typeface="Arial"/>
              </a:rPr>
              <a:t>SVM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100" b="1">
                <a:latin typeface="Arial"/>
                <a:cs typeface="Arial"/>
              </a:rPr>
              <a:t>Scenario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 spc="-25" b="1">
                <a:latin typeface="Arial"/>
                <a:cs typeface="Arial"/>
              </a:rPr>
              <a:t>4:</a:t>
            </a:r>
            <a:endParaRPr sz="2100">
              <a:latin typeface="Arial"/>
              <a:cs typeface="Arial"/>
            </a:endParaRPr>
          </a:p>
          <a:p>
            <a:pPr marL="295910" marR="13716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this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scenario,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as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shown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Figure,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it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not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possible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to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distinctly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segregate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two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classes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by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using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straight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line,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one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instance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belonging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one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of</a:t>
            </a:r>
            <a:r>
              <a:rPr dirty="0" sz="2100" spc="5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classes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(triangle)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lies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territory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of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other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class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(circle)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an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outlier.</a:t>
            </a:r>
            <a:endParaRPr sz="2100">
              <a:latin typeface="Microsoft Sans Serif"/>
              <a:cs typeface="Microsoft Sans Serif"/>
            </a:endParaRPr>
          </a:p>
          <a:p>
            <a:pPr marL="295910" marR="5080" indent="-283845">
              <a:lnSpc>
                <a:spcPts val="2020"/>
              </a:lnSpc>
              <a:spcBef>
                <a:spcPts val="58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SVM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has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feature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ignore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outliers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and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find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hyperplane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that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has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maximum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margin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(hyperplane</a:t>
            </a:r>
            <a:r>
              <a:rPr dirty="0" sz="2100" spc="-8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A).</a:t>
            </a:r>
            <a:endParaRPr sz="2100">
              <a:latin typeface="Microsoft Sans Serif"/>
              <a:cs typeface="Microsoft Sans Serif"/>
            </a:endParaRPr>
          </a:p>
          <a:p>
            <a:pPr marL="295910" indent="-283210">
              <a:lnSpc>
                <a:spcPct val="100000"/>
              </a:lnSpc>
              <a:spcBef>
                <a:spcPts val="105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Hence,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we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can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say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that</a:t>
            </a:r>
            <a:r>
              <a:rPr dirty="0" sz="2100" spc="5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SVM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robust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outliers.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65066" y="6770621"/>
            <a:ext cx="393572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Support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vector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machine: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Scenario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50" b="1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29839" y="4101084"/>
            <a:ext cx="5849111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633475"/>
            <a:ext cx="555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4.4.3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/>
              <a:t>Support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/>
              <a:t>Vector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/>
              <a:t>Machines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607311" y="1337563"/>
            <a:ext cx="7526020" cy="4283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4.4.3.2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Identifying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correct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hyperplane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in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25" b="1" i="1">
                <a:latin typeface="Arial"/>
                <a:cs typeface="Arial"/>
              </a:rPr>
              <a:t>SVM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>
              <a:latin typeface="Arial"/>
              <a:cs typeface="Arial"/>
            </a:endParaRPr>
          </a:p>
          <a:p>
            <a:pPr marL="13970" marR="632460" indent="-1905">
              <a:lnSpc>
                <a:spcPct val="80000"/>
              </a:lnSpc>
              <a:spcBef>
                <a:spcPts val="5"/>
              </a:spcBef>
            </a:pPr>
            <a:r>
              <a:rPr dirty="0" sz="2400">
                <a:latin typeface="Microsoft Sans Serif"/>
                <a:cs typeface="Microsoft Sans Serif"/>
              </a:rPr>
              <a:t>By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summarizing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observations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from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different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scenarios,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can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say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that:</a:t>
            </a:r>
            <a:endParaRPr sz="2400">
              <a:latin typeface="Microsoft Sans Serif"/>
              <a:cs typeface="Microsoft Sans Serif"/>
            </a:endParaRPr>
          </a:p>
          <a:p>
            <a:pPr marL="720725" marR="102235" indent="-37528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AutoNum type="arabicPeriod"/>
              <a:tabLst>
                <a:tab pos="720725" algn="l"/>
              </a:tabLst>
            </a:pP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hyperplane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should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segregate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data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instances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belonging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two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classes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best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possible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way.</a:t>
            </a:r>
            <a:endParaRPr sz="2400">
              <a:latin typeface="Microsoft Sans Serif"/>
              <a:cs typeface="Microsoft Sans Serif"/>
            </a:endParaRPr>
          </a:p>
          <a:p>
            <a:pPr marL="720725" marR="645160" indent="-37528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AutoNum type="arabicPeriod"/>
              <a:tabLst>
                <a:tab pos="720725" algn="l"/>
              </a:tabLst>
            </a:pPr>
            <a:r>
              <a:rPr dirty="0" sz="2400">
                <a:latin typeface="Microsoft Sans Serif"/>
                <a:cs typeface="Microsoft Sans Serif"/>
              </a:rPr>
              <a:t>It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should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maximize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distances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between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nearest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data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points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both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classes,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i.e.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maximize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margin.</a:t>
            </a:r>
            <a:endParaRPr sz="2400">
              <a:latin typeface="Microsoft Sans Serif"/>
              <a:cs typeface="Microsoft Sans Serif"/>
            </a:endParaRPr>
          </a:p>
          <a:p>
            <a:pPr marL="720725" marR="5080" indent="-37528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AutoNum type="arabicPeriod"/>
              <a:tabLst>
                <a:tab pos="720725" algn="l"/>
              </a:tabLst>
            </a:pPr>
            <a:r>
              <a:rPr dirty="0" sz="2400">
                <a:latin typeface="Microsoft Sans Serif"/>
                <a:cs typeface="Microsoft Sans Serif"/>
              </a:rPr>
              <a:t>If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there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need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to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prioritize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between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higher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margin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and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lesser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misclassification,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the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hyperplane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should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try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reduce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misclassifications.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633475"/>
            <a:ext cx="555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4.4.3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/>
              <a:t>Support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/>
              <a:t>Vector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/>
              <a:t>Machines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689607" y="1116583"/>
            <a:ext cx="7437120" cy="3544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600" b="1">
                <a:latin typeface="Arial"/>
                <a:cs typeface="Arial"/>
              </a:rPr>
              <a:t>4.4.3.3</a:t>
            </a:r>
            <a:r>
              <a:rPr dirty="0" sz="2600" spc="10">
                <a:latin typeface="Times New Roman"/>
                <a:cs typeface="Times New Roman"/>
              </a:rPr>
              <a:t> </a:t>
            </a:r>
            <a:r>
              <a:rPr dirty="0" sz="2600" b="1" i="1">
                <a:latin typeface="Arial"/>
                <a:cs typeface="Arial"/>
              </a:rPr>
              <a:t>Maximum</a:t>
            </a:r>
            <a:r>
              <a:rPr dirty="0" sz="2600">
                <a:latin typeface="Times New Roman"/>
                <a:cs typeface="Times New Roman"/>
              </a:rPr>
              <a:t> </a:t>
            </a:r>
            <a:r>
              <a:rPr dirty="0" sz="2600" b="1" i="1">
                <a:latin typeface="Arial"/>
                <a:cs typeface="Arial"/>
              </a:rPr>
              <a:t>margin</a:t>
            </a:r>
            <a:r>
              <a:rPr dirty="0" sz="2600" spc="20">
                <a:latin typeface="Times New Roman"/>
                <a:cs typeface="Times New Roman"/>
              </a:rPr>
              <a:t> </a:t>
            </a:r>
            <a:r>
              <a:rPr dirty="0" sz="2600" spc="-10" b="1" i="1">
                <a:latin typeface="Arial"/>
                <a:cs typeface="Arial"/>
              </a:rPr>
              <a:t>hyperplane</a:t>
            </a:r>
            <a:endParaRPr sz="2600">
              <a:latin typeface="Arial"/>
              <a:cs typeface="Arial"/>
            </a:endParaRPr>
          </a:p>
          <a:p>
            <a:pPr marL="295910" marR="165100" indent="-283845">
              <a:lnSpc>
                <a:spcPct val="80000"/>
              </a:lnSpc>
              <a:spcBef>
                <a:spcPts val="61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Finding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Maximum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Margin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Hyperplane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(MMH)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nothing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but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identifying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hyperplane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which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has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largest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separation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with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instances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of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two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classes.</a:t>
            </a:r>
            <a:endParaRPr sz="2100">
              <a:latin typeface="Microsoft Sans Serif"/>
              <a:cs typeface="Microsoft Sans Serif"/>
            </a:endParaRPr>
          </a:p>
          <a:p>
            <a:pPr marL="295910" marR="9652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 b="1">
                <a:latin typeface="Arial"/>
                <a:cs typeface="Arial"/>
              </a:rPr>
              <a:t>Support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vectors,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can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observed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Figure,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are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20" b="1">
                <a:latin typeface="Arial"/>
                <a:cs typeface="Arial"/>
              </a:rPr>
              <a:t>data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instances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from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two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classes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which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are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closest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to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25" b="1">
                <a:latin typeface="Arial"/>
                <a:cs typeface="Arial"/>
              </a:rPr>
              <a:t>the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 spc="-20" b="1">
                <a:latin typeface="Arial"/>
                <a:cs typeface="Arial"/>
              </a:rPr>
              <a:t>MMH.</a:t>
            </a:r>
            <a:endParaRPr sz="2100">
              <a:latin typeface="Arial"/>
              <a:cs typeface="Arial"/>
            </a:endParaRPr>
          </a:p>
          <a:p>
            <a:pPr marL="295910" marR="381635" indent="-283845">
              <a:lnSpc>
                <a:spcPts val="2020"/>
              </a:lnSpc>
              <a:spcBef>
                <a:spcPts val="58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There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should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at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least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one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support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vector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from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20" b="1">
                <a:latin typeface="Arial"/>
                <a:cs typeface="Arial"/>
              </a:rPr>
              <a:t>each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Arial"/>
                <a:cs typeface="Arial"/>
              </a:rPr>
              <a:t>class</a:t>
            </a:r>
            <a:r>
              <a:rPr dirty="0" sz="2100" spc="-10">
                <a:latin typeface="Microsoft Sans Serif"/>
                <a:cs typeface="Microsoft Sans Serif"/>
              </a:rPr>
              <a:t>.</a:t>
            </a:r>
            <a:endParaRPr sz="2100">
              <a:latin typeface="Microsoft Sans Serif"/>
              <a:cs typeface="Microsoft Sans Serif"/>
            </a:endParaRPr>
          </a:p>
          <a:p>
            <a:pPr marL="295910" marR="5080" indent="-283845">
              <a:lnSpc>
                <a:spcPct val="80000"/>
              </a:lnSpc>
              <a:spcBef>
                <a:spcPts val="61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Modelling</a:t>
            </a:r>
            <a:r>
              <a:rPr dirty="0" sz="2100" spc="-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problem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using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SVM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nothing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but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identifying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the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support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vectors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and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MMH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corresponding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problem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space.</a:t>
            </a:r>
            <a:endParaRPr sz="2100">
              <a:latin typeface="Microsoft Sans Serif"/>
              <a:cs typeface="Microsoft Sans Serif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14700" y="4404359"/>
            <a:ext cx="3368040" cy="291083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894065" y="5984237"/>
            <a:ext cx="1771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Support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Arial"/>
                <a:cs typeface="Arial"/>
              </a:rPr>
              <a:t>vectors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633475"/>
            <a:ext cx="555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4.4.3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/>
              <a:t>Support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/>
              <a:t>Vector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/>
              <a:t>Machines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720084"/>
            <a:ext cx="9144000" cy="3595370"/>
            <a:chOff x="457200" y="3720084"/>
            <a:chExt cx="9144000" cy="359537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02096" y="3720084"/>
              <a:ext cx="3223260" cy="1661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00" y="3886200"/>
              <a:ext cx="9143999" cy="34289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02096" y="3886200"/>
              <a:ext cx="3223260" cy="214426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179309" y="6057389"/>
            <a:ext cx="28282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Drawing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b="1">
                <a:latin typeface="Arial"/>
                <a:cs typeface="Arial"/>
              </a:rPr>
              <a:t>the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 b="1">
                <a:latin typeface="Arial"/>
                <a:cs typeface="Arial"/>
              </a:rPr>
              <a:t>MMH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 b="1">
                <a:latin typeface="Arial"/>
                <a:cs typeface="Arial"/>
              </a:rPr>
              <a:t>for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Arial"/>
                <a:cs typeface="Arial"/>
              </a:rPr>
              <a:t>linearly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79309" y="6301229"/>
            <a:ext cx="14446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Arial"/>
                <a:cs typeface="Arial"/>
              </a:rPr>
              <a:t>separable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 spc="-20" b="1">
                <a:latin typeface="Arial"/>
                <a:cs typeface="Arial"/>
              </a:rPr>
              <a:t>data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29839" y="4529328"/>
            <a:ext cx="1295400" cy="50139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689607" y="1124203"/>
            <a:ext cx="7091045" cy="4434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3" marL="1026160" indent="-1013460">
              <a:lnSpc>
                <a:spcPct val="100000"/>
              </a:lnSpc>
              <a:spcBef>
                <a:spcPts val="100"/>
              </a:spcBef>
              <a:buFont typeface="Arial"/>
              <a:buAutoNum type="arabicPeriod" startAt="3"/>
              <a:tabLst>
                <a:tab pos="1026160" algn="l"/>
              </a:tabLst>
            </a:pPr>
            <a:r>
              <a:rPr dirty="0" sz="2400" b="1" i="1">
                <a:latin typeface="Arial"/>
                <a:cs typeface="Arial"/>
              </a:rPr>
              <a:t>Maximum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margin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 b="1" i="1">
                <a:latin typeface="Arial"/>
                <a:cs typeface="Arial"/>
              </a:rPr>
              <a:t>hyperplane</a:t>
            </a:r>
            <a:endParaRPr sz="2400">
              <a:latin typeface="Arial"/>
              <a:cs typeface="Arial"/>
            </a:endParaRPr>
          </a:p>
          <a:p>
            <a:pPr lvl="4" marL="1065530" indent="-1052830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1065530" algn="l"/>
              </a:tabLst>
            </a:pPr>
            <a:r>
              <a:rPr dirty="0" sz="2000" b="1" i="1">
                <a:latin typeface="Arial"/>
                <a:cs typeface="Arial"/>
              </a:rPr>
              <a:t>Identifying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b="1" i="1">
                <a:latin typeface="Arial"/>
                <a:cs typeface="Arial"/>
              </a:rPr>
              <a:t>the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b="1" i="1">
                <a:latin typeface="Arial"/>
                <a:cs typeface="Arial"/>
              </a:rPr>
              <a:t>MMH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 b="1" i="1">
                <a:latin typeface="Arial"/>
                <a:cs typeface="Arial"/>
              </a:rPr>
              <a:t>for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b="1" i="1">
                <a:latin typeface="Arial"/>
                <a:cs typeface="Arial"/>
              </a:rPr>
              <a:t>linearly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b="1" i="1">
                <a:latin typeface="Arial"/>
                <a:cs typeface="Arial"/>
              </a:rPr>
              <a:t>separable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10" b="1" i="1">
                <a:latin typeface="Arial"/>
                <a:cs typeface="Arial"/>
              </a:rPr>
              <a:t>data:</a:t>
            </a:r>
            <a:endParaRPr sz="2000">
              <a:latin typeface="Arial"/>
              <a:cs typeface="Arial"/>
            </a:endParaRPr>
          </a:p>
          <a:p>
            <a:pPr lvl="5" marL="295910" marR="508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80000"/>
              <a:buFont typeface="Arial MT"/>
              <a:buChar char="⚫"/>
              <a:tabLst>
                <a:tab pos="295910" algn="l"/>
              </a:tabLst>
            </a:pPr>
            <a:r>
              <a:rPr dirty="0" sz="2000">
                <a:latin typeface="Microsoft Sans Serif"/>
                <a:cs typeface="Microsoft Sans Serif"/>
              </a:rPr>
              <a:t>Finding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out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MMH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is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relatively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straightforward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for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Microsoft Sans Serif"/>
                <a:cs typeface="Microsoft Sans Serif"/>
              </a:rPr>
              <a:t>data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that</a:t>
            </a:r>
            <a:r>
              <a:rPr dirty="0" sz="200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is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Microsoft Sans Serif"/>
                <a:cs typeface="Microsoft Sans Serif"/>
              </a:rPr>
              <a:t>linearly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Microsoft Sans Serif"/>
                <a:cs typeface="Microsoft Sans Serif"/>
              </a:rPr>
              <a:t>separable.</a:t>
            </a:r>
            <a:endParaRPr sz="2000">
              <a:latin typeface="Microsoft Sans Serif"/>
              <a:cs typeface="Microsoft Sans Serif"/>
            </a:endParaRPr>
          </a:p>
          <a:p>
            <a:pPr lvl="5" marL="295910" marR="488315" indent="-283845">
              <a:lnSpc>
                <a:spcPct val="80000"/>
              </a:lnSpc>
              <a:spcBef>
                <a:spcPts val="610"/>
              </a:spcBef>
              <a:buClr>
                <a:srgbClr val="3791A7"/>
              </a:buClr>
              <a:buSzPct val="77777"/>
              <a:buFont typeface="Arial MT"/>
              <a:buChar char="⚫"/>
              <a:tabLst>
                <a:tab pos="295910" algn="l"/>
              </a:tabLst>
            </a:pPr>
            <a:r>
              <a:rPr dirty="0" sz="1800">
                <a:latin typeface="Microsoft Sans Serif"/>
                <a:cs typeface="Microsoft Sans Serif"/>
              </a:rPr>
              <a:t>In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this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case,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an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outer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boundary</a:t>
            </a:r>
            <a:r>
              <a:rPr dirty="0" sz="1800" spc="4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needs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to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be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drawn</a:t>
            </a:r>
            <a:r>
              <a:rPr dirty="0" sz="1800" spc="6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for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Microsoft Sans Serif"/>
                <a:cs typeface="Microsoft Sans Serif"/>
              </a:rPr>
              <a:t>data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instances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belonging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to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different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classes.</a:t>
            </a:r>
            <a:endParaRPr sz="1800">
              <a:latin typeface="Microsoft Sans Serif"/>
              <a:cs typeface="Microsoft Sans Serif"/>
            </a:endParaRPr>
          </a:p>
          <a:p>
            <a:pPr lvl="5" marL="295910" indent="-283210">
              <a:lnSpc>
                <a:spcPct val="100000"/>
              </a:lnSpc>
              <a:spcBef>
                <a:spcPts val="170"/>
              </a:spcBef>
              <a:buClr>
                <a:srgbClr val="3791A7"/>
              </a:buClr>
              <a:buSzPct val="77777"/>
              <a:buFont typeface="Arial MT"/>
              <a:buChar char="⚫"/>
              <a:tabLst>
                <a:tab pos="295910" algn="l"/>
              </a:tabLst>
            </a:pPr>
            <a:r>
              <a:rPr dirty="0" sz="1800" i="1">
                <a:latin typeface="Arial"/>
                <a:cs typeface="Arial"/>
              </a:rPr>
              <a:t>These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outer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boundaries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are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known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as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b="1" i="1">
                <a:latin typeface="Arial"/>
                <a:cs typeface="Arial"/>
              </a:rPr>
              <a:t>convex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10" b="1" i="1">
                <a:latin typeface="Arial"/>
                <a:cs typeface="Arial"/>
              </a:rPr>
              <a:t>hull.</a:t>
            </a:r>
            <a:endParaRPr sz="1800">
              <a:latin typeface="Arial"/>
              <a:cs typeface="Arial"/>
            </a:endParaRPr>
          </a:p>
          <a:p>
            <a:pPr lvl="5" marL="295910" marR="262255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7777"/>
              <a:buFont typeface="Arial MT"/>
              <a:buChar char="⚫"/>
              <a:tabLst>
                <a:tab pos="295910" algn="l"/>
              </a:tabLst>
            </a:pPr>
            <a:r>
              <a:rPr dirty="0" sz="1800" i="1">
                <a:latin typeface="Arial"/>
                <a:cs typeface="Arial"/>
              </a:rPr>
              <a:t>The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MMH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can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be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drawn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as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the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b="1" i="1">
                <a:latin typeface="Arial"/>
                <a:cs typeface="Arial"/>
              </a:rPr>
              <a:t>perpendicular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 b="1" i="1">
                <a:latin typeface="Arial"/>
                <a:cs typeface="Arial"/>
              </a:rPr>
              <a:t>bisector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b="1" i="1">
                <a:latin typeface="Arial"/>
                <a:cs typeface="Arial"/>
              </a:rPr>
              <a:t>of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spc="-25" b="1" i="1">
                <a:latin typeface="Arial"/>
                <a:cs typeface="Arial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b="1" i="1">
                <a:latin typeface="Arial"/>
                <a:cs typeface="Arial"/>
              </a:rPr>
              <a:t>shortest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b="1" i="1">
                <a:latin typeface="Arial"/>
                <a:cs typeface="Arial"/>
              </a:rPr>
              <a:t>line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(i.e.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the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connecting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line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having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the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shortest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Arial"/>
                <a:cs typeface="Arial"/>
              </a:rPr>
              <a:t>length)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between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the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convex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Arial"/>
                <a:cs typeface="Arial"/>
              </a:rPr>
              <a:t>hulls.</a:t>
            </a:r>
            <a:endParaRPr sz="1800">
              <a:latin typeface="Arial"/>
              <a:cs typeface="Arial"/>
            </a:endParaRPr>
          </a:p>
          <a:p>
            <a:pPr marL="73025" marR="3289935">
              <a:lnSpc>
                <a:spcPct val="100000"/>
              </a:lnSpc>
              <a:spcBef>
                <a:spcPts val="500"/>
              </a:spcBef>
            </a:pPr>
            <a:r>
              <a:rPr dirty="0" sz="1800">
                <a:latin typeface="Microsoft Sans Serif"/>
                <a:cs typeface="Microsoft Sans Serif"/>
              </a:rPr>
              <a:t>N-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dimensional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feature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space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can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Microsoft Sans Serif"/>
                <a:cs typeface="Microsoft Sans Serif"/>
              </a:rPr>
              <a:t>be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represented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by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equation: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44780" marR="2874645">
              <a:lnSpc>
                <a:spcPct val="100000"/>
              </a:lnSpc>
              <a:tabLst>
                <a:tab pos="1464945" algn="l"/>
              </a:tabLst>
            </a:pP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objective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is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to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find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a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set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of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values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Microsoft Sans Serif"/>
                <a:cs typeface="Microsoft Sans Serif"/>
              </a:rPr>
              <a:t>for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vector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>
                <a:latin typeface="Microsoft Sans Serif"/>
                <a:cs typeface="Microsoft Sans Serif"/>
              </a:rPr>
              <a:t>such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Microsoft Sans Serif"/>
                <a:cs typeface="Microsoft Sans Serif"/>
              </a:rPr>
              <a:t>that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886455" y="5172455"/>
            <a:ext cx="1945005" cy="1061085"/>
            <a:chOff x="2886455" y="5172455"/>
            <a:chExt cx="1945005" cy="1061085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86455" y="5172455"/>
              <a:ext cx="231647" cy="4282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72967" y="5530595"/>
              <a:ext cx="1658111" cy="702563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464055" y="6199121"/>
            <a:ext cx="43116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Microsoft Sans Serif"/>
                <a:cs typeface="Microsoft Sans Serif"/>
              </a:rPr>
              <a:t>In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order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to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maximize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distance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between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139184" y="6458711"/>
            <a:ext cx="193547" cy="356615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464055" y="6391145"/>
            <a:ext cx="6388100" cy="73914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  <a:tabLst>
                <a:tab pos="2944495" algn="l"/>
              </a:tabLst>
            </a:pPr>
            <a:r>
              <a:rPr dirty="0" sz="1800">
                <a:latin typeface="Microsoft Sans Serif"/>
                <a:cs typeface="Microsoft Sans Serif"/>
              </a:rPr>
              <a:t>hyperplanes,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value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Microsoft Sans Serif"/>
                <a:cs typeface="Microsoft Sans Serif"/>
              </a:rPr>
              <a:t>of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>
                <a:latin typeface="Microsoft Sans Serif"/>
                <a:cs typeface="Microsoft Sans Serif"/>
              </a:rPr>
              <a:t>should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be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minimized.</a:t>
            </a:r>
            <a:endParaRPr sz="1800">
              <a:latin typeface="Microsoft Sans Serif"/>
              <a:cs typeface="Microsoft Sans Serif"/>
            </a:endParaRPr>
          </a:p>
          <a:p>
            <a:pPr marL="583565">
              <a:lnSpc>
                <a:spcPct val="100000"/>
              </a:lnSpc>
              <a:spcBef>
                <a:spcPts val="650"/>
              </a:spcBef>
            </a:pPr>
            <a:r>
              <a:rPr dirty="0" sz="1800" b="1">
                <a:latin typeface="Arial"/>
                <a:cs typeface="Arial"/>
              </a:rPr>
              <a:t>The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task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of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SVM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is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to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solve</a:t>
            </a:r>
            <a:r>
              <a:rPr dirty="0" sz="1800" spc="5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the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optimization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Arial"/>
                <a:cs typeface="Arial"/>
              </a:rPr>
              <a:t>problem</a:t>
            </a:r>
            <a:r>
              <a:rPr dirty="0" sz="1800" spc="-10">
                <a:latin typeface="Microsoft Sans Serif"/>
                <a:cs typeface="Microsoft Sans Serif"/>
              </a:rPr>
              <a:t>: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886700" y="6483096"/>
            <a:ext cx="1252727" cy="83210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633475"/>
            <a:ext cx="555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4.4.3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/>
              <a:t>Support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/>
              <a:t>Vector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/>
              <a:t>Machines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7084" y="4315968"/>
              <a:ext cx="2857500" cy="243992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689607" y="1102867"/>
            <a:ext cx="7788909" cy="616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3" marL="1277620" indent="-1264920">
              <a:lnSpc>
                <a:spcPct val="100000"/>
              </a:lnSpc>
              <a:spcBef>
                <a:spcPts val="100"/>
              </a:spcBef>
              <a:buFont typeface="Arial"/>
              <a:buAutoNum type="arabicPeriod" startAt="3"/>
              <a:tabLst>
                <a:tab pos="1277620" algn="l"/>
              </a:tabLst>
            </a:pPr>
            <a:r>
              <a:rPr dirty="0" sz="3000" b="1" i="1">
                <a:latin typeface="Arial"/>
                <a:cs typeface="Arial"/>
              </a:rPr>
              <a:t>Maximum</a:t>
            </a:r>
            <a:r>
              <a:rPr dirty="0" sz="3000" spc="25">
                <a:latin typeface="Times New Roman"/>
                <a:cs typeface="Times New Roman"/>
              </a:rPr>
              <a:t> </a:t>
            </a:r>
            <a:r>
              <a:rPr dirty="0" sz="3000" b="1" i="1">
                <a:latin typeface="Arial"/>
                <a:cs typeface="Arial"/>
              </a:rPr>
              <a:t>margin</a:t>
            </a:r>
            <a:r>
              <a:rPr dirty="0" sz="3000">
                <a:latin typeface="Times New Roman"/>
                <a:cs typeface="Times New Roman"/>
              </a:rPr>
              <a:t> </a:t>
            </a:r>
            <a:r>
              <a:rPr dirty="0" sz="3000" spc="-10" b="1" i="1">
                <a:latin typeface="Arial"/>
                <a:cs typeface="Arial"/>
              </a:rPr>
              <a:t>hyperplane</a:t>
            </a:r>
            <a:endParaRPr sz="3000">
              <a:latin typeface="Arial"/>
              <a:cs typeface="Arial"/>
            </a:endParaRPr>
          </a:p>
          <a:p>
            <a:pPr lvl="4" marL="295910" marR="1220470" indent="-283845">
              <a:lnSpc>
                <a:spcPct val="80000"/>
              </a:lnSpc>
              <a:spcBef>
                <a:spcPts val="620"/>
              </a:spcBef>
              <a:buAutoNum type="arabicPeriod" startAt="2"/>
              <a:tabLst>
                <a:tab pos="295910" algn="l"/>
                <a:tab pos="1278255" algn="l"/>
              </a:tabLst>
            </a:pPr>
            <a:r>
              <a:rPr dirty="0" sz="2400" b="1" i="1">
                <a:latin typeface="Arial"/>
                <a:cs typeface="Arial"/>
              </a:rPr>
              <a:t>	</a:t>
            </a:r>
            <a:r>
              <a:rPr dirty="0" sz="2400" b="1" i="1">
                <a:latin typeface="Arial"/>
                <a:cs typeface="Arial"/>
              </a:rPr>
              <a:t>Identifying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the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MMH</a:t>
            </a:r>
            <a:r>
              <a:rPr dirty="0" sz="2400" spc="5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for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non-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10" b="1" i="1">
                <a:latin typeface="Arial"/>
                <a:cs typeface="Arial"/>
              </a:rPr>
              <a:t>linearly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separable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20" b="1" i="1">
                <a:latin typeface="Arial"/>
                <a:cs typeface="Arial"/>
              </a:rPr>
              <a:t>data:</a:t>
            </a:r>
            <a:endParaRPr sz="2400">
              <a:latin typeface="Arial"/>
              <a:cs typeface="Arial"/>
            </a:endParaRPr>
          </a:p>
          <a:p>
            <a:pPr lvl="5" marL="294640" marR="343535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For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finding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out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MMH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for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non-</a:t>
            </a:r>
            <a:r>
              <a:rPr dirty="0" sz="2400">
                <a:latin typeface="Microsoft Sans Serif"/>
                <a:cs typeface="Microsoft Sans Serif"/>
              </a:rPr>
              <a:t>linearly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separable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data,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we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have</a:t>
            </a:r>
            <a:r>
              <a:rPr dirty="0" sz="2200" spc="3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3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use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</a:t>
            </a:r>
            <a:r>
              <a:rPr dirty="0" sz="2200" spc="35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slack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variable</a:t>
            </a:r>
            <a:r>
              <a:rPr dirty="0" sz="2200" spc="35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ξ</a:t>
            </a:r>
            <a:r>
              <a:rPr dirty="0" sz="2200">
                <a:latin typeface="Microsoft Sans Serif"/>
                <a:cs typeface="Microsoft Sans Serif"/>
              </a:rPr>
              <a:t>,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which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Arial"/>
                <a:cs typeface="Arial"/>
              </a:rPr>
              <a:t>provides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	</a:t>
            </a:r>
            <a:r>
              <a:rPr dirty="0" sz="2200" b="1">
                <a:latin typeface="Arial"/>
                <a:cs typeface="Arial"/>
              </a:rPr>
              <a:t>some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soft</a:t>
            </a:r>
            <a:r>
              <a:rPr dirty="0" sz="2200" spc="35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margin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for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data</a:t>
            </a:r>
            <a:r>
              <a:rPr dirty="0" sz="2200" spc="30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instances</a:t>
            </a:r>
            <a:r>
              <a:rPr dirty="0" sz="2200" spc="40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in</a:t>
            </a:r>
            <a:r>
              <a:rPr dirty="0" sz="2200" spc="30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one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class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 spc="-20" b="1">
                <a:latin typeface="Arial"/>
                <a:cs typeface="Arial"/>
              </a:rPr>
              <a:t>that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	</a:t>
            </a:r>
            <a:r>
              <a:rPr dirty="0" sz="2200" b="1">
                <a:latin typeface="Arial"/>
                <a:cs typeface="Arial"/>
              </a:rPr>
              <a:t>fall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on</a:t>
            </a:r>
            <a:r>
              <a:rPr dirty="0" sz="2200" spc="40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the</a:t>
            </a:r>
            <a:r>
              <a:rPr dirty="0" sz="2200" spc="40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wrong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side</a:t>
            </a:r>
            <a:r>
              <a:rPr dirty="0" sz="2200" spc="45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of</a:t>
            </a:r>
            <a:r>
              <a:rPr dirty="0" sz="2200" spc="35">
                <a:latin typeface="Times New Roman"/>
                <a:cs typeface="Times New Roman"/>
              </a:rPr>
              <a:t> </a:t>
            </a:r>
            <a:r>
              <a:rPr dirty="0" sz="2200" b="1">
                <a:latin typeface="Arial"/>
                <a:cs typeface="Arial"/>
              </a:rPr>
              <a:t>the</a:t>
            </a:r>
            <a:r>
              <a:rPr dirty="0" sz="2200" spc="40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Arial"/>
                <a:cs typeface="Arial"/>
              </a:rPr>
              <a:t>hyperplane</a:t>
            </a:r>
            <a:r>
              <a:rPr dirty="0" sz="2200" spc="-10">
                <a:latin typeface="Microsoft Sans Serif"/>
                <a:cs typeface="Microsoft Sans Serif"/>
              </a:rPr>
              <a:t>.</a:t>
            </a:r>
            <a:endParaRPr sz="2200">
              <a:latin typeface="Microsoft Sans Serif"/>
              <a:cs typeface="Microsoft Sans Serif"/>
            </a:endParaRPr>
          </a:p>
          <a:p>
            <a:pPr lvl="5" marL="295910" marR="31877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545"/>
              <a:buFont typeface="Arial MT"/>
              <a:buChar char="⚫"/>
              <a:tabLst>
                <a:tab pos="295910" algn="l"/>
              </a:tabLst>
            </a:pPr>
            <a:r>
              <a:rPr dirty="0" sz="2200">
                <a:latin typeface="Microsoft Sans Serif"/>
                <a:cs typeface="Microsoft Sans Serif"/>
              </a:rPr>
              <a:t>As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shown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in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figure,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data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instance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belonging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1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circle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class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falls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on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side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of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hyperplane</a:t>
            </a:r>
            <a:r>
              <a:rPr dirty="0" sz="2200" spc="2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designated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Microsoft Sans Serif"/>
                <a:cs typeface="Microsoft Sans Serif"/>
              </a:rPr>
              <a:t>for</a:t>
            </a:r>
            <a:r>
              <a:rPr dirty="0" sz="2200" spc="55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 spc="-1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data</a:t>
            </a:r>
            <a:r>
              <a:rPr dirty="0" sz="2200" spc="2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instances</a:t>
            </a:r>
            <a:r>
              <a:rPr dirty="0" sz="2200" spc="-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belonging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to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the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triangle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class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>
                <a:latin typeface="Microsoft Sans Serif"/>
                <a:cs typeface="Microsoft Sans Serif"/>
              </a:rPr>
              <a:t>and</a:t>
            </a:r>
            <a:r>
              <a:rPr dirty="0" sz="220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Microsoft Sans Serif"/>
                <a:cs typeface="Microsoft Sans Serif"/>
              </a:rPr>
              <a:t>vice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Microsoft Sans Serif"/>
                <a:cs typeface="Microsoft Sans Serif"/>
              </a:rPr>
              <a:t>versa.</a:t>
            </a:r>
            <a:endParaRPr sz="2200">
              <a:latin typeface="Microsoft Sans Serif"/>
              <a:cs typeface="Microsoft Sans Serif"/>
            </a:endParaRPr>
          </a:p>
          <a:p>
            <a:pPr marL="73025" marR="3340100" indent="-635">
              <a:lnSpc>
                <a:spcPct val="100000"/>
              </a:lnSpc>
              <a:spcBef>
                <a:spcPts val="1015"/>
              </a:spcBef>
            </a:pPr>
            <a:r>
              <a:rPr dirty="0" sz="1800">
                <a:latin typeface="Microsoft Sans Serif"/>
                <a:cs typeface="Microsoft Sans Serif"/>
              </a:rPr>
              <a:t>A</a:t>
            </a:r>
            <a:r>
              <a:rPr dirty="0" sz="1800" spc="-9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cost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value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‘</a:t>
            </a:r>
            <a:r>
              <a:rPr dirty="0" sz="1800" i="1">
                <a:latin typeface="Arial"/>
                <a:cs typeface="Arial"/>
              </a:rPr>
              <a:t>C’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is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imposed</a:t>
            </a:r>
            <a:r>
              <a:rPr dirty="0" sz="1800" spc="50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on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all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such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20" i="1">
                <a:latin typeface="Arial"/>
                <a:cs typeface="Arial"/>
              </a:rPr>
              <a:t>data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instances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i="1">
                <a:latin typeface="Arial"/>
                <a:cs typeface="Arial"/>
              </a:rPr>
              <a:t>that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fall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on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wrong</a:t>
            </a:r>
            <a:r>
              <a:rPr dirty="0" sz="1800" spc="5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side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of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Microsoft Sans Serif"/>
                <a:cs typeface="Microsoft Sans Serif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Microsoft Sans Serif"/>
                <a:cs typeface="Microsoft Sans Serif"/>
              </a:rPr>
              <a:t>hyperplane.</a:t>
            </a:r>
            <a:endParaRPr sz="1800">
              <a:latin typeface="Microsoft Sans Serif"/>
              <a:cs typeface="Microsoft Sans Serif"/>
            </a:endParaRPr>
          </a:p>
          <a:p>
            <a:pPr marL="73025" marR="3440429">
              <a:lnSpc>
                <a:spcPct val="100000"/>
              </a:lnSpc>
              <a:spcBef>
                <a:spcPts val="825"/>
              </a:spcBef>
            </a:pPr>
            <a:r>
              <a:rPr dirty="0" sz="1800" b="1">
                <a:latin typeface="Arial"/>
                <a:cs typeface="Arial"/>
              </a:rPr>
              <a:t>The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task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of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SVM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is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now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to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minimize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Arial"/>
                <a:cs typeface="Arial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total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cost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due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to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such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data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instances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Microsoft Sans Serif"/>
                <a:cs typeface="Microsoft Sans Serif"/>
              </a:rPr>
              <a:t>in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order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to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solve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the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revised</a:t>
            </a:r>
            <a:r>
              <a:rPr dirty="0" sz="1800" spc="40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Arial"/>
                <a:cs typeface="Arial"/>
              </a:rPr>
              <a:t>optimization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Arial"/>
                <a:cs typeface="Arial"/>
              </a:rPr>
              <a:t>problem:</a:t>
            </a:r>
            <a:endParaRPr sz="1800">
              <a:latin typeface="Arial"/>
              <a:cs typeface="Arial"/>
            </a:endParaRPr>
          </a:p>
          <a:p>
            <a:pPr marL="4930140">
              <a:lnSpc>
                <a:spcPts val="1930"/>
              </a:lnSpc>
            </a:pPr>
            <a:r>
              <a:rPr dirty="0" sz="1800" b="1">
                <a:latin typeface="Arial"/>
                <a:cs typeface="Arial"/>
              </a:rPr>
              <a:t>Drawing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the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MMH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for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Arial"/>
                <a:cs typeface="Arial"/>
              </a:rPr>
              <a:t>non-</a:t>
            </a:r>
            <a:endParaRPr sz="1800">
              <a:latin typeface="Arial"/>
              <a:cs typeface="Arial"/>
            </a:endParaRPr>
          </a:p>
          <a:p>
            <a:pPr marL="4930140">
              <a:lnSpc>
                <a:spcPct val="100000"/>
              </a:lnSpc>
            </a:pPr>
            <a:r>
              <a:rPr dirty="0" sz="1800" b="1">
                <a:latin typeface="Arial"/>
                <a:cs typeface="Arial"/>
              </a:rPr>
              <a:t>linearly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b="1">
                <a:latin typeface="Arial"/>
                <a:cs typeface="Arial"/>
              </a:rPr>
              <a:t>separable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29584" y="6513576"/>
            <a:ext cx="2001011" cy="80162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633475"/>
            <a:ext cx="555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4.4.3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/>
              <a:t>Support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/>
              <a:t>Vector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/>
              <a:t>Machines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89607" y="1124203"/>
            <a:ext cx="7463155" cy="2299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4.4.3.4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Kernel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20" b="1" i="1">
                <a:latin typeface="Arial"/>
                <a:cs typeface="Arial"/>
              </a:rPr>
              <a:t>trick</a:t>
            </a:r>
            <a:endParaRPr sz="2400">
              <a:latin typeface="Arial"/>
              <a:cs typeface="Arial"/>
            </a:endParaRPr>
          </a:p>
          <a:p>
            <a:pPr marL="294640" marR="95250" indent="-282575">
              <a:lnSpc>
                <a:spcPts val="2300"/>
              </a:lnSpc>
              <a:spcBef>
                <a:spcPts val="58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SVM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has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technique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called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kernel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trick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to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0" b="1">
                <a:latin typeface="Arial"/>
                <a:cs typeface="Arial"/>
              </a:rPr>
              <a:t>deal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	</a:t>
            </a:r>
            <a:r>
              <a:rPr dirty="0" sz="2400" b="1">
                <a:latin typeface="Arial"/>
                <a:cs typeface="Arial"/>
              </a:rPr>
              <a:t>with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Arial"/>
                <a:cs typeface="Arial"/>
              </a:rPr>
              <a:t>non-</a:t>
            </a:r>
            <a:r>
              <a:rPr dirty="0" sz="2400" b="1">
                <a:latin typeface="Arial"/>
                <a:cs typeface="Arial"/>
              </a:rPr>
              <a:t>linearly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separable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Arial"/>
                <a:cs typeface="Arial"/>
              </a:rPr>
              <a:t>data.</a:t>
            </a:r>
            <a:endParaRPr sz="2400">
              <a:latin typeface="Arial"/>
              <a:cs typeface="Arial"/>
            </a:endParaRPr>
          </a:p>
          <a:p>
            <a:pPr marL="294640" marR="5080" indent="-282575">
              <a:lnSpc>
                <a:spcPct val="80000"/>
              </a:lnSpc>
              <a:spcBef>
                <a:spcPts val="625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 b="1">
                <a:latin typeface="Arial"/>
                <a:cs typeface="Arial"/>
              </a:rPr>
              <a:t>Kernels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are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functions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which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transform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lower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dimensional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input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space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to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higher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dimensional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space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i.e</a:t>
            </a:r>
            <a:r>
              <a:rPr dirty="0" sz="2400" spc="58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convert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linearly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non-</a:t>
            </a:r>
            <a:r>
              <a:rPr dirty="0" sz="2400">
                <a:latin typeface="Microsoft Sans Serif"/>
                <a:cs typeface="Microsoft Sans Serif"/>
              </a:rPr>
              <a:t>separable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data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to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linearly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separable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data.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7200" y="3672840"/>
            <a:ext cx="9144000" cy="3642360"/>
            <a:chOff x="457200" y="3672840"/>
            <a:chExt cx="9144000" cy="364236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43327" y="3672840"/>
              <a:ext cx="6431279" cy="21335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200" y="3886200"/>
              <a:ext cx="9143999" cy="34289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43327" y="3886200"/>
              <a:ext cx="6431279" cy="30540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607311" y="633475"/>
            <a:ext cx="555053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4.4.3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/>
              <a:t>Support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/>
              <a:t>Vector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/>
              <a:t>Machines</a:t>
            </a: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44084" y="2872739"/>
            <a:ext cx="1513332" cy="30022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43955" y="3457955"/>
            <a:ext cx="2200655" cy="300227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30596" y="3957828"/>
              <a:ext cx="3153155" cy="35661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15455" y="4457700"/>
              <a:ext cx="2147316" cy="58216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689607" y="1124203"/>
            <a:ext cx="7355840" cy="5635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4.4.3.4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Arial"/>
                <a:cs typeface="Arial"/>
              </a:rPr>
              <a:t>Kernel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20" b="1" i="1">
                <a:latin typeface="Arial"/>
                <a:cs typeface="Arial"/>
              </a:rPr>
              <a:t>trick</a:t>
            </a:r>
            <a:endParaRPr sz="2400">
              <a:latin typeface="Arial"/>
              <a:cs typeface="Arial"/>
            </a:endParaRPr>
          </a:p>
          <a:p>
            <a:pPr marL="294640" marR="5080" indent="-28257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Some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common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kernel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functions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Microsoft Sans Serif"/>
                <a:cs typeface="Microsoft Sans Serif"/>
              </a:rPr>
              <a:t>for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transforming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from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lower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dimension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‘i’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to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higher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dimension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‘j’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used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by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different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SVM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implementations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are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as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follows:</a:t>
            </a:r>
            <a:endParaRPr sz="2400">
              <a:latin typeface="Microsoft Sans Serif"/>
              <a:cs typeface="Microsoft Sans Serif"/>
            </a:endParaRPr>
          </a:p>
          <a:p>
            <a:pPr marL="501650">
              <a:lnSpc>
                <a:spcPct val="100000"/>
              </a:lnSpc>
              <a:spcBef>
                <a:spcPts val="825"/>
              </a:spcBef>
            </a:pPr>
            <a:r>
              <a:rPr dirty="0" sz="1800">
                <a:latin typeface="Microsoft Sans Serif"/>
                <a:cs typeface="Microsoft Sans Serif"/>
              </a:rPr>
              <a:t>Linear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kernel: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It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in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Microsoft Sans Serif"/>
                <a:cs typeface="Microsoft Sans Serif"/>
              </a:rPr>
              <a:t>form</a:t>
            </a:r>
            <a:endParaRPr sz="1800">
              <a:latin typeface="Microsoft Sans Serif"/>
              <a:cs typeface="Microsoft Sans Serif"/>
            </a:endParaRPr>
          </a:p>
          <a:p>
            <a:pPr marL="573405" marR="2906395" indent="-71755">
              <a:lnSpc>
                <a:spcPct val="208300"/>
              </a:lnSpc>
              <a:spcBef>
                <a:spcPts val="565"/>
              </a:spcBef>
            </a:pPr>
            <a:r>
              <a:rPr dirty="0" sz="1800">
                <a:latin typeface="Microsoft Sans Serif"/>
                <a:cs typeface="Microsoft Sans Serif"/>
              </a:rPr>
              <a:t>Polynomial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kernel: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It</a:t>
            </a:r>
            <a:r>
              <a:rPr dirty="0" sz="180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is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in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Microsoft Sans Serif"/>
                <a:cs typeface="Microsoft Sans Serif"/>
              </a:rPr>
              <a:t>form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Sigmoid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kernel: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It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is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in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Microsoft Sans Serif"/>
                <a:cs typeface="Microsoft Sans Serif"/>
              </a:rPr>
              <a:t>form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Gaussian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RBF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kernel: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It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in</a:t>
            </a:r>
            <a:r>
              <a:rPr dirty="0" sz="1800" spc="35">
                <a:latin typeface="Times New Roman"/>
                <a:cs typeface="Times New Roman"/>
              </a:rPr>
              <a:t> </a:t>
            </a:r>
            <a:r>
              <a:rPr dirty="0" sz="1800">
                <a:latin typeface="Microsoft Sans Serif"/>
                <a:cs typeface="Microsoft Sans Serif"/>
              </a:rPr>
              <a:t>the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Microsoft Sans Serif"/>
                <a:cs typeface="Microsoft Sans Serif"/>
              </a:rPr>
              <a:t>form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lvl="1" marL="73025" marR="38100" indent="238760">
              <a:lnSpc>
                <a:spcPts val="2450"/>
              </a:lnSpc>
              <a:spcBef>
                <a:spcPts val="5"/>
              </a:spcBef>
              <a:buSzPct val="125000"/>
              <a:buChar char="•"/>
              <a:tabLst>
                <a:tab pos="311785" algn="l"/>
              </a:tabLst>
            </a:pPr>
            <a:r>
              <a:rPr dirty="0" sz="2400">
                <a:latin typeface="Microsoft Sans Serif"/>
                <a:cs typeface="Microsoft Sans Serif"/>
              </a:rPr>
              <a:t>When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data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instances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the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classes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are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closer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Arial"/>
                <a:cs typeface="Arial"/>
              </a:rPr>
              <a:t>to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each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other</a:t>
            </a:r>
            <a:r>
              <a:rPr dirty="0" sz="2400">
                <a:latin typeface="Microsoft Sans Serif"/>
                <a:cs typeface="Microsoft Sans Serif"/>
              </a:rPr>
              <a:t>,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kernel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trick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method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can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used.</a:t>
            </a:r>
            <a:endParaRPr sz="2400">
              <a:latin typeface="Microsoft Sans Serif"/>
              <a:cs typeface="Microsoft Sans Serif"/>
            </a:endParaRPr>
          </a:p>
          <a:p>
            <a:pPr lvl="1" marL="257175" indent="-184150">
              <a:lnSpc>
                <a:spcPts val="2005"/>
              </a:lnSpc>
              <a:buChar char="•"/>
              <a:tabLst>
                <a:tab pos="257175" algn="l"/>
              </a:tabLst>
            </a:pP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effectiveness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SVM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depends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both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Microsoft Sans Serif"/>
                <a:cs typeface="Microsoft Sans Serif"/>
              </a:rPr>
              <a:t>the:</a:t>
            </a:r>
            <a:endParaRPr sz="2400">
              <a:latin typeface="Microsoft Sans Serif"/>
              <a:cs typeface="Microsoft Sans Serif"/>
            </a:endParaRPr>
          </a:p>
          <a:p>
            <a:pPr lvl="2" marL="718820" indent="-188595">
              <a:lnSpc>
                <a:spcPts val="2305"/>
              </a:lnSpc>
              <a:buChar char="•"/>
              <a:tabLst>
                <a:tab pos="718820" algn="l"/>
              </a:tabLst>
            </a:pPr>
            <a:r>
              <a:rPr dirty="0" sz="2400">
                <a:latin typeface="Microsoft Sans Serif"/>
                <a:cs typeface="Microsoft Sans Serif"/>
              </a:rPr>
              <a:t>selection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kernel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function</a:t>
            </a:r>
            <a:endParaRPr sz="2400">
              <a:latin typeface="Microsoft Sans Serif"/>
              <a:cs typeface="Microsoft Sans Serif"/>
            </a:endParaRPr>
          </a:p>
          <a:p>
            <a:pPr lvl="2" marL="718820" indent="-188595">
              <a:lnSpc>
                <a:spcPts val="2590"/>
              </a:lnSpc>
              <a:buChar char="•"/>
              <a:tabLst>
                <a:tab pos="718820" algn="l"/>
              </a:tabLst>
            </a:pPr>
            <a:r>
              <a:rPr dirty="0" sz="2400">
                <a:latin typeface="Microsoft Sans Serif"/>
                <a:cs typeface="Microsoft Sans Serif"/>
              </a:rPr>
              <a:t>adoption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values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for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the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kernel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parameters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4.4.3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/>
              <a:t>Support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/>
              <a:t>Vector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/>
              <a:t>Machines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61235" y="1346707"/>
            <a:ext cx="7477125" cy="4871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 i="1">
                <a:latin typeface="Arial"/>
                <a:cs typeface="Arial"/>
              </a:rPr>
              <a:t>4.4.3.5</a:t>
            </a:r>
            <a:r>
              <a:rPr dirty="0" sz="2100" spc="15">
                <a:latin typeface="Times New Roman"/>
                <a:cs typeface="Times New Roman"/>
              </a:rPr>
              <a:t>  </a:t>
            </a:r>
            <a:r>
              <a:rPr dirty="0" sz="2100" b="1" i="1">
                <a:latin typeface="Arial"/>
                <a:cs typeface="Arial"/>
              </a:rPr>
              <a:t>Strengths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of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20" b="1" i="1">
                <a:latin typeface="Arial"/>
                <a:cs typeface="Arial"/>
              </a:rPr>
              <a:t>SVM:</a:t>
            </a:r>
            <a:endParaRPr sz="2100">
              <a:latin typeface="Arial"/>
              <a:cs typeface="Arial"/>
            </a:endParaRPr>
          </a:p>
          <a:p>
            <a:pPr marL="295910" indent="-283210">
              <a:lnSpc>
                <a:spcPct val="100000"/>
              </a:lnSpc>
              <a:spcBef>
                <a:spcPts val="95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SVM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can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be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used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for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both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classification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and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regression.</a:t>
            </a:r>
            <a:endParaRPr sz="2100">
              <a:latin typeface="Microsoft Sans Serif"/>
              <a:cs typeface="Microsoft Sans Serif"/>
            </a:endParaRPr>
          </a:p>
          <a:p>
            <a:pPr marL="295910" marR="599440" indent="-283845">
              <a:lnSpc>
                <a:spcPts val="2020"/>
              </a:lnSpc>
              <a:spcBef>
                <a:spcPts val="58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It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robust,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i.e.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not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much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impacted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by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with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noise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or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outliers.</a:t>
            </a:r>
            <a:endParaRPr sz="2100">
              <a:latin typeface="Microsoft Sans Serif"/>
              <a:cs typeface="Microsoft Sans Serif"/>
            </a:endParaRPr>
          </a:p>
          <a:p>
            <a:pPr marL="295910" indent="-283210">
              <a:lnSpc>
                <a:spcPct val="100000"/>
              </a:lnSpc>
              <a:spcBef>
                <a:spcPts val="105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prediction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results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using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this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model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are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very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promising.</a:t>
            </a:r>
            <a:endParaRPr sz="2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2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100" b="1" i="1">
                <a:latin typeface="Arial"/>
                <a:cs typeface="Arial"/>
              </a:rPr>
              <a:t>4.4.3.6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Weaknesses</a:t>
            </a:r>
            <a:r>
              <a:rPr dirty="0" sz="2100">
                <a:latin typeface="Times New Roman"/>
                <a:cs typeface="Times New Roman"/>
              </a:rPr>
              <a:t> </a:t>
            </a:r>
            <a:r>
              <a:rPr dirty="0" sz="2100" b="1" i="1">
                <a:latin typeface="Arial"/>
                <a:cs typeface="Arial"/>
              </a:rPr>
              <a:t>of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25" b="1" i="1">
                <a:latin typeface="Arial"/>
                <a:cs typeface="Arial"/>
              </a:rPr>
              <a:t>SVM</a:t>
            </a:r>
            <a:endParaRPr sz="2100">
              <a:latin typeface="Arial"/>
              <a:cs typeface="Arial"/>
            </a:endParaRPr>
          </a:p>
          <a:p>
            <a:pPr marL="295910" marR="603250" indent="-283845">
              <a:lnSpc>
                <a:spcPct val="80000"/>
              </a:lnSpc>
              <a:spcBef>
                <a:spcPts val="600"/>
              </a:spcBef>
              <a:buFont typeface="Arial MT"/>
              <a:buChar char="⚫"/>
              <a:tabLst>
                <a:tab pos="295910" algn="l"/>
                <a:tab pos="368935" algn="l"/>
              </a:tabLst>
            </a:pPr>
            <a:r>
              <a:rPr dirty="0" sz="1650">
                <a:solidFill>
                  <a:srgbClr val="3791A7"/>
                </a:solidFill>
                <a:latin typeface="Times New Roman"/>
                <a:cs typeface="Times New Roman"/>
              </a:rPr>
              <a:t>	</a:t>
            </a:r>
            <a:r>
              <a:rPr dirty="0" sz="2100">
                <a:latin typeface="Microsoft Sans Serif"/>
                <a:cs typeface="Microsoft Sans Serif"/>
              </a:rPr>
              <a:t>SVM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applicable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only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for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binary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b="1">
                <a:latin typeface="Arial"/>
                <a:cs typeface="Arial"/>
              </a:rPr>
              <a:t>classification</a:t>
            </a:r>
            <a:r>
              <a:rPr dirty="0" sz="2100">
                <a:latin typeface="Microsoft Sans Serif"/>
                <a:cs typeface="Microsoft Sans Serif"/>
              </a:rPr>
              <a:t>,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Microsoft Sans Serif"/>
                <a:cs typeface="Microsoft Sans Serif"/>
              </a:rPr>
              <a:t>i.e.</a:t>
            </a:r>
            <a:r>
              <a:rPr dirty="0" sz="2100" spc="-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when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there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are</a:t>
            </a:r>
            <a:r>
              <a:rPr dirty="0" sz="2100" spc="5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only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two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classes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problem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domain.</a:t>
            </a:r>
            <a:endParaRPr sz="2100">
              <a:latin typeface="Microsoft Sans Serif"/>
              <a:cs typeface="Microsoft Sans Serif"/>
            </a:endParaRPr>
          </a:p>
          <a:p>
            <a:pPr marL="295910" marR="278765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The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SVM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model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very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complex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550">
                <a:latin typeface="Microsoft Sans Serif"/>
                <a:cs typeface="Microsoft Sans Serif"/>
              </a:rPr>
              <a:t>–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almost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like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black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box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when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deals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with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high-</a:t>
            </a:r>
            <a:r>
              <a:rPr dirty="0" sz="2100">
                <a:latin typeface="Microsoft Sans Serif"/>
                <a:cs typeface="Microsoft Sans Serif"/>
              </a:rPr>
              <a:t>dimensional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set.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Hence,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it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is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very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difficult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and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close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impossible</a:t>
            </a:r>
            <a:r>
              <a:rPr dirty="0" sz="2100" spc="-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to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understand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Microsoft Sans Serif"/>
                <a:cs typeface="Microsoft Sans Serif"/>
              </a:rPr>
              <a:t>the</a:t>
            </a:r>
            <a:r>
              <a:rPr dirty="0" sz="2100" spc="-2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model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in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such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cases.</a:t>
            </a:r>
            <a:endParaRPr sz="2100">
              <a:latin typeface="Microsoft Sans Serif"/>
              <a:cs typeface="Microsoft Sans Serif"/>
            </a:endParaRPr>
          </a:p>
          <a:p>
            <a:pPr marL="295910" marR="5080" indent="-283845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It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slow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for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large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dataset,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i.e.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3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data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set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with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either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large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number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of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features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or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a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large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number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of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Microsoft Sans Serif"/>
                <a:cs typeface="Microsoft Sans Serif"/>
              </a:rPr>
              <a:t>instances.</a:t>
            </a:r>
            <a:endParaRPr sz="2100">
              <a:latin typeface="Microsoft Sans Serif"/>
              <a:cs typeface="Microsoft Sans Serif"/>
            </a:endParaRPr>
          </a:p>
          <a:p>
            <a:pPr marL="295910" indent="-283210">
              <a:lnSpc>
                <a:spcPct val="100000"/>
              </a:lnSpc>
              <a:spcBef>
                <a:spcPts val="95"/>
              </a:spcBef>
              <a:buClr>
                <a:srgbClr val="3791A7"/>
              </a:buClr>
              <a:buSzPct val="78571"/>
              <a:buFont typeface="Arial MT"/>
              <a:buChar char="⚫"/>
              <a:tabLst>
                <a:tab pos="295910" algn="l"/>
              </a:tabLst>
            </a:pPr>
            <a:r>
              <a:rPr dirty="0" sz="2100">
                <a:latin typeface="Microsoft Sans Serif"/>
                <a:cs typeface="Microsoft Sans Serif"/>
              </a:rPr>
              <a:t>It</a:t>
            </a:r>
            <a:r>
              <a:rPr dirty="0" sz="2100" spc="55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is</a:t>
            </a:r>
            <a:r>
              <a:rPr dirty="0" sz="2100" spc="60">
                <a:latin typeface="Times New Roman"/>
                <a:cs typeface="Times New Roman"/>
              </a:rPr>
              <a:t> </a:t>
            </a:r>
            <a:r>
              <a:rPr dirty="0" sz="2100">
                <a:latin typeface="Microsoft Sans Serif"/>
                <a:cs typeface="Microsoft Sans Serif"/>
              </a:rPr>
              <a:t>quite</a:t>
            </a:r>
            <a:r>
              <a:rPr dirty="0" sz="2100" spc="50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Microsoft Sans Serif"/>
                <a:cs typeface="Microsoft Sans Serif"/>
              </a:rPr>
              <a:t>memory-</a:t>
            </a:r>
            <a:r>
              <a:rPr dirty="0" sz="2100" spc="-10">
                <a:latin typeface="Microsoft Sans Serif"/>
                <a:cs typeface="Microsoft Sans Serif"/>
              </a:rPr>
              <a:t>intensive.</a:t>
            </a:r>
            <a:endParaRPr sz="2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4.4.3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/>
              <a:t>Strengths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/>
              <a:t>Support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/>
              <a:t>Vector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spc="-10"/>
              <a:t>Machines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61235" y="1323847"/>
            <a:ext cx="6746240" cy="5095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latin typeface="Arial"/>
                <a:cs typeface="Arial"/>
              </a:rPr>
              <a:t>4.4.3.7</a:t>
            </a:r>
            <a:r>
              <a:rPr dirty="0" sz="2800" spc="-105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Arial"/>
                <a:cs typeface="Arial"/>
              </a:rPr>
              <a:t>Applications</a:t>
            </a:r>
            <a:r>
              <a:rPr dirty="0" sz="2800" spc="35">
                <a:latin typeface="Times New Roman"/>
                <a:cs typeface="Times New Roman"/>
              </a:rPr>
              <a:t>  </a:t>
            </a:r>
            <a:r>
              <a:rPr dirty="0" sz="2800" b="1" i="1">
                <a:latin typeface="Arial"/>
                <a:cs typeface="Arial"/>
              </a:rPr>
              <a:t>of</a:t>
            </a:r>
            <a:r>
              <a:rPr dirty="0" sz="2800" spc="25">
                <a:latin typeface="Times New Roman"/>
                <a:cs typeface="Times New Roman"/>
              </a:rPr>
              <a:t> </a:t>
            </a:r>
            <a:r>
              <a:rPr dirty="0" sz="2800" spc="-20" b="1" i="1">
                <a:latin typeface="Arial"/>
                <a:cs typeface="Arial"/>
              </a:rPr>
              <a:t>SVM:</a:t>
            </a:r>
            <a:endParaRPr sz="2800">
              <a:latin typeface="Arial"/>
              <a:cs typeface="Arial"/>
            </a:endParaRPr>
          </a:p>
          <a:p>
            <a:pPr algn="just" marL="294640" marR="5080" indent="-282575">
              <a:lnSpc>
                <a:spcPct val="80000"/>
              </a:lnSpc>
              <a:spcBef>
                <a:spcPts val="615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910" algn="l"/>
              </a:tabLst>
            </a:pPr>
            <a:r>
              <a:rPr dirty="0" sz="2400">
                <a:latin typeface="Microsoft Sans Serif"/>
                <a:cs typeface="Microsoft Sans Serif"/>
              </a:rPr>
              <a:t>SVM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most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effective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when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it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is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used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for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binary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classification,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i.e.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for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solving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machine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learning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	</a:t>
            </a:r>
            <a:r>
              <a:rPr dirty="0" sz="2400">
                <a:latin typeface="Microsoft Sans Serif"/>
                <a:cs typeface="Microsoft Sans Serif"/>
              </a:rPr>
              <a:t>problem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with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two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classes.</a:t>
            </a:r>
            <a:endParaRPr sz="2400">
              <a:latin typeface="Microsoft Sans Serif"/>
              <a:cs typeface="Microsoft Sans Serif"/>
            </a:endParaRPr>
          </a:p>
          <a:p>
            <a:pPr marL="295275" indent="-282575">
              <a:lnSpc>
                <a:spcPct val="100000"/>
              </a:lnSpc>
              <a:spcBef>
                <a:spcPts val="25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275" algn="l"/>
              </a:tabLst>
            </a:pPr>
            <a:r>
              <a:rPr dirty="0" sz="2400">
                <a:latin typeface="Microsoft Sans Serif"/>
                <a:cs typeface="Microsoft Sans Serif"/>
              </a:rPr>
              <a:t>Image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classification</a:t>
            </a:r>
            <a:endParaRPr sz="2400">
              <a:latin typeface="Microsoft Sans Serif"/>
              <a:cs typeface="Microsoft Sans Serif"/>
            </a:endParaRPr>
          </a:p>
          <a:p>
            <a:pPr marL="295275" indent="-282575">
              <a:lnSpc>
                <a:spcPct val="100000"/>
              </a:lnSpc>
              <a:spcBef>
                <a:spcPts val="25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275" algn="l"/>
              </a:tabLst>
            </a:pPr>
            <a:r>
              <a:rPr dirty="0" sz="2400">
                <a:latin typeface="Microsoft Sans Serif"/>
                <a:cs typeface="Microsoft Sans Serif"/>
              </a:rPr>
              <a:t>Image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segmentation</a:t>
            </a:r>
            <a:endParaRPr sz="2400">
              <a:latin typeface="Microsoft Sans Serif"/>
              <a:cs typeface="Microsoft Sans Serif"/>
            </a:endParaRPr>
          </a:p>
          <a:p>
            <a:pPr marL="295275" indent="-282575">
              <a:lnSpc>
                <a:spcPct val="100000"/>
              </a:lnSpc>
              <a:spcBef>
                <a:spcPts val="2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275" algn="l"/>
              </a:tabLst>
            </a:pPr>
            <a:r>
              <a:rPr dirty="0" sz="2400" spc="-25">
                <a:latin typeface="Microsoft Sans Serif"/>
                <a:cs typeface="Microsoft Sans Serif"/>
              </a:rPr>
              <a:t>Hand-</a:t>
            </a:r>
            <a:r>
              <a:rPr dirty="0" sz="2400">
                <a:latin typeface="Microsoft Sans Serif"/>
                <a:cs typeface="Microsoft Sans Serif"/>
              </a:rPr>
              <a:t>written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character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recognition</a:t>
            </a:r>
            <a:endParaRPr sz="2400">
              <a:latin typeface="Microsoft Sans Serif"/>
              <a:cs typeface="Microsoft Sans Serif"/>
            </a:endParaRPr>
          </a:p>
          <a:p>
            <a:pPr marL="295275" indent="-282575">
              <a:lnSpc>
                <a:spcPct val="100000"/>
              </a:lnSpc>
              <a:spcBef>
                <a:spcPts val="25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275" algn="l"/>
              </a:tabLst>
            </a:pPr>
            <a:r>
              <a:rPr dirty="0" sz="2400" spc="-30">
                <a:latin typeface="Microsoft Sans Serif"/>
                <a:cs typeface="Microsoft Sans Serif"/>
              </a:rPr>
              <a:t>Text</a:t>
            </a:r>
            <a:r>
              <a:rPr dirty="0" sz="2400" spc="-1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categorization</a:t>
            </a:r>
            <a:endParaRPr sz="2400">
              <a:latin typeface="Microsoft Sans Serif"/>
              <a:cs typeface="Microsoft Sans Serif"/>
            </a:endParaRPr>
          </a:p>
          <a:p>
            <a:pPr marL="295275" indent="-282575">
              <a:lnSpc>
                <a:spcPct val="100000"/>
              </a:lnSpc>
              <a:spcBef>
                <a:spcPts val="25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275" algn="l"/>
              </a:tabLst>
            </a:pPr>
            <a:r>
              <a:rPr dirty="0" sz="2400">
                <a:latin typeface="Microsoft Sans Serif"/>
                <a:cs typeface="Microsoft Sans Serif"/>
              </a:rPr>
              <a:t>Financial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distress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prediction</a:t>
            </a:r>
            <a:endParaRPr sz="2400">
              <a:latin typeface="Microsoft Sans Serif"/>
              <a:cs typeface="Microsoft Sans Serif"/>
            </a:endParaRPr>
          </a:p>
          <a:p>
            <a:pPr marL="295275" indent="-282575">
              <a:lnSpc>
                <a:spcPct val="100000"/>
              </a:lnSpc>
              <a:spcBef>
                <a:spcPts val="25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275" algn="l"/>
              </a:tabLst>
            </a:pPr>
            <a:r>
              <a:rPr dirty="0" sz="2400">
                <a:latin typeface="Microsoft Sans Serif"/>
                <a:cs typeface="Microsoft Sans Serif"/>
              </a:rPr>
              <a:t>Prediction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of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Microsoft Sans Serif"/>
                <a:cs typeface="Microsoft Sans Serif"/>
              </a:rPr>
              <a:t>common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diseases</a:t>
            </a:r>
            <a:endParaRPr sz="2400">
              <a:latin typeface="Microsoft Sans Serif"/>
              <a:cs typeface="Microsoft Sans Serif"/>
            </a:endParaRPr>
          </a:p>
          <a:p>
            <a:pPr marL="295275" indent="-282575">
              <a:lnSpc>
                <a:spcPct val="100000"/>
              </a:lnSpc>
              <a:spcBef>
                <a:spcPts val="25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275" algn="l"/>
              </a:tabLst>
            </a:pPr>
            <a:r>
              <a:rPr dirty="0" sz="2400" spc="-10">
                <a:latin typeface="Microsoft Sans Serif"/>
                <a:cs typeface="Microsoft Sans Serif"/>
              </a:rPr>
              <a:t>Sentiment</a:t>
            </a:r>
            <a:r>
              <a:rPr dirty="0" sz="2400" spc="-1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Analysis</a:t>
            </a:r>
            <a:endParaRPr sz="2400">
              <a:latin typeface="Microsoft Sans Serif"/>
              <a:cs typeface="Microsoft Sans Serif"/>
            </a:endParaRPr>
          </a:p>
          <a:p>
            <a:pPr marL="295275" indent="-282575">
              <a:lnSpc>
                <a:spcPct val="100000"/>
              </a:lnSpc>
              <a:spcBef>
                <a:spcPts val="20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275" algn="l"/>
              </a:tabLst>
            </a:pPr>
            <a:r>
              <a:rPr dirty="0" sz="2400" spc="-10">
                <a:latin typeface="Microsoft Sans Serif"/>
                <a:cs typeface="Microsoft Sans Serif"/>
              </a:rPr>
              <a:t>Encryption</a:t>
            </a:r>
            <a:endParaRPr sz="2400">
              <a:latin typeface="Microsoft Sans Serif"/>
              <a:cs typeface="Microsoft Sans Serif"/>
            </a:endParaRPr>
          </a:p>
          <a:p>
            <a:pPr marL="295275" indent="-282575">
              <a:lnSpc>
                <a:spcPct val="100000"/>
              </a:lnSpc>
              <a:spcBef>
                <a:spcPts val="25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275" algn="l"/>
              </a:tabLst>
            </a:pPr>
            <a:r>
              <a:rPr dirty="0" sz="2400" spc="-10">
                <a:latin typeface="Microsoft Sans Serif"/>
                <a:cs typeface="Microsoft Sans Serif"/>
              </a:rPr>
              <a:t>Geo-</a:t>
            </a:r>
            <a:r>
              <a:rPr dirty="0" sz="2400">
                <a:latin typeface="Microsoft Sans Serif"/>
                <a:cs typeface="Microsoft Sans Serif"/>
              </a:rPr>
              <a:t>spatial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applications</a:t>
            </a:r>
            <a:endParaRPr sz="2400">
              <a:latin typeface="Microsoft Sans Serif"/>
              <a:cs typeface="Microsoft Sans Serif"/>
            </a:endParaRPr>
          </a:p>
          <a:p>
            <a:pPr marL="295275" indent="-282575">
              <a:lnSpc>
                <a:spcPct val="100000"/>
              </a:lnSpc>
              <a:spcBef>
                <a:spcPts val="25"/>
              </a:spcBef>
              <a:buClr>
                <a:srgbClr val="3791A7"/>
              </a:buClr>
              <a:buSzPct val="79166"/>
              <a:buFont typeface="Arial MT"/>
              <a:buChar char="⚫"/>
              <a:tabLst>
                <a:tab pos="295275" algn="l"/>
              </a:tabLst>
            </a:pPr>
            <a:r>
              <a:rPr dirty="0" sz="2400">
                <a:latin typeface="Microsoft Sans Serif"/>
                <a:cs typeface="Microsoft Sans Serif"/>
              </a:rPr>
              <a:t>Speech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Microsoft Sans Serif"/>
                <a:cs typeface="Microsoft Sans Serif"/>
              </a:rPr>
              <a:t>Recognition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457199"/>
            <a:ext cx="9144000" cy="3429000"/>
            <a:chOff x="457200" y="457199"/>
            <a:chExt cx="9144000" cy="3429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457199"/>
              <a:ext cx="9143999" cy="3428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7200" y="457199"/>
              <a:ext cx="830580" cy="830580"/>
            </a:xfrm>
            <a:custGeom>
              <a:avLst/>
              <a:gdLst/>
              <a:ahLst/>
              <a:cxnLst/>
              <a:rect l="l" t="t" r="r" b="b"/>
              <a:pathLst>
                <a:path w="830580" h="830580">
                  <a:moveTo>
                    <a:pt x="830579" y="4571"/>
                  </a:moveTo>
                  <a:lnTo>
                    <a:pt x="830579" y="3047"/>
                  </a:lnTo>
                  <a:lnTo>
                    <a:pt x="827531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3047" y="830579"/>
                  </a:lnTo>
                  <a:lnTo>
                    <a:pt x="3047" y="816863"/>
                  </a:lnTo>
                  <a:lnTo>
                    <a:pt x="4571" y="816863"/>
                  </a:lnTo>
                  <a:lnTo>
                    <a:pt x="4571" y="10667"/>
                  </a:lnTo>
                  <a:lnTo>
                    <a:pt x="10667" y="4571"/>
                  </a:lnTo>
                  <a:lnTo>
                    <a:pt x="10667" y="10667"/>
                  </a:lnTo>
                  <a:lnTo>
                    <a:pt x="816863" y="10667"/>
                  </a:lnTo>
                  <a:lnTo>
                    <a:pt x="816863" y="4571"/>
                  </a:lnTo>
                  <a:lnTo>
                    <a:pt x="822959" y="10667"/>
                  </a:lnTo>
                  <a:lnTo>
                    <a:pt x="822959" y="108965"/>
                  </a:lnTo>
                  <a:lnTo>
                    <a:pt x="826007" y="88391"/>
                  </a:lnTo>
                  <a:lnTo>
                    <a:pt x="829055" y="47243"/>
                  </a:lnTo>
                  <a:lnTo>
                    <a:pt x="830579" y="4571"/>
                  </a:lnTo>
                  <a:close/>
                </a:path>
                <a:path w="830580" h="830580">
                  <a:moveTo>
                    <a:pt x="822959" y="108965"/>
                  </a:moveTo>
                  <a:lnTo>
                    <a:pt x="822959" y="10667"/>
                  </a:lnTo>
                  <a:lnTo>
                    <a:pt x="816863" y="10667"/>
                  </a:lnTo>
                  <a:lnTo>
                    <a:pt x="816863" y="45719"/>
                  </a:lnTo>
                  <a:lnTo>
                    <a:pt x="813815" y="86867"/>
                  </a:lnTo>
                  <a:lnTo>
                    <a:pt x="807719" y="128015"/>
                  </a:lnTo>
                  <a:lnTo>
                    <a:pt x="800099" y="167639"/>
                  </a:lnTo>
                  <a:lnTo>
                    <a:pt x="790955" y="207263"/>
                  </a:lnTo>
                  <a:lnTo>
                    <a:pt x="780287" y="246887"/>
                  </a:lnTo>
                  <a:lnTo>
                    <a:pt x="768095" y="283463"/>
                  </a:lnTo>
                  <a:lnTo>
                    <a:pt x="752855" y="321563"/>
                  </a:lnTo>
                  <a:lnTo>
                    <a:pt x="737615" y="356615"/>
                  </a:lnTo>
                  <a:lnTo>
                    <a:pt x="719327" y="391667"/>
                  </a:lnTo>
                  <a:lnTo>
                    <a:pt x="699515" y="426719"/>
                  </a:lnTo>
                  <a:lnTo>
                    <a:pt x="678179" y="458723"/>
                  </a:lnTo>
                  <a:lnTo>
                    <a:pt x="655319" y="490727"/>
                  </a:lnTo>
                  <a:lnTo>
                    <a:pt x="606551" y="551687"/>
                  </a:lnTo>
                  <a:lnTo>
                    <a:pt x="579119" y="579119"/>
                  </a:lnTo>
                  <a:lnTo>
                    <a:pt x="550163" y="606551"/>
                  </a:lnTo>
                  <a:lnTo>
                    <a:pt x="521207" y="632459"/>
                  </a:lnTo>
                  <a:lnTo>
                    <a:pt x="458723" y="678179"/>
                  </a:lnTo>
                  <a:lnTo>
                    <a:pt x="425195" y="699515"/>
                  </a:lnTo>
                  <a:lnTo>
                    <a:pt x="391667" y="719327"/>
                  </a:lnTo>
                  <a:lnTo>
                    <a:pt x="356615" y="737615"/>
                  </a:lnTo>
                  <a:lnTo>
                    <a:pt x="283463" y="768095"/>
                  </a:lnTo>
                  <a:lnTo>
                    <a:pt x="207263" y="792479"/>
                  </a:lnTo>
                  <a:lnTo>
                    <a:pt x="167639" y="801623"/>
                  </a:lnTo>
                  <a:lnTo>
                    <a:pt x="128015" y="807719"/>
                  </a:lnTo>
                  <a:lnTo>
                    <a:pt x="86867" y="813815"/>
                  </a:lnTo>
                  <a:lnTo>
                    <a:pt x="47243" y="816751"/>
                  </a:lnTo>
                  <a:lnTo>
                    <a:pt x="3047" y="816863"/>
                  </a:lnTo>
                  <a:lnTo>
                    <a:pt x="10667" y="824483"/>
                  </a:lnTo>
                  <a:lnTo>
                    <a:pt x="10667" y="830362"/>
                  </a:lnTo>
                  <a:lnTo>
                    <a:pt x="45719" y="829110"/>
                  </a:lnTo>
                  <a:lnTo>
                    <a:pt x="47243" y="829055"/>
                  </a:lnTo>
                  <a:lnTo>
                    <a:pt x="86867" y="826120"/>
                  </a:lnTo>
                  <a:lnTo>
                    <a:pt x="170687" y="813815"/>
                  </a:lnTo>
                  <a:lnTo>
                    <a:pt x="210311" y="804671"/>
                  </a:lnTo>
                  <a:lnTo>
                    <a:pt x="249935" y="792479"/>
                  </a:lnTo>
                  <a:lnTo>
                    <a:pt x="288035" y="780287"/>
                  </a:lnTo>
                  <a:lnTo>
                    <a:pt x="326135" y="765047"/>
                  </a:lnTo>
                  <a:lnTo>
                    <a:pt x="362711" y="748283"/>
                  </a:lnTo>
                  <a:lnTo>
                    <a:pt x="397763" y="729995"/>
                  </a:lnTo>
                  <a:lnTo>
                    <a:pt x="432815" y="710183"/>
                  </a:lnTo>
                  <a:lnTo>
                    <a:pt x="466343" y="688847"/>
                  </a:lnTo>
                  <a:lnTo>
                    <a:pt x="498347" y="665987"/>
                  </a:lnTo>
                  <a:lnTo>
                    <a:pt x="530351" y="641603"/>
                  </a:lnTo>
                  <a:lnTo>
                    <a:pt x="559307" y="615695"/>
                  </a:lnTo>
                  <a:lnTo>
                    <a:pt x="588263" y="588263"/>
                  </a:lnTo>
                  <a:lnTo>
                    <a:pt x="615695" y="559307"/>
                  </a:lnTo>
                  <a:lnTo>
                    <a:pt x="641603" y="528827"/>
                  </a:lnTo>
                  <a:lnTo>
                    <a:pt x="665987" y="498347"/>
                  </a:lnTo>
                  <a:lnTo>
                    <a:pt x="688847" y="466343"/>
                  </a:lnTo>
                  <a:lnTo>
                    <a:pt x="710183" y="432815"/>
                  </a:lnTo>
                  <a:lnTo>
                    <a:pt x="729995" y="397763"/>
                  </a:lnTo>
                  <a:lnTo>
                    <a:pt x="748283" y="362711"/>
                  </a:lnTo>
                  <a:lnTo>
                    <a:pt x="765047" y="326135"/>
                  </a:lnTo>
                  <a:lnTo>
                    <a:pt x="780287" y="288035"/>
                  </a:lnTo>
                  <a:lnTo>
                    <a:pt x="792479" y="249935"/>
                  </a:lnTo>
                  <a:lnTo>
                    <a:pt x="804671" y="210311"/>
                  </a:lnTo>
                  <a:lnTo>
                    <a:pt x="813815" y="170687"/>
                  </a:lnTo>
                  <a:lnTo>
                    <a:pt x="822959" y="108965"/>
                  </a:lnTo>
                  <a:close/>
                </a:path>
                <a:path w="830580" h="830580">
                  <a:moveTo>
                    <a:pt x="10667" y="830362"/>
                  </a:moveTo>
                  <a:lnTo>
                    <a:pt x="10667" y="824483"/>
                  </a:lnTo>
                  <a:lnTo>
                    <a:pt x="3047" y="816863"/>
                  </a:lnTo>
                  <a:lnTo>
                    <a:pt x="3047" y="830579"/>
                  </a:lnTo>
                  <a:lnTo>
                    <a:pt x="4571" y="830579"/>
                  </a:lnTo>
                  <a:lnTo>
                    <a:pt x="10667" y="830362"/>
                  </a:lnTo>
                  <a:close/>
                </a:path>
                <a:path w="830580" h="830580">
                  <a:moveTo>
                    <a:pt x="10667" y="10667"/>
                  </a:moveTo>
                  <a:lnTo>
                    <a:pt x="10667" y="4571"/>
                  </a:lnTo>
                  <a:lnTo>
                    <a:pt x="4571" y="10667"/>
                  </a:lnTo>
                  <a:lnTo>
                    <a:pt x="10667" y="10667"/>
                  </a:lnTo>
                  <a:close/>
                </a:path>
                <a:path w="830580" h="830580">
                  <a:moveTo>
                    <a:pt x="10667" y="816863"/>
                  </a:moveTo>
                  <a:lnTo>
                    <a:pt x="10667" y="10667"/>
                  </a:lnTo>
                  <a:lnTo>
                    <a:pt x="4571" y="10667"/>
                  </a:lnTo>
                  <a:lnTo>
                    <a:pt x="4571" y="816863"/>
                  </a:lnTo>
                  <a:lnTo>
                    <a:pt x="10667" y="816863"/>
                  </a:lnTo>
                  <a:close/>
                </a:path>
                <a:path w="830580" h="830580">
                  <a:moveTo>
                    <a:pt x="822959" y="10667"/>
                  </a:moveTo>
                  <a:lnTo>
                    <a:pt x="816863" y="4571"/>
                  </a:lnTo>
                  <a:lnTo>
                    <a:pt x="816863" y="10667"/>
                  </a:lnTo>
                  <a:lnTo>
                    <a:pt x="822959" y="10667"/>
                  </a:lnTo>
                  <a:close/>
                </a:path>
              </a:pathLst>
            </a:custGeom>
            <a:solidFill>
              <a:srgbClr val="D2C3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12648" y="464832"/>
              <a:ext cx="1729739" cy="1729739"/>
            </a:xfrm>
            <a:custGeom>
              <a:avLst/>
              <a:gdLst/>
              <a:ahLst/>
              <a:cxnLst/>
              <a:rect l="l" t="t" r="r" b="b"/>
              <a:pathLst>
                <a:path w="1729739" h="1729739">
                  <a:moveTo>
                    <a:pt x="1729740" y="865632"/>
                  </a:moveTo>
                  <a:lnTo>
                    <a:pt x="1728216" y="819912"/>
                  </a:lnTo>
                  <a:lnTo>
                    <a:pt x="1725168" y="777240"/>
                  </a:lnTo>
                  <a:lnTo>
                    <a:pt x="1720596" y="733044"/>
                  </a:lnTo>
                  <a:lnTo>
                    <a:pt x="1712976" y="690372"/>
                  </a:lnTo>
                  <a:lnTo>
                    <a:pt x="1702308" y="649224"/>
                  </a:lnTo>
                  <a:lnTo>
                    <a:pt x="1702308" y="822960"/>
                  </a:lnTo>
                  <a:lnTo>
                    <a:pt x="1702308" y="908304"/>
                  </a:lnTo>
                  <a:lnTo>
                    <a:pt x="1693164" y="993648"/>
                  </a:lnTo>
                  <a:lnTo>
                    <a:pt x="1685544" y="1034796"/>
                  </a:lnTo>
                  <a:lnTo>
                    <a:pt x="1676400" y="1074420"/>
                  </a:lnTo>
                  <a:lnTo>
                    <a:pt x="1652016" y="1153668"/>
                  </a:lnTo>
                  <a:lnTo>
                    <a:pt x="1636776" y="1191768"/>
                  </a:lnTo>
                  <a:lnTo>
                    <a:pt x="1620012" y="1228344"/>
                  </a:lnTo>
                  <a:lnTo>
                    <a:pt x="1601724" y="1264920"/>
                  </a:lnTo>
                  <a:lnTo>
                    <a:pt x="1581912" y="1299972"/>
                  </a:lnTo>
                  <a:lnTo>
                    <a:pt x="1536192" y="1367028"/>
                  </a:lnTo>
                  <a:lnTo>
                    <a:pt x="1511808" y="1397508"/>
                  </a:lnTo>
                  <a:lnTo>
                    <a:pt x="1456944" y="1458468"/>
                  </a:lnTo>
                  <a:lnTo>
                    <a:pt x="1427988" y="1485900"/>
                  </a:lnTo>
                  <a:lnTo>
                    <a:pt x="1397508" y="1511808"/>
                  </a:lnTo>
                  <a:lnTo>
                    <a:pt x="1333500" y="1560576"/>
                  </a:lnTo>
                  <a:lnTo>
                    <a:pt x="1298448" y="1581912"/>
                  </a:lnTo>
                  <a:lnTo>
                    <a:pt x="1263396" y="1601724"/>
                  </a:lnTo>
                  <a:lnTo>
                    <a:pt x="1228344" y="1620012"/>
                  </a:lnTo>
                  <a:lnTo>
                    <a:pt x="1190244" y="1636776"/>
                  </a:lnTo>
                  <a:lnTo>
                    <a:pt x="1152144" y="1652016"/>
                  </a:lnTo>
                  <a:lnTo>
                    <a:pt x="1114044" y="1665732"/>
                  </a:lnTo>
                  <a:lnTo>
                    <a:pt x="1074420" y="1676400"/>
                  </a:lnTo>
                  <a:lnTo>
                    <a:pt x="1033272" y="1685544"/>
                  </a:lnTo>
                  <a:lnTo>
                    <a:pt x="992124" y="1693164"/>
                  </a:lnTo>
                  <a:lnTo>
                    <a:pt x="950976" y="1699260"/>
                  </a:lnTo>
                  <a:lnTo>
                    <a:pt x="909828" y="1702193"/>
                  </a:lnTo>
                  <a:lnTo>
                    <a:pt x="821436" y="1702308"/>
                  </a:lnTo>
                  <a:lnTo>
                    <a:pt x="778764" y="1697736"/>
                  </a:lnTo>
                  <a:lnTo>
                    <a:pt x="737616" y="1693164"/>
                  </a:lnTo>
                  <a:lnTo>
                    <a:pt x="696468" y="1685544"/>
                  </a:lnTo>
                  <a:lnTo>
                    <a:pt x="655320" y="1676400"/>
                  </a:lnTo>
                  <a:lnTo>
                    <a:pt x="615696" y="1665732"/>
                  </a:lnTo>
                  <a:lnTo>
                    <a:pt x="577596" y="1652016"/>
                  </a:lnTo>
                  <a:lnTo>
                    <a:pt x="539496" y="1636776"/>
                  </a:lnTo>
                  <a:lnTo>
                    <a:pt x="501396" y="1620012"/>
                  </a:lnTo>
                  <a:lnTo>
                    <a:pt x="466344" y="1601724"/>
                  </a:lnTo>
                  <a:lnTo>
                    <a:pt x="431292" y="1581912"/>
                  </a:lnTo>
                  <a:lnTo>
                    <a:pt x="396240" y="1559052"/>
                  </a:lnTo>
                  <a:lnTo>
                    <a:pt x="364236" y="1536192"/>
                  </a:lnTo>
                  <a:lnTo>
                    <a:pt x="332232" y="1511808"/>
                  </a:lnTo>
                  <a:lnTo>
                    <a:pt x="301752" y="1484376"/>
                  </a:lnTo>
                  <a:lnTo>
                    <a:pt x="272796" y="1456944"/>
                  </a:lnTo>
                  <a:lnTo>
                    <a:pt x="245364" y="1427988"/>
                  </a:lnTo>
                  <a:lnTo>
                    <a:pt x="219456" y="1397508"/>
                  </a:lnTo>
                  <a:lnTo>
                    <a:pt x="193548" y="1365504"/>
                  </a:lnTo>
                  <a:lnTo>
                    <a:pt x="170688" y="1333500"/>
                  </a:lnTo>
                  <a:lnTo>
                    <a:pt x="149352" y="1299972"/>
                  </a:lnTo>
                  <a:lnTo>
                    <a:pt x="128016" y="1264920"/>
                  </a:lnTo>
                  <a:lnTo>
                    <a:pt x="109728" y="1228344"/>
                  </a:lnTo>
                  <a:lnTo>
                    <a:pt x="92964" y="1190244"/>
                  </a:lnTo>
                  <a:lnTo>
                    <a:pt x="77724" y="1152144"/>
                  </a:lnTo>
                  <a:lnTo>
                    <a:pt x="65532" y="1114044"/>
                  </a:lnTo>
                  <a:lnTo>
                    <a:pt x="53340" y="1074420"/>
                  </a:lnTo>
                  <a:lnTo>
                    <a:pt x="44196" y="1033272"/>
                  </a:lnTo>
                  <a:lnTo>
                    <a:pt x="32004" y="950976"/>
                  </a:lnTo>
                  <a:lnTo>
                    <a:pt x="28956" y="908304"/>
                  </a:lnTo>
                  <a:lnTo>
                    <a:pt x="27432" y="865632"/>
                  </a:lnTo>
                  <a:lnTo>
                    <a:pt x="28956" y="821436"/>
                  </a:lnTo>
                  <a:lnTo>
                    <a:pt x="32004" y="778764"/>
                  </a:lnTo>
                  <a:lnTo>
                    <a:pt x="44196" y="696468"/>
                  </a:lnTo>
                  <a:lnTo>
                    <a:pt x="65532" y="615696"/>
                  </a:lnTo>
                  <a:lnTo>
                    <a:pt x="92964" y="539496"/>
                  </a:lnTo>
                  <a:lnTo>
                    <a:pt x="111252" y="501396"/>
                  </a:lnTo>
                  <a:lnTo>
                    <a:pt x="129540" y="466344"/>
                  </a:lnTo>
                  <a:lnTo>
                    <a:pt x="149352" y="431292"/>
                  </a:lnTo>
                  <a:lnTo>
                    <a:pt x="170688" y="396240"/>
                  </a:lnTo>
                  <a:lnTo>
                    <a:pt x="219456" y="332232"/>
                  </a:lnTo>
                  <a:lnTo>
                    <a:pt x="245364" y="301752"/>
                  </a:lnTo>
                  <a:lnTo>
                    <a:pt x="272796" y="272796"/>
                  </a:lnTo>
                  <a:lnTo>
                    <a:pt x="301752" y="245364"/>
                  </a:lnTo>
                  <a:lnTo>
                    <a:pt x="332232" y="219456"/>
                  </a:lnTo>
                  <a:lnTo>
                    <a:pt x="364236" y="193548"/>
                  </a:lnTo>
                  <a:lnTo>
                    <a:pt x="397764" y="170688"/>
                  </a:lnTo>
                  <a:lnTo>
                    <a:pt x="431292" y="149352"/>
                  </a:lnTo>
                  <a:lnTo>
                    <a:pt x="466344" y="129540"/>
                  </a:lnTo>
                  <a:lnTo>
                    <a:pt x="502920" y="109728"/>
                  </a:lnTo>
                  <a:lnTo>
                    <a:pt x="539496" y="92964"/>
                  </a:lnTo>
                  <a:lnTo>
                    <a:pt x="577596" y="79248"/>
                  </a:lnTo>
                  <a:lnTo>
                    <a:pt x="617220" y="65532"/>
                  </a:lnTo>
                  <a:lnTo>
                    <a:pt x="696468" y="44196"/>
                  </a:lnTo>
                  <a:lnTo>
                    <a:pt x="737616" y="38100"/>
                  </a:lnTo>
                  <a:lnTo>
                    <a:pt x="780288" y="32004"/>
                  </a:lnTo>
                  <a:lnTo>
                    <a:pt x="819912" y="29171"/>
                  </a:lnTo>
                  <a:lnTo>
                    <a:pt x="821436" y="29057"/>
                  </a:lnTo>
                  <a:lnTo>
                    <a:pt x="822960" y="28956"/>
                  </a:lnTo>
                  <a:lnTo>
                    <a:pt x="864108" y="27482"/>
                  </a:lnTo>
                  <a:lnTo>
                    <a:pt x="865632" y="27432"/>
                  </a:lnTo>
                  <a:lnTo>
                    <a:pt x="908304" y="28956"/>
                  </a:lnTo>
                  <a:lnTo>
                    <a:pt x="950976" y="32004"/>
                  </a:lnTo>
                  <a:lnTo>
                    <a:pt x="993648" y="38100"/>
                  </a:lnTo>
                  <a:lnTo>
                    <a:pt x="1034796" y="45720"/>
                  </a:lnTo>
                  <a:lnTo>
                    <a:pt x="1074420" y="54864"/>
                  </a:lnTo>
                  <a:lnTo>
                    <a:pt x="1114044" y="65532"/>
                  </a:lnTo>
                  <a:lnTo>
                    <a:pt x="1153668" y="79248"/>
                  </a:lnTo>
                  <a:lnTo>
                    <a:pt x="1191768" y="94488"/>
                  </a:lnTo>
                  <a:lnTo>
                    <a:pt x="1228344" y="111252"/>
                  </a:lnTo>
                  <a:lnTo>
                    <a:pt x="1264920" y="129540"/>
                  </a:lnTo>
                  <a:lnTo>
                    <a:pt x="1299972" y="149352"/>
                  </a:lnTo>
                  <a:lnTo>
                    <a:pt x="1333500" y="170688"/>
                  </a:lnTo>
                  <a:lnTo>
                    <a:pt x="1367028" y="195072"/>
                  </a:lnTo>
                  <a:lnTo>
                    <a:pt x="1397508" y="219456"/>
                  </a:lnTo>
                  <a:lnTo>
                    <a:pt x="1427988" y="245364"/>
                  </a:lnTo>
                  <a:lnTo>
                    <a:pt x="1456944" y="272796"/>
                  </a:lnTo>
                  <a:lnTo>
                    <a:pt x="1485900" y="303276"/>
                  </a:lnTo>
                  <a:lnTo>
                    <a:pt x="1511808" y="332232"/>
                  </a:lnTo>
                  <a:lnTo>
                    <a:pt x="1536192" y="364236"/>
                  </a:lnTo>
                  <a:lnTo>
                    <a:pt x="1560576" y="397764"/>
                  </a:lnTo>
                  <a:lnTo>
                    <a:pt x="1581912" y="431292"/>
                  </a:lnTo>
                  <a:lnTo>
                    <a:pt x="1601724" y="466344"/>
                  </a:lnTo>
                  <a:lnTo>
                    <a:pt x="1620012" y="502920"/>
                  </a:lnTo>
                  <a:lnTo>
                    <a:pt x="1636776" y="539496"/>
                  </a:lnTo>
                  <a:lnTo>
                    <a:pt x="1652016" y="577596"/>
                  </a:lnTo>
                  <a:lnTo>
                    <a:pt x="1665732" y="617220"/>
                  </a:lnTo>
                  <a:lnTo>
                    <a:pt x="1676400" y="656844"/>
                  </a:lnTo>
                  <a:lnTo>
                    <a:pt x="1685544" y="696468"/>
                  </a:lnTo>
                  <a:lnTo>
                    <a:pt x="1693164" y="737616"/>
                  </a:lnTo>
                  <a:lnTo>
                    <a:pt x="1702308" y="822960"/>
                  </a:lnTo>
                  <a:lnTo>
                    <a:pt x="1702308" y="649224"/>
                  </a:lnTo>
                  <a:lnTo>
                    <a:pt x="1691640" y="608076"/>
                  </a:lnTo>
                  <a:lnTo>
                    <a:pt x="1677924" y="566928"/>
                  </a:lnTo>
                  <a:lnTo>
                    <a:pt x="1662684" y="528828"/>
                  </a:lnTo>
                  <a:lnTo>
                    <a:pt x="1626108" y="452628"/>
                  </a:lnTo>
                  <a:lnTo>
                    <a:pt x="1604772" y="416052"/>
                  </a:lnTo>
                  <a:lnTo>
                    <a:pt x="1581912" y="381000"/>
                  </a:lnTo>
                  <a:lnTo>
                    <a:pt x="1557528" y="347472"/>
                  </a:lnTo>
                  <a:lnTo>
                    <a:pt x="1505712" y="283464"/>
                  </a:lnTo>
                  <a:lnTo>
                    <a:pt x="1476756" y="252984"/>
                  </a:lnTo>
                  <a:lnTo>
                    <a:pt x="1415796" y="198120"/>
                  </a:lnTo>
                  <a:lnTo>
                    <a:pt x="1382268" y="172212"/>
                  </a:lnTo>
                  <a:lnTo>
                    <a:pt x="1348740" y="147828"/>
                  </a:lnTo>
                  <a:lnTo>
                    <a:pt x="1313688" y="124968"/>
                  </a:lnTo>
                  <a:lnTo>
                    <a:pt x="1240536" y="85344"/>
                  </a:lnTo>
                  <a:lnTo>
                    <a:pt x="1200912" y="68580"/>
                  </a:lnTo>
                  <a:lnTo>
                    <a:pt x="1162812" y="53340"/>
                  </a:lnTo>
                  <a:lnTo>
                    <a:pt x="1121664" y="39624"/>
                  </a:lnTo>
                  <a:lnTo>
                    <a:pt x="1080516" y="27432"/>
                  </a:lnTo>
                  <a:lnTo>
                    <a:pt x="1039368" y="18288"/>
                  </a:lnTo>
                  <a:lnTo>
                    <a:pt x="996696" y="10668"/>
                  </a:lnTo>
                  <a:lnTo>
                    <a:pt x="954024" y="4572"/>
                  </a:lnTo>
                  <a:lnTo>
                    <a:pt x="909828" y="1524"/>
                  </a:lnTo>
                  <a:lnTo>
                    <a:pt x="865632" y="50"/>
                  </a:lnTo>
                  <a:lnTo>
                    <a:pt x="864108" y="0"/>
                  </a:lnTo>
                  <a:lnTo>
                    <a:pt x="822960" y="1409"/>
                  </a:lnTo>
                  <a:lnTo>
                    <a:pt x="819912" y="1524"/>
                  </a:lnTo>
                  <a:lnTo>
                    <a:pt x="780288" y="4254"/>
                  </a:lnTo>
                  <a:lnTo>
                    <a:pt x="778764" y="4356"/>
                  </a:lnTo>
                  <a:lnTo>
                    <a:pt x="733044" y="10668"/>
                  </a:lnTo>
                  <a:lnTo>
                    <a:pt x="690372" y="18288"/>
                  </a:lnTo>
                  <a:lnTo>
                    <a:pt x="649224" y="27432"/>
                  </a:lnTo>
                  <a:lnTo>
                    <a:pt x="608076" y="39624"/>
                  </a:lnTo>
                  <a:lnTo>
                    <a:pt x="566928" y="53340"/>
                  </a:lnTo>
                  <a:lnTo>
                    <a:pt x="528828" y="68580"/>
                  </a:lnTo>
                  <a:lnTo>
                    <a:pt x="489204" y="85344"/>
                  </a:lnTo>
                  <a:lnTo>
                    <a:pt x="452628" y="105156"/>
                  </a:lnTo>
                  <a:lnTo>
                    <a:pt x="416052" y="126492"/>
                  </a:lnTo>
                  <a:lnTo>
                    <a:pt x="381000" y="147828"/>
                  </a:lnTo>
                  <a:lnTo>
                    <a:pt x="347472" y="172212"/>
                  </a:lnTo>
                  <a:lnTo>
                    <a:pt x="315468" y="198120"/>
                  </a:lnTo>
                  <a:lnTo>
                    <a:pt x="283464" y="225552"/>
                  </a:lnTo>
                  <a:lnTo>
                    <a:pt x="252984" y="254508"/>
                  </a:lnTo>
                  <a:lnTo>
                    <a:pt x="225552" y="283464"/>
                  </a:lnTo>
                  <a:lnTo>
                    <a:pt x="198120" y="315468"/>
                  </a:lnTo>
                  <a:lnTo>
                    <a:pt x="172212" y="347472"/>
                  </a:lnTo>
                  <a:lnTo>
                    <a:pt x="147828" y="382524"/>
                  </a:lnTo>
                  <a:lnTo>
                    <a:pt x="124968" y="417576"/>
                  </a:lnTo>
                  <a:lnTo>
                    <a:pt x="85344" y="490728"/>
                  </a:lnTo>
                  <a:lnTo>
                    <a:pt x="68580" y="528828"/>
                  </a:lnTo>
                  <a:lnTo>
                    <a:pt x="53340" y="568452"/>
                  </a:lnTo>
                  <a:lnTo>
                    <a:pt x="39624" y="608076"/>
                  </a:lnTo>
                  <a:lnTo>
                    <a:pt x="27432" y="649224"/>
                  </a:lnTo>
                  <a:lnTo>
                    <a:pt x="18288" y="691896"/>
                  </a:lnTo>
                  <a:lnTo>
                    <a:pt x="10668" y="734568"/>
                  </a:lnTo>
                  <a:lnTo>
                    <a:pt x="4572" y="777240"/>
                  </a:lnTo>
                  <a:lnTo>
                    <a:pt x="1524" y="821436"/>
                  </a:lnTo>
                  <a:lnTo>
                    <a:pt x="0" y="865632"/>
                  </a:lnTo>
                  <a:lnTo>
                    <a:pt x="1524" y="909828"/>
                  </a:lnTo>
                  <a:lnTo>
                    <a:pt x="4572" y="954024"/>
                  </a:lnTo>
                  <a:lnTo>
                    <a:pt x="10668" y="996696"/>
                  </a:lnTo>
                  <a:lnTo>
                    <a:pt x="18288" y="1039368"/>
                  </a:lnTo>
                  <a:lnTo>
                    <a:pt x="27432" y="1082040"/>
                  </a:lnTo>
                  <a:lnTo>
                    <a:pt x="39624" y="1123188"/>
                  </a:lnTo>
                  <a:lnTo>
                    <a:pt x="53340" y="1162812"/>
                  </a:lnTo>
                  <a:lnTo>
                    <a:pt x="68580" y="1202436"/>
                  </a:lnTo>
                  <a:lnTo>
                    <a:pt x="85344" y="1240536"/>
                  </a:lnTo>
                  <a:lnTo>
                    <a:pt x="105156" y="1277112"/>
                  </a:lnTo>
                  <a:lnTo>
                    <a:pt x="126492" y="1313688"/>
                  </a:lnTo>
                  <a:lnTo>
                    <a:pt x="147828" y="1348740"/>
                  </a:lnTo>
                  <a:lnTo>
                    <a:pt x="172212" y="1382268"/>
                  </a:lnTo>
                  <a:lnTo>
                    <a:pt x="198120" y="1415796"/>
                  </a:lnTo>
                  <a:lnTo>
                    <a:pt x="225552" y="1446276"/>
                  </a:lnTo>
                  <a:lnTo>
                    <a:pt x="254508" y="1476756"/>
                  </a:lnTo>
                  <a:lnTo>
                    <a:pt x="283464" y="1505712"/>
                  </a:lnTo>
                  <a:lnTo>
                    <a:pt x="315468" y="1533144"/>
                  </a:lnTo>
                  <a:lnTo>
                    <a:pt x="347472" y="1559052"/>
                  </a:lnTo>
                  <a:lnTo>
                    <a:pt x="417576" y="1604772"/>
                  </a:lnTo>
                  <a:lnTo>
                    <a:pt x="452628" y="1626108"/>
                  </a:lnTo>
                  <a:lnTo>
                    <a:pt x="528828" y="1662684"/>
                  </a:lnTo>
                  <a:lnTo>
                    <a:pt x="568452" y="1677924"/>
                  </a:lnTo>
                  <a:lnTo>
                    <a:pt x="608076" y="1691640"/>
                  </a:lnTo>
                  <a:lnTo>
                    <a:pt x="649224" y="1702308"/>
                  </a:lnTo>
                  <a:lnTo>
                    <a:pt x="691896" y="1712976"/>
                  </a:lnTo>
                  <a:lnTo>
                    <a:pt x="734568" y="1720596"/>
                  </a:lnTo>
                  <a:lnTo>
                    <a:pt x="777240" y="1725168"/>
                  </a:lnTo>
                  <a:lnTo>
                    <a:pt x="819912" y="1728101"/>
                  </a:lnTo>
                  <a:lnTo>
                    <a:pt x="821436" y="1728216"/>
                  </a:lnTo>
                  <a:lnTo>
                    <a:pt x="864108" y="1729676"/>
                  </a:lnTo>
                  <a:lnTo>
                    <a:pt x="865632" y="1729740"/>
                  </a:lnTo>
                  <a:lnTo>
                    <a:pt x="908304" y="1728266"/>
                  </a:lnTo>
                  <a:lnTo>
                    <a:pt x="954024" y="1725168"/>
                  </a:lnTo>
                  <a:lnTo>
                    <a:pt x="996696" y="1720596"/>
                  </a:lnTo>
                  <a:lnTo>
                    <a:pt x="1039368" y="1712976"/>
                  </a:lnTo>
                  <a:lnTo>
                    <a:pt x="1082040" y="1702308"/>
                  </a:lnTo>
                  <a:lnTo>
                    <a:pt x="1123188" y="1691640"/>
                  </a:lnTo>
                  <a:lnTo>
                    <a:pt x="1162812" y="1677924"/>
                  </a:lnTo>
                  <a:lnTo>
                    <a:pt x="1202436" y="1662684"/>
                  </a:lnTo>
                  <a:lnTo>
                    <a:pt x="1240536" y="1644396"/>
                  </a:lnTo>
                  <a:lnTo>
                    <a:pt x="1277112" y="1626108"/>
                  </a:lnTo>
                  <a:lnTo>
                    <a:pt x="1313688" y="1604772"/>
                  </a:lnTo>
                  <a:lnTo>
                    <a:pt x="1348740" y="1581912"/>
                  </a:lnTo>
                  <a:lnTo>
                    <a:pt x="1382268" y="1557528"/>
                  </a:lnTo>
                  <a:lnTo>
                    <a:pt x="1415796" y="1531620"/>
                  </a:lnTo>
                  <a:lnTo>
                    <a:pt x="1446276" y="1505712"/>
                  </a:lnTo>
                  <a:lnTo>
                    <a:pt x="1476756" y="1476756"/>
                  </a:lnTo>
                  <a:lnTo>
                    <a:pt x="1505712" y="1446276"/>
                  </a:lnTo>
                  <a:lnTo>
                    <a:pt x="1533144" y="1415796"/>
                  </a:lnTo>
                  <a:lnTo>
                    <a:pt x="1559052" y="1382268"/>
                  </a:lnTo>
                  <a:lnTo>
                    <a:pt x="1581912" y="1348740"/>
                  </a:lnTo>
                  <a:lnTo>
                    <a:pt x="1604772" y="1313688"/>
                  </a:lnTo>
                  <a:lnTo>
                    <a:pt x="1626108" y="1277112"/>
                  </a:lnTo>
                  <a:lnTo>
                    <a:pt x="1644396" y="1240536"/>
                  </a:lnTo>
                  <a:lnTo>
                    <a:pt x="1662684" y="1200912"/>
                  </a:lnTo>
                  <a:lnTo>
                    <a:pt x="1677924" y="1162812"/>
                  </a:lnTo>
                  <a:lnTo>
                    <a:pt x="1691640" y="1121664"/>
                  </a:lnTo>
                  <a:lnTo>
                    <a:pt x="1702308" y="1080516"/>
                  </a:lnTo>
                  <a:lnTo>
                    <a:pt x="1712976" y="1039368"/>
                  </a:lnTo>
                  <a:lnTo>
                    <a:pt x="1720596" y="996696"/>
                  </a:lnTo>
                  <a:lnTo>
                    <a:pt x="1725168" y="954024"/>
                  </a:lnTo>
                  <a:lnTo>
                    <a:pt x="1728216" y="909828"/>
                  </a:lnTo>
                  <a:lnTo>
                    <a:pt x="1729740" y="865632"/>
                  </a:lnTo>
                  <a:close/>
                </a:path>
              </a:pathLst>
            </a:custGeom>
            <a:solidFill>
              <a:srgbClr val="FFF6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5631" y="1508894"/>
              <a:ext cx="1116246" cy="111137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1502664"/>
              <a:ext cx="1129030" cy="11231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556" y="1502664"/>
              <a:ext cx="1129030" cy="1123315"/>
            </a:xfrm>
            <a:custGeom>
              <a:avLst/>
              <a:gdLst/>
              <a:ahLst/>
              <a:cxnLst/>
              <a:rect l="l" t="t" r="r" b="b"/>
              <a:pathLst>
                <a:path w="1129030" h="1123314">
                  <a:moveTo>
                    <a:pt x="1129030" y="612648"/>
                  </a:moveTo>
                  <a:lnTo>
                    <a:pt x="1129030" y="557784"/>
                  </a:lnTo>
                  <a:lnTo>
                    <a:pt x="1126490" y="531876"/>
                  </a:lnTo>
                  <a:lnTo>
                    <a:pt x="1125220" y="504444"/>
                  </a:lnTo>
                  <a:lnTo>
                    <a:pt x="1116330" y="451104"/>
                  </a:lnTo>
                  <a:lnTo>
                    <a:pt x="1101090" y="399288"/>
                  </a:lnTo>
                  <a:lnTo>
                    <a:pt x="1083310" y="347472"/>
                  </a:lnTo>
                  <a:lnTo>
                    <a:pt x="1045210" y="274320"/>
                  </a:lnTo>
                  <a:lnTo>
                    <a:pt x="994410" y="205740"/>
                  </a:lnTo>
                  <a:lnTo>
                    <a:pt x="956310" y="164592"/>
                  </a:lnTo>
                  <a:lnTo>
                    <a:pt x="889000" y="108204"/>
                  </a:lnTo>
                  <a:lnTo>
                    <a:pt x="840740" y="76200"/>
                  </a:lnTo>
                  <a:lnTo>
                    <a:pt x="789940" y="50292"/>
                  </a:lnTo>
                  <a:lnTo>
                    <a:pt x="711200" y="21336"/>
                  </a:lnTo>
                  <a:lnTo>
                    <a:pt x="657860" y="9144"/>
                  </a:lnTo>
                  <a:lnTo>
                    <a:pt x="604520" y="1524"/>
                  </a:lnTo>
                  <a:lnTo>
                    <a:pt x="576580" y="0"/>
                  </a:lnTo>
                  <a:lnTo>
                    <a:pt x="521970" y="0"/>
                  </a:lnTo>
                  <a:lnTo>
                    <a:pt x="496570" y="3048"/>
                  </a:lnTo>
                  <a:lnTo>
                    <a:pt x="468630" y="6096"/>
                  </a:lnTo>
                  <a:lnTo>
                    <a:pt x="415290" y="16764"/>
                  </a:lnTo>
                  <a:lnTo>
                    <a:pt x="363220" y="32004"/>
                  </a:lnTo>
                  <a:lnTo>
                    <a:pt x="265430" y="77724"/>
                  </a:lnTo>
                  <a:lnTo>
                    <a:pt x="219710" y="108204"/>
                  </a:lnTo>
                  <a:lnTo>
                    <a:pt x="177800" y="144780"/>
                  </a:lnTo>
                  <a:lnTo>
                    <a:pt x="138430" y="184404"/>
                  </a:lnTo>
                  <a:lnTo>
                    <a:pt x="101600" y="230124"/>
                  </a:lnTo>
                  <a:lnTo>
                    <a:pt x="71120" y="277368"/>
                  </a:lnTo>
                  <a:lnTo>
                    <a:pt x="46990" y="327660"/>
                  </a:lnTo>
                  <a:lnTo>
                    <a:pt x="35560" y="352044"/>
                  </a:lnTo>
                  <a:lnTo>
                    <a:pt x="26670" y="377952"/>
                  </a:lnTo>
                  <a:lnTo>
                    <a:pt x="19050" y="403860"/>
                  </a:lnTo>
                  <a:lnTo>
                    <a:pt x="12700" y="431292"/>
                  </a:lnTo>
                  <a:lnTo>
                    <a:pt x="6350" y="457200"/>
                  </a:lnTo>
                  <a:lnTo>
                    <a:pt x="1270" y="510540"/>
                  </a:lnTo>
                  <a:lnTo>
                    <a:pt x="0" y="537972"/>
                  </a:lnTo>
                  <a:lnTo>
                    <a:pt x="0" y="565404"/>
                  </a:lnTo>
                  <a:lnTo>
                    <a:pt x="1270" y="592836"/>
                  </a:lnTo>
                  <a:lnTo>
                    <a:pt x="3810" y="618744"/>
                  </a:lnTo>
                  <a:lnTo>
                    <a:pt x="8890" y="646176"/>
                  </a:lnTo>
                  <a:lnTo>
                    <a:pt x="12700" y="672084"/>
                  </a:lnTo>
                  <a:lnTo>
                    <a:pt x="12700" y="512064"/>
                  </a:lnTo>
                  <a:lnTo>
                    <a:pt x="20320" y="458724"/>
                  </a:lnTo>
                  <a:lnTo>
                    <a:pt x="31750" y="406908"/>
                  </a:lnTo>
                  <a:lnTo>
                    <a:pt x="48260" y="356616"/>
                  </a:lnTo>
                  <a:lnTo>
                    <a:pt x="69850" y="307848"/>
                  </a:lnTo>
                  <a:lnTo>
                    <a:pt x="96520" y="259080"/>
                  </a:lnTo>
                  <a:lnTo>
                    <a:pt x="128270" y="214884"/>
                  </a:lnTo>
                  <a:lnTo>
                    <a:pt x="166370" y="172212"/>
                  </a:lnTo>
                  <a:lnTo>
                    <a:pt x="207010" y="135636"/>
                  </a:lnTo>
                  <a:lnTo>
                    <a:pt x="273050" y="88392"/>
                  </a:lnTo>
                  <a:lnTo>
                    <a:pt x="318770" y="64008"/>
                  </a:lnTo>
                  <a:lnTo>
                    <a:pt x="368300" y="44196"/>
                  </a:lnTo>
                  <a:lnTo>
                    <a:pt x="445770" y="22860"/>
                  </a:lnTo>
                  <a:lnTo>
                    <a:pt x="523240" y="12192"/>
                  </a:lnTo>
                  <a:lnTo>
                    <a:pt x="576580" y="12192"/>
                  </a:lnTo>
                  <a:lnTo>
                    <a:pt x="629920" y="16764"/>
                  </a:lnTo>
                  <a:lnTo>
                    <a:pt x="707390" y="33528"/>
                  </a:lnTo>
                  <a:lnTo>
                    <a:pt x="759460" y="51816"/>
                  </a:lnTo>
                  <a:lnTo>
                    <a:pt x="810260" y="74676"/>
                  </a:lnTo>
                  <a:lnTo>
                    <a:pt x="858520" y="102108"/>
                  </a:lnTo>
                  <a:lnTo>
                    <a:pt x="904240" y="135636"/>
                  </a:lnTo>
                  <a:lnTo>
                    <a:pt x="947420" y="173736"/>
                  </a:lnTo>
                  <a:lnTo>
                    <a:pt x="985520" y="214884"/>
                  </a:lnTo>
                  <a:lnTo>
                    <a:pt x="1018540" y="257556"/>
                  </a:lnTo>
                  <a:lnTo>
                    <a:pt x="1046480" y="304800"/>
                  </a:lnTo>
                  <a:lnTo>
                    <a:pt x="1060450" y="329184"/>
                  </a:lnTo>
                  <a:lnTo>
                    <a:pt x="1080770" y="377952"/>
                  </a:lnTo>
                  <a:lnTo>
                    <a:pt x="1096010" y="428244"/>
                  </a:lnTo>
                  <a:lnTo>
                    <a:pt x="1108710" y="480060"/>
                  </a:lnTo>
                  <a:lnTo>
                    <a:pt x="1115060" y="531876"/>
                  </a:lnTo>
                  <a:lnTo>
                    <a:pt x="1116330" y="559308"/>
                  </a:lnTo>
                  <a:lnTo>
                    <a:pt x="1116330" y="691896"/>
                  </a:lnTo>
                  <a:lnTo>
                    <a:pt x="1121410" y="665988"/>
                  </a:lnTo>
                  <a:lnTo>
                    <a:pt x="1129030" y="612648"/>
                  </a:lnTo>
                  <a:close/>
                </a:path>
                <a:path w="1129030" h="1123314">
                  <a:moveTo>
                    <a:pt x="1116330" y="691896"/>
                  </a:moveTo>
                  <a:lnTo>
                    <a:pt x="1116330" y="585216"/>
                  </a:lnTo>
                  <a:lnTo>
                    <a:pt x="1113790" y="638556"/>
                  </a:lnTo>
                  <a:lnTo>
                    <a:pt x="1098550" y="716280"/>
                  </a:lnTo>
                  <a:lnTo>
                    <a:pt x="1070610" y="790956"/>
                  </a:lnTo>
                  <a:lnTo>
                    <a:pt x="1046480" y="839724"/>
                  </a:lnTo>
                  <a:lnTo>
                    <a:pt x="1016000" y="886968"/>
                  </a:lnTo>
                  <a:lnTo>
                    <a:pt x="980440" y="931164"/>
                  </a:lnTo>
                  <a:lnTo>
                    <a:pt x="942340" y="969264"/>
                  </a:lnTo>
                  <a:lnTo>
                    <a:pt x="900430" y="1004316"/>
                  </a:lnTo>
                  <a:lnTo>
                    <a:pt x="855980" y="1034796"/>
                  </a:lnTo>
                  <a:lnTo>
                    <a:pt x="808990" y="1059180"/>
                  </a:lnTo>
                  <a:lnTo>
                    <a:pt x="735330" y="1088136"/>
                  </a:lnTo>
                  <a:lnTo>
                    <a:pt x="683260" y="1100328"/>
                  </a:lnTo>
                  <a:lnTo>
                    <a:pt x="605790" y="1110996"/>
                  </a:lnTo>
                  <a:lnTo>
                    <a:pt x="552450" y="1110996"/>
                  </a:lnTo>
                  <a:lnTo>
                    <a:pt x="499110" y="1106424"/>
                  </a:lnTo>
                  <a:lnTo>
                    <a:pt x="445770" y="1095756"/>
                  </a:lnTo>
                  <a:lnTo>
                    <a:pt x="393700" y="1080516"/>
                  </a:lnTo>
                  <a:lnTo>
                    <a:pt x="344170" y="1060704"/>
                  </a:lnTo>
                  <a:lnTo>
                    <a:pt x="270510" y="1021080"/>
                  </a:lnTo>
                  <a:lnTo>
                    <a:pt x="224790" y="987552"/>
                  </a:lnTo>
                  <a:lnTo>
                    <a:pt x="162560" y="929640"/>
                  </a:lnTo>
                  <a:lnTo>
                    <a:pt x="125730" y="886968"/>
                  </a:lnTo>
                  <a:lnTo>
                    <a:pt x="95250" y="842772"/>
                  </a:lnTo>
                  <a:lnTo>
                    <a:pt x="69850" y="795528"/>
                  </a:lnTo>
                  <a:lnTo>
                    <a:pt x="48260" y="745236"/>
                  </a:lnTo>
                  <a:lnTo>
                    <a:pt x="31750" y="694944"/>
                  </a:lnTo>
                  <a:lnTo>
                    <a:pt x="16510" y="617220"/>
                  </a:lnTo>
                  <a:lnTo>
                    <a:pt x="12700" y="563880"/>
                  </a:lnTo>
                  <a:lnTo>
                    <a:pt x="12700" y="672084"/>
                  </a:lnTo>
                  <a:lnTo>
                    <a:pt x="26670" y="725424"/>
                  </a:lnTo>
                  <a:lnTo>
                    <a:pt x="46990" y="775716"/>
                  </a:lnTo>
                  <a:lnTo>
                    <a:pt x="71120" y="826008"/>
                  </a:lnTo>
                  <a:lnTo>
                    <a:pt x="100330" y="871728"/>
                  </a:lnTo>
                  <a:lnTo>
                    <a:pt x="133350" y="917448"/>
                  </a:lnTo>
                  <a:lnTo>
                    <a:pt x="172720" y="958596"/>
                  </a:lnTo>
                  <a:lnTo>
                    <a:pt x="217170" y="998220"/>
                  </a:lnTo>
                  <a:lnTo>
                    <a:pt x="264160" y="1031748"/>
                  </a:lnTo>
                  <a:lnTo>
                    <a:pt x="313690" y="1060704"/>
                  </a:lnTo>
                  <a:lnTo>
                    <a:pt x="364490" y="1083564"/>
                  </a:lnTo>
                  <a:lnTo>
                    <a:pt x="416560" y="1101852"/>
                  </a:lnTo>
                  <a:lnTo>
                    <a:pt x="444500" y="1107948"/>
                  </a:lnTo>
                  <a:lnTo>
                    <a:pt x="469900" y="1114044"/>
                  </a:lnTo>
                  <a:lnTo>
                    <a:pt x="497840" y="1118616"/>
                  </a:lnTo>
                  <a:lnTo>
                    <a:pt x="524510" y="1121664"/>
                  </a:lnTo>
                  <a:lnTo>
                    <a:pt x="552450" y="1123188"/>
                  </a:lnTo>
                  <a:lnTo>
                    <a:pt x="605790" y="1123188"/>
                  </a:lnTo>
                  <a:lnTo>
                    <a:pt x="687070" y="1112520"/>
                  </a:lnTo>
                  <a:lnTo>
                    <a:pt x="737870" y="1100328"/>
                  </a:lnTo>
                  <a:lnTo>
                    <a:pt x="789940" y="1082040"/>
                  </a:lnTo>
                  <a:lnTo>
                    <a:pt x="839470" y="1059180"/>
                  </a:lnTo>
                  <a:lnTo>
                    <a:pt x="909320" y="1014984"/>
                  </a:lnTo>
                  <a:lnTo>
                    <a:pt x="951230" y="978408"/>
                  </a:lnTo>
                  <a:lnTo>
                    <a:pt x="991870" y="938784"/>
                  </a:lnTo>
                  <a:lnTo>
                    <a:pt x="1042670" y="870204"/>
                  </a:lnTo>
                  <a:lnTo>
                    <a:pt x="1070610" y="821436"/>
                  </a:lnTo>
                  <a:lnTo>
                    <a:pt x="1093470" y="771144"/>
                  </a:lnTo>
                  <a:lnTo>
                    <a:pt x="1109980" y="719328"/>
                  </a:lnTo>
                  <a:lnTo>
                    <a:pt x="1116330" y="691896"/>
                  </a:lnTo>
                  <a:close/>
                </a:path>
                <a:path w="1129030" h="1123314">
                  <a:moveTo>
                    <a:pt x="999490" y="580644"/>
                  </a:moveTo>
                  <a:lnTo>
                    <a:pt x="999490" y="560832"/>
                  </a:lnTo>
                  <a:lnTo>
                    <a:pt x="996950" y="539496"/>
                  </a:lnTo>
                  <a:lnTo>
                    <a:pt x="995680" y="519684"/>
                  </a:lnTo>
                  <a:lnTo>
                    <a:pt x="993140" y="498348"/>
                  </a:lnTo>
                  <a:lnTo>
                    <a:pt x="988060" y="478536"/>
                  </a:lnTo>
                  <a:lnTo>
                    <a:pt x="984250" y="457200"/>
                  </a:lnTo>
                  <a:lnTo>
                    <a:pt x="970280" y="417576"/>
                  </a:lnTo>
                  <a:lnTo>
                    <a:pt x="953770" y="379476"/>
                  </a:lnTo>
                  <a:lnTo>
                    <a:pt x="920750" y="324612"/>
                  </a:lnTo>
                  <a:lnTo>
                    <a:pt x="895350" y="289560"/>
                  </a:lnTo>
                  <a:lnTo>
                    <a:pt x="864870" y="257556"/>
                  </a:lnTo>
                  <a:lnTo>
                    <a:pt x="831850" y="228600"/>
                  </a:lnTo>
                  <a:lnTo>
                    <a:pt x="795020" y="201168"/>
                  </a:lnTo>
                  <a:lnTo>
                    <a:pt x="756920" y="179832"/>
                  </a:lnTo>
                  <a:lnTo>
                    <a:pt x="717550" y="161544"/>
                  </a:lnTo>
                  <a:lnTo>
                    <a:pt x="675640" y="147828"/>
                  </a:lnTo>
                  <a:lnTo>
                    <a:pt x="656590" y="141732"/>
                  </a:lnTo>
                  <a:lnTo>
                    <a:pt x="635000" y="137160"/>
                  </a:lnTo>
                  <a:lnTo>
                    <a:pt x="614680" y="134112"/>
                  </a:lnTo>
                  <a:lnTo>
                    <a:pt x="572770" y="131064"/>
                  </a:lnTo>
                  <a:lnTo>
                    <a:pt x="552450" y="129540"/>
                  </a:lnTo>
                  <a:lnTo>
                    <a:pt x="530860" y="131064"/>
                  </a:lnTo>
                  <a:lnTo>
                    <a:pt x="511810" y="132588"/>
                  </a:lnTo>
                  <a:lnTo>
                    <a:pt x="490220" y="134112"/>
                  </a:lnTo>
                  <a:lnTo>
                    <a:pt x="469900" y="138684"/>
                  </a:lnTo>
                  <a:lnTo>
                    <a:pt x="448310" y="143256"/>
                  </a:lnTo>
                  <a:lnTo>
                    <a:pt x="429260" y="147828"/>
                  </a:lnTo>
                  <a:lnTo>
                    <a:pt x="389890" y="161544"/>
                  </a:lnTo>
                  <a:lnTo>
                    <a:pt x="334010" y="188976"/>
                  </a:lnTo>
                  <a:lnTo>
                    <a:pt x="283210" y="225552"/>
                  </a:lnTo>
                  <a:lnTo>
                    <a:pt x="250190" y="254508"/>
                  </a:lnTo>
                  <a:lnTo>
                    <a:pt x="208280" y="304800"/>
                  </a:lnTo>
                  <a:lnTo>
                    <a:pt x="185420" y="341376"/>
                  </a:lnTo>
                  <a:lnTo>
                    <a:pt x="173990" y="361188"/>
                  </a:lnTo>
                  <a:lnTo>
                    <a:pt x="165100" y="379476"/>
                  </a:lnTo>
                  <a:lnTo>
                    <a:pt x="149860" y="419100"/>
                  </a:lnTo>
                  <a:lnTo>
                    <a:pt x="143510" y="438912"/>
                  </a:lnTo>
                  <a:lnTo>
                    <a:pt x="139700" y="460248"/>
                  </a:lnTo>
                  <a:lnTo>
                    <a:pt x="135890" y="480060"/>
                  </a:lnTo>
                  <a:lnTo>
                    <a:pt x="133350" y="501396"/>
                  </a:lnTo>
                  <a:lnTo>
                    <a:pt x="130810" y="542544"/>
                  </a:lnTo>
                  <a:lnTo>
                    <a:pt x="130810" y="562356"/>
                  </a:lnTo>
                  <a:lnTo>
                    <a:pt x="133350" y="603504"/>
                  </a:lnTo>
                  <a:lnTo>
                    <a:pt x="135890" y="624840"/>
                  </a:lnTo>
                  <a:lnTo>
                    <a:pt x="140970" y="644652"/>
                  </a:lnTo>
                  <a:lnTo>
                    <a:pt x="142240" y="649986"/>
                  </a:lnTo>
                  <a:lnTo>
                    <a:pt x="142240" y="542544"/>
                  </a:lnTo>
                  <a:lnTo>
                    <a:pt x="146050" y="502920"/>
                  </a:lnTo>
                  <a:lnTo>
                    <a:pt x="151130" y="463296"/>
                  </a:lnTo>
                  <a:lnTo>
                    <a:pt x="162560" y="423672"/>
                  </a:lnTo>
                  <a:lnTo>
                    <a:pt x="177800" y="385572"/>
                  </a:lnTo>
                  <a:lnTo>
                    <a:pt x="195580" y="348996"/>
                  </a:lnTo>
                  <a:lnTo>
                    <a:pt x="218440" y="312420"/>
                  </a:lnTo>
                  <a:lnTo>
                    <a:pt x="260350" y="263652"/>
                  </a:lnTo>
                  <a:lnTo>
                    <a:pt x="290830" y="236220"/>
                  </a:lnTo>
                  <a:lnTo>
                    <a:pt x="323850" y="211836"/>
                  </a:lnTo>
                  <a:lnTo>
                    <a:pt x="356870" y="190500"/>
                  </a:lnTo>
                  <a:lnTo>
                    <a:pt x="393700" y="173736"/>
                  </a:lnTo>
                  <a:lnTo>
                    <a:pt x="431800" y="160020"/>
                  </a:lnTo>
                  <a:lnTo>
                    <a:pt x="471170" y="150876"/>
                  </a:lnTo>
                  <a:lnTo>
                    <a:pt x="511810" y="144780"/>
                  </a:lnTo>
                  <a:lnTo>
                    <a:pt x="530860" y="143256"/>
                  </a:lnTo>
                  <a:lnTo>
                    <a:pt x="572770" y="143256"/>
                  </a:lnTo>
                  <a:lnTo>
                    <a:pt x="612140" y="146304"/>
                  </a:lnTo>
                  <a:lnTo>
                    <a:pt x="652780" y="153924"/>
                  </a:lnTo>
                  <a:lnTo>
                    <a:pt x="692150" y="166116"/>
                  </a:lnTo>
                  <a:lnTo>
                    <a:pt x="730250" y="181356"/>
                  </a:lnTo>
                  <a:lnTo>
                    <a:pt x="787400" y="211836"/>
                  </a:lnTo>
                  <a:lnTo>
                    <a:pt x="839470" y="251460"/>
                  </a:lnTo>
                  <a:lnTo>
                    <a:pt x="871220" y="281940"/>
                  </a:lnTo>
                  <a:lnTo>
                    <a:pt x="910590" y="330708"/>
                  </a:lnTo>
                  <a:lnTo>
                    <a:pt x="932180" y="367284"/>
                  </a:lnTo>
                  <a:lnTo>
                    <a:pt x="949960" y="403860"/>
                  </a:lnTo>
                  <a:lnTo>
                    <a:pt x="965200" y="441960"/>
                  </a:lnTo>
                  <a:lnTo>
                    <a:pt x="970280" y="460248"/>
                  </a:lnTo>
                  <a:lnTo>
                    <a:pt x="976630" y="480060"/>
                  </a:lnTo>
                  <a:lnTo>
                    <a:pt x="981710" y="521208"/>
                  </a:lnTo>
                  <a:lnTo>
                    <a:pt x="985520" y="541020"/>
                  </a:lnTo>
                  <a:lnTo>
                    <a:pt x="985520" y="677672"/>
                  </a:lnTo>
                  <a:lnTo>
                    <a:pt x="988060" y="664464"/>
                  </a:lnTo>
                  <a:lnTo>
                    <a:pt x="993140" y="643128"/>
                  </a:lnTo>
                  <a:lnTo>
                    <a:pt x="995680" y="623316"/>
                  </a:lnTo>
                  <a:lnTo>
                    <a:pt x="999490" y="580644"/>
                  </a:lnTo>
                  <a:close/>
                </a:path>
                <a:path w="1129030" h="1123314">
                  <a:moveTo>
                    <a:pt x="985520" y="677672"/>
                  </a:moveTo>
                  <a:lnTo>
                    <a:pt x="985520" y="600456"/>
                  </a:lnTo>
                  <a:lnTo>
                    <a:pt x="984250" y="620268"/>
                  </a:lnTo>
                  <a:lnTo>
                    <a:pt x="980440" y="641604"/>
                  </a:lnTo>
                  <a:lnTo>
                    <a:pt x="971550" y="679704"/>
                  </a:lnTo>
                  <a:lnTo>
                    <a:pt x="958850" y="719328"/>
                  </a:lnTo>
                  <a:lnTo>
                    <a:pt x="942340" y="757428"/>
                  </a:lnTo>
                  <a:lnTo>
                    <a:pt x="923290" y="792480"/>
                  </a:lnTo>
                  <a:lnTo>
                    <a:pt x="869950" y="859536"/>
                  </a:lnTo>
                  <a:lnTo>
                    <a:pt x="839470" y="886968"/>
                  </a:lnTo>
                  <a:lnTo>
                    <a:pt x="805180" y="911352"/>
                  </a:lnTo>
                  <a:lnTo>
                    <a:pt x="770890" y="932688"/>
                  </a:lnTo>
                  <a:lnTo>
                    <a:pt x="715010" y="957072"/>
                  </a:lnTo>
                  <a:lnTo>
                    <a:pt x="676910" y="967740"/>
                  </a:lnTo>
                  <a:lnTo>
                    <a:pt x="637540" y="976884"/>
                  </a:lnTo>
                  <a:lnTo>
                    <a:pt x="598170" y="979842"/>
                  </a:lnTo>
                  <a:lnTo>
                    <a:pt x="557530" y="979932"/>
                  </a:lnTo>
                  <a:lnTo>
                    <a:pt x="535940" y="978408"/>
                  </a:lnTo>
                  <a:lnTo>
                    <a:pt x="496570" y="973836"/>
                  </a:lnTo>
                  <a:lnTo>
                    <a:pt x="416560" y="950976"/>
                  </a:lnTo>
                  <a:lnTo>
                    <a:pt x="378460" y="932688"/>
                  </a:lnTo>
                  <a:lnTo>
                    <a:pt x="341630" y="911352"/>
                  </a:lnTo>
                  <a:lnTo>
                    <a:pt x="288290" y="871728"/>
                  </a:lnTo>
                  <a:lnTo>
                    <a:pt x="257810" y="841248"/>
                  </a:lnTo>
                  <a:lnTo>
                    <a:pt x="231140" y="809244"/>
                  </a:lnTo>
                  <a:lnTo>
                    <a:pt x="207010" y="774192"/>
                  </a:lnTo>
                  <a:lnTo>
                    <a:pt x="195580" y="757428"/>
                  </a:lnTo>
                  <a:lnTo>
                    <a:pt x="186690" y="739140"/>
                  </a:lnTo>
                  <a:lnTo>
                    <a:pt x="179070" y="719328"/>
                  </a:lnTo>
                  <a:lnTo>
                    <a:pt x="170180" y="701040"/>
                  </a:lnTo>
                  <a:lnTo>
                    <a:pt x="163830" y="681228"/>
                  </a:lnTo>
                  <a:lnTo>
                    <a:pt x="157480" y="662940"/>
                  </a:lnTo>
                  <a:lnTo>
                    <a:pt x="148590" y="623316"/>
                  </a:lnTo>
                  <a:lnTo>
                    <a:pt x="143510" y="582168"/>
                  </a:lnTo>
                  <a:lnTo>
                    <a:pt x="142240" y="562356"/>
                  </a:lnTo>
                  <a:lnTo>
                    <a:pt x="142240" y="649986"/>
                  </a:lnTo>
                  <a:lnTo>
                    <a:pt x="166370" y="725424"/>
                  </a:lnTo>
                  <a:lnTo>
                    <a:pt x="195580" y="781812"/>
                  </a:lnTo>
                  <a:lnTo>
                    <a:pt x="208280" y="798576"/>
                  </a:lnTo>
                  <a:lnTo>
                    <a:pt x="219710" y="816864"/>
                  </a:lnTo>
                  <a:lnTo>
                    <a:pt x="248920" y="850392"/>
                  </a:lnTo>
                  <a:lnTo>
                    <a:pt x="298450" y="896112"/>
                  </a:lnTo>
                  <a:lnTo>
                    <a:pt x="334010" y="922020"/>
                  </a:lnTo>
                  <a:lnTo>
                    <a:pt x="392430" y="954024"/>
                  </a:lnTo>
                  <a:lnTo>
                    <a:pt x="431800" y="969264"/>
                  </a:lnTo>
                  <a:lnTo>
                    <a:pt x="473710" y="981456"/>
                  </a:lnTo>
                  <a:lnTo>
                    <a:pt x="514350" y="989076"/>
                  </a:lnTo>
                  <a:lnTo>
                    <a:pt x="534670" y="992124"/>
                  </a:lnTo>
                  <a:lnTo>
                    <a:pt x="554990" y="993648"/>
                  </a:lnTo>
                  <a:lnTo>
                    <a:pt x="598170" y="993648"/>
                  </a:lnTo>
                  <a:lnTo>
                    <a:pt x="618490" y="990600"/>
                  </a:lnTo>
                  <a:lnTo>
                    <a:pt x="637540" y="989171"/>
                  </a:lnTo>
                  <a:lnTo>
                    <a:pt x="679450" y="981456"/>
                  </a:lnTo>
                  <a:lnTo>
                    <a:pt x="718820" y="969264"/>
                  </a:lnTo>
                  <a:lnTo>
                    <a:pt x="758190" y="952500"/>
                  </a:lnTo>
                  <a:lnTo>
                    <a:pt x="795020" y="934212"/>
                  </a:lnTo>
                  <a:lnTo>
                    <a:pt x="847090" y="897636"/>
                  </a:lnTo>
                  <a:lnTo>
                    <a:pt x="863600" y="882396"/>
                  </a:lnTo>
                  <a:lnTo>
                    <a:pt x="878840" y="868680"/>
                  </a:lnTo>
                  <a:lnTo>
                    <a:pt x="892810" y="851916"/>
                  </a:lnTo>
                  <a:lnTo>
                    <a:pt x="908050" y="835152"/>
                  </a:lnTo>
                  <a:lnTo>
                    <a:pt x="919480" y="818388"/>
                  </a:lnTo>
                  <a:lnTo>
                    <a:pt x="943610" y="781812"/>
                  </a:lnTo>
                  <a:lnTo>
                    <a:pt x="962660" y="743712"/>
                  </a:lnTo>
                  <a:lnTo>
                    <a:pt x="984250" y="684276"/>
                  </a:lnTo>
                  <a:lnTo>
                    <a:pt x="985520" y="677672"/>
                  </a:lnTo>
                  <a:close/>
                </a:path>
              </a:pathLst>
            </a:custGeom>
            <a:solidFill>
              <a:srgbClr val="C7B6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70659" y="457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0" y="0"/>
                  </a:moveTo>
                  <a:lnTo>
                    <a:pt x="0" y="3428999"/>
                  </a:lnTo>
                  <a:lnTo>
                    <a:pt x="8130539" y="3428999"/>
                  </a:lnTo>
                  <a:lnTo>
                    <a:pt x="81305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457200" y="3886199"/>
            <a:ext cx="9144000" cy="3429000"/>
            <a:chOff x="457200" y="3886199"/>
            <a:chExt cx="9144000" cy="342900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200" y="3886199"/>
              <a:ext cx="9143999" cy="34289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470659" y="3886199"/>
              <a:ext cx="8130540" cy="3429000"/>
            </a:xfrm>
            <a:custGeom>
              <a:avLst/>
              <a:gdLst/>
              <a:ahLst/>
              <a:cxnLst/>
              <a:rect l="l" t="t" r="r" b="b"/>
              <a:pathLst>
                <a:path w="8130540" h="3429000">
                  <a:moveTo>
                    <a:pt x="8130539" y="3428999"/>
                  </a:moveTo>
                  <a:lnTo>
                    <a:pt x="8130539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8130539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464055" y="478155"/>
            <a:ext cx="7672070" cy="620966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600" spc="-10" b="1">
                <a:solidFill>
                  <a:srgbClr val="562213"/>
                </a:solidFill>
                <a:latin typeface="Arial"/>
                <a:cs typeface="Arial"/>
              </a:rPr>
              <a:t>Unit-</a:t>
            </a:r>
            <a:r>
              <a:rPr dirty="0" sz="2600" b="1">
                <a:solidFill>
                  <a:srgbClr val="562213"/>
                </a:solidFill>
                <a:latin typeface="Arial"/>
                <a:cs typeface="Arial"/>
              </a:rPr>
              <a:t>4</a:t>
            </a:r>
            <a:r>
              <a:rPr dirty="0" sz="2600" spc="35">
                <a:solidFill>
                  <a:srgbClr val="562213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562213"/>
                </a:solidFill>
                <a:latin typeface="Arial"/>
                <a:cs typeface="Arial"/>
              </a:rPr>
              <a:t>Question</a:t>
            </a:r>
            <a:r>
              <a:rPr dirty="0" sz="2600" spc="40">
                <a:solidFill>
                  <a:srgbClr val="562213"/>
                </a:solidFill>
                <a:latin typeface="Times New Roman"/>
                <a:cs typeface="Times New Roman"/>
              </a:rPr>
              <a:t> </a:t>
            </a:r>
            <a:r>
              <a:rPr dirty="0" sz="2600" spc="-20" b="1">
                <a:solidFill>
                  <a:srgbClr val="562213"/>
                </a:solidFill>
                <a:latin typeface="Arial"/>
                <a:cs typeface="Arial"/>
              </a:rPr>
              <a:t>Bank</a:t>
            </a:r>
            <a:endParaRPr sz="2600">
              <a:latin typeface="Arial"/>
              <a:cs typeface="Arial"/>
            </a:endParaRPr>
          </a:p>
          <a:p>
            <a:pPr marL="895985" marR="1110615" indent="-515620">
              <a:lnSpc>
                <a:spcPct val="80000"/>
              </a:lnSpc>
              <a:spcBef>
                <a:spcPts val="1895"/>
              </a:spcBef>
              <a:buClr>
                <a:srgbClr val="3791A7"/>
              </a:buClr>
              <a:buSzPct val="79629"/>
              <a:buAutoNum type="arabicPeriod"/>
              <a:tabLst>
                <a:tab pos="895985" algn="l"/>
              </a:tabLst>
            </a:pPr>
            <a:r>
              <a:rPr dirty="0" sz="2700">
                <a:latin typeface="Microsoft Sans Serif"/>
                <a:cs typeface="Microsoft Sans Serif"/>
              </a:rPr>
              <a:t>Discuss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in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detail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the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learning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steps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Microsoft Sans Serif"/>
                <a:cs typeface="Microsoft Sans Serif"/>
              </a:rPr>
              <a:t>of</a:t>
            </a:r>
            <a:r>
              <a:rPr dirty="0" sz="2700" spc="-2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Microsoft Sans Serif"/>
                <a:cs typeface="Microsoft Sans Serif"/>
              </a:rPr>
              <a:t>classification.</a:t>
            </a:r>
            <a:endParaRPr sz="2700">
              <a:latin typeface="Microsoft Sans Serif"/>
              <a:cs typeface="Microsoft Sans Serif"/>
            </a:endParaRPr>
          </a:p>
          <a:p>
            <a:pPr marL="895985" marR="647700" indent="-515620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629"/>
              <a:buAutoNum type="arabicPeriod"/>
              <a:tabLst>
                <a:tab pos="895985" algn="l"/>
              </a:tabLst>
            </a:pPr>
            <a:r>
              <a:rPr dirty="0" sz="2700">
                <a:latin typeface="Microsoft Sans Serif"/>
                <a:cs typeface="Microsoft Sans Serif"/>
              </a:rPr>
              <a:t>Explain</a:t>
            </a:r>
            <a:r>
              <a:rPr dirty="0" sz="2700" spc="1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Microsoft Sans Serif"/>
                <a:cs typeface="Microsoft Sans Serif"/>
              </a:rPr>
              <a:t>k-</a:t>
            </a:r>
            <a:r>
              <a:rPr dirty="0" sz="2700">
                <a:latin typeface="Microsoft Sans Serif"/>
                <a:cs typeface="Microsoft Sans Serif"/>
              </a:rPr>
              <a:t>nearest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neighbor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Microsoft Sans Serif"/>
                <a:cs typeface="Microsoft Sans Serif"/>
              </a:rPr>
              <a:t>classification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algorithm</a:t>
            </a:r>
            <a:r>
              <a:rPr dirty="0" sz="2700" spc="1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with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an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Microsoft Sans Serif"/>
                <a:cs typeface="Microsoft Sans Serif"/>
              </a:rPr>
              <a:t>example.</a:t>
            </a:r>
            <a:endParaRPr sz="2700">
              <a:latin typeface="Microsoft Sans Serif"/>
              <a:cs typeface="Microsoft Sans Serif"/>
            </a:endParaRPr>
          </a:p>
          <a:p>
            <a:pPr marL="895985" marR="5080" indent="-515620">
              <a:lnSpc>
                <a:spcPct val="80000"/>
              </a:lnSpc>
              <a:spcBef>
                <a:spcPts val="600"/>
              </a:spcBef>
              <a:buFont typeface="Microsoft Sans Serif"/>
              <a:buAutoNum type="arabicPeriod"/>
              <a:tabLst>
                <a:tab pos="895985" algn="l"/>
                <a:tab pos="989330" algn="l"/>
              </a:tabLst>
            </a:pPr>
            <a:r>
              <a:rPr dirty="0" sz="2150">
                <a:solidFill>
                  <a:srgbClr val="3791A7"/>
                </a:solidFill>
                <a:latin typeface="Times New Roman"/>
                <a:cs typeface="Times New Roman"/>
              </a:rPr>
              <a:t>	</a:t>
            </a:r>
            <a:r>
              <a:rPr dirty="0" sz="2700">
                <a:latin typeface="Microsoft Sans Serif"/>
                <a:cs typeface="Microsoft Sans Serif"/>
              </a:rPr>
              <a:t>With</a:t>
            </a:r>
            <a:r>
              <a:rPr dirty="0" sz="2700" spc="6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a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neat</a:t>
            </a:r>
            <a:r>
              <a:rPr dirty="0" sz="2700" spc="7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sketch,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discuss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the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working</a:t>
            </a:r>
            <a:r>
              <a:rPr dirty="0" sz="2700" spc="6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of</a:t>
            </a:r>
            <a:r>
              <a:rPr dirty="0" sz="2700" spc="60">
                <a:latin typeface="Times New Roman"/>
                <a:cs typeface="Times New Roman"/>
              </a:rPr>
              <a:t> </a:t>
            </a:r>
            <a:r>
              <a:rPr dirty="0" sz="2700" spc="-50">
                <a:latin typeface="Microsoft Sans Serif"/>
                <a:cs typeface="Microsoft Sans Serif"/>
              </a:rPr>
              <a:t>a</a:t>
            </a:r>
            <a:r>
              <a:rPr dirty="0" sz="2700" spc="-5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random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forest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Microsoft Sans Serif"/>
                <a:cs typeface="Microsoft Sans Serif"/>
              </a:rPr>
              <a:t>model.</a:t>
            </a:r>
            <a:endParaRPr sz="2700">
              <a:latin typeface="Microsoft Sans Serif"/>
              <a:cs typeface="Microsoft Sans Serif"/>
            </a:endParaRPr>
          </a:p>
          <a:p>
            <a:pPr algn="just" marL="894715" marR="745490" indent="-514350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629"/>
              <a:buAutoNum type="arabicPeriod"/>
              <a:tabLst>
                <a:tab pos="895985" algn="l"/>
              </a:tabLst>
            </a:pPr>
            <a:r>
              <a:rPr dirty="0" sz="2700">
                <a:latin typeface="Microsoft Sans Serif"/>
                <a:cs typeface="Microsoft Sans Serif"/>
              </a:rPr>
              <a:t>Explain</a:t>
            </a:r>
            <a:r>
              <a:rPr dirty="0" sz="2700" spc="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different</a:t>
            </a:r>
            <a:r>
              <a:rPr dirty="0" sz="2700" spc="1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scenarios</a:t>
            </a:r>
            <a:r>
              <a:rPr dirty="0" sz="2700" spc="1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in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Microsoft Sans Serif"/>
                <a:cs typeface="Microsoft Sans Serif"/>
              </a:rPr>
              <a:t>identifying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	</a:t>
            </a:r>
            <a:r>
              <a:rPr dirty="0" sz="2700">
                <a:latin typeface="Microsoft Sans Serif"/>
                <a:cs typeface="Microsoft Sans Serif"/>
              </a:rPr>
              <a:t>correct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hyperplane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using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support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Microsoft Sans Serif"/>
                <a:cs typeface="Microsoft Sans Serif"/>
              </a:rPr>
              <a:t>vector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Times New Roman"/>
                <a:cs typeface="Times New Roman"/>
              </a:rPr>
              <a:t>	</a:t>
            </a:r>
            <a:r>
              <a:rPr dirty="0" sz="2700" spc="-10">
                <a:latin typeface="Microsoft Sans Serif"/>
                <a:cs typeface="Microsoft Sans Serif"/>
              </a:rPr>
              <a:t>machines.</a:t>
            </a:r>
            <a:endParaRPr sz="2700">
              <a:latin typeface="Microsoft Sans Serif"/>
              <a:cs typeface="Microsoft Sans Serif"/>
            </a:endParaRPr>
          </a:p>
          <a:p>
            <a:pPr marL="895985" marR="158750" indent="-515620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629"/>
              <a:buAutoNum type="arabicPeriod"/>
              <a:tabLst>
                <a:tab pos="895985" algn="l"/>
              </a:tabLst>
            </a:pPr>
            <a:r>
              <a:rPr dirty="0" sz="2700">
                <a:latin typeface="Microsoft Sans Serif"/>
                <a:cs typeface="Microsoft Sans Serif"/>
              </a:rPr>
              <a:t>Illustrate</a:t>
            </a:r>
            <a:r>
              <a:rPr dirty="0" sz="2700" spc="-2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about</a:t>
            </a:r>
            <a:r>
              <a:rPr dirty="0" sz="2700" spc="2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identifying</a:t>
            </a:r>
            <a:r>
              <a:rPr dirty="0" sz="270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maximum</a:t>
            </a:r>
            <a:r>
              <a:rPr dirty="0" sz="2700" spc="15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Microsoft Sans Serif"/>
                <a:cs typeface="Microsoft Sans Serif"/>
              </a:rPr>
              <a:t>margin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hyperplane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in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support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vector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Microsoft Sans Serif"/>
                <a:cs typeface="Microsoft Sans Serif"/>
              </a:rPr>
              <a:t>machines.</a:t>
            </a:r>
            <a:endParaRPr sz="2700">
              <a:latin typeface="Microsoft Sans Serif"/>
              <a:cs typeface="Microsoft Sans Serif"/>
            </a:endParaRPr>
          </a:p>
          <a:p>
            <a:pPr marL="895985" marR="595630" indent="-515620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629"/>
              <a:buAutoNum type="arabicPeriod"/>
              <a:tabLst>
                <a:tab pos="895985" algn="l"/>
              </a:tabLst>
            </a:pPr>
            <a:r>
              <a:rPr dirty="0" sz="2700">
                <a:latin typeface="Microsoft Sans Serif"/>
                <a:cs typeface="Microsoft Sans Serif"/>
              </a:rPr>
              <a:t>Discuss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the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role</a:t>
            </a:r>
            <a:r>
              <a:rPr dirty="0" sz="2700" spc="5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of</a:t>
            </a:r>
            <a:r>
              <a:rPr dirty="0" sz="2700" spc="5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kernel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trick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in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Microsoft Sans Serif"/>
                <a:cs typeface="Microsoft Sans Serif"/>
              </a:rPr>
              <a:t>support</a:t>
            </a:r>
            <a:r>
              <a:rPr dirty="0" sz="2700" spc="-1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vector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Microsoft Sans Serif"/>
                <a:cs typeface="Microsoft Sans Serif"/>
              </a:rPr>
              <a:t>machines.</a:t>
            </a:r>
            <a:endParaRPr sz="2700">
              <a:latin typeface="Microsoft Sans Serif"/>
              <a:cs typeface="Microsoft Sans Serif"/>
            </a:endParaRPr>
          </a:p>
          <a:p>
            <a:pPr marL="895985" marR="652145" indent="-515620">
              <a:lnSpc>
                <a:spcPct val="80000"/>
              </a:lnSpc>
              <a:spcBef>
                <a:spcPts val="600"/>
              </a:spcBef>
              <a:buClr>
                <a:srgbClr val="3791A7"/>
              </a:buClr>
              <a:buSzPct val="79629"/>
              <a:buAutoNum type="arabicPeriod"/>
              <a:tabLst>
                <a:tab pos="895985" algn="l"/>
              </a:tabLst>
            </a:pPr>
            <a:r>
              <a:rPr dirty="0" sz="2700">
                <a:latin typeface="Microsoft Sans Serif"/>
                <a:cs typeface="Microsoft Sans Serif"/>
              </a:rPr>
              <a:t>List</a:t>
            </a:r>
            <a:r>
              <a:rPr dirty="0" sz="2700" spc="3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the</a:t>
            </a:r>
            <a:r>
              <a:rPr dirty="0" sz="2700" spc="5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strengths,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weaknesses</a:t>
            </a:r>
            <a:r>
              <a:rPr dirty="0" sz="2700" spc="50">
                <a:latin typeface="Times New Roman"/>
                <a:cs typeface="Times New Roman"/>
              </a:rPr>
              <a:t> </a:t>
            </a:r>
            <a:r>
              <a:rPr dirty="0" sz="2700" spc="-25">
                <a:latin typeface="Microsoft Sans Serif"/>
                <a:cs typeface="Microsoft Sans Serif"/>
              </a:rPr>
              <a:t>and</a:t>
            </a:r>
            <a:r>
              <a:rPr dirty="0" sz="2700" spc="-2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applications</a:t>
            </a:r>
            <a:r>
              <a:rPr dirty="0" sz="2700" spc="2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of</a:t>
            </a:r>
            <a:r>
              <a:rPr dirty="0" sz="2700" spc="45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support</a:t>
            </a:r>
            <a:r>
              <a:rPr dirty="0" sz="2700" spc="40">
                <a:latin typeface="Times New Roman"/>
                <a:cs typeface="Times New Roman"/>
              </a:rPr>
              <a:t> </a:t>
            </a:r>
            <a:r>
              <a:rPr dirty="0" sz="2700">
                <a:latin typeface="Microsoft Sans Serif"/>
                <a:cs typeface="Microsoft Sans Serif"/>
              </a:rPr>
              <a:t>vector</a:t>
            </a:r>
            <a:r>
              <a:rPr dirty="0" sz="2700" spc="30">
                <a:latin typeface="Times New Roman"/>
                <a:cs typeface="Times New Roman"/>
              </a:rPr>
              <a:t> </a:t>
            </a:r>
            <a:r>
              <a:rPr dirty="0" sz="2700" spc="-10">
                <a:latin typeface="Microsoft Sans Serif"/>
                <a:cs typeface="Microsoft Sans Serif"/>
              </a:rPr>
              <a:t>machines.</a:t>
            </a:r>
            <a:endParaRPr sz="27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Rajesh</dc:creator>
  <dc:title>Microsoft PowerPoint - ML Unit-4</dc:title>
  <dcterms:created xsi:type="dcterms:W3CDTF">2026-09-10T08:00:33Z</dcterms:created>
  <dcterms:modified xsi:type="dcterms:W3CDTF">2026-09-10T08:00:33Z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2023-10-05T00:00:00Z</vt:filetime>
  </property>
  <property fmtid="{D5CDD505-2E9C-101B-9397-08002B2CF9AE}" pid="4" name="Creator">
    <vt:lpwstr>PDF24 Creator</vt:lpwstr>
  </property>
  <property fmtid="{D5CDD505-2E9C-101B-9397-08002B2CF9AE}" pid="5" name="LastSaved">
    <vt:filetime>2026-09-10T00:00:00Z</vt:filetime>
  </property>
  <property fmtid="{D5CDD505-2E9C-101B-9397-08002B2CF9AE}" pid="6" name="Producer">
    <vt:lpwstr>GPL Ghostscript 9.27</vt:lpwstr>
  </property>
</Properties>
</file>